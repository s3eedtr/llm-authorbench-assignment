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03a1605fb184eab" /><Relationship Type="http://schemas.openxmlformats.org/officeDocument/2006/relationships/extended-properties" Target="/docProps/app.xml" Id="R695029f52cdc4721" /><Relationship Type="http://schemas.openxmlformats.org/officeDocument/2006/relationships/officeDocument" Target="/ppt/presentation.xml" Id="Rb141deafc8a44771" /></Relationships>
</file>

<file path=ppt/presentation.xml><?xml version="1.0" encoding="utf-8"?>
<p:presentation xmlns:p="http://schemas.openxmlformats.org/presentationml/2006/main">
  <p:sldMasterIdLst>
    <p:sldMasterId xmlns:r="http://schemas.openxmlformats.org/officeDocument/2006/relationships" id="2147483648" r:id="R147245d4e7244151"/>
  </p:sldMasterIdLst>
  <p:notesMasterIdLst>
    <p:notesMasterId xmlns:r="http://schemas.openxmlformats.org/officeDocument/2006/relationships" r:id="R151822d007ed4d44"/>
  </p:notesMasterIdLst>
  <p:sldIdLst>
    <p:sldId xmlns:r="http://schemas.openxmlformats.org/officeDocument/2006/relationships" id="256" r:id="Rc6cb655fdb92407e"/>
    <p:sldId xmlns:r="http://schemas.openxmlformats.org/officeDocument/2006/relationships" id="257" r:id="Rd2711ebb707b4853"/>
    <p:sldId xmlns:r="http://schemas.openxmlformats.org/officeDocument/2006/relationships" id="258" r:id="R0d67ed93676d44ce"/>
    <p:sldId xmlns:r="http://schemas.openxmlformats.org/officeDocument/2006/relationships" id="259" r:id="Rebeb006bcc6847b9"/>
    <p:sldId xmlns:r="http://schemas.openxmlformats.org/officeDocument/2006/relationships" id="260" r:id="Rb4368a08eb3543b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276d8c418a74b44" /><Relationship Type="http://schemas.openxmlformats.org/officeDocument/2006/relationships/slideMaster" Target="/ppt/slideMasters/slideMaster1.xml" Id="R147245d4e7244151" /><Relationship Type="http://schemas.openxmlformats.org/officeDocument/2006/relationships/notesMaster" Target="/ppt/notesMasters/notesMaster1.xml" Id="R151822d007ed4d44" /><Relationship Type="http://schemas.openxmlformats.org/officeDocument/2006/relationships/presProps" Target="/ppt/presProps.xml" Id="Racd2179f8ac34e48" /><Relationship Type="http://schemas.openxmlformats.org/officeDocument/2006/relationships/tableStyles" Target="/ppt/tableStyles.xml" Id="R7e0a5800899a4f4f" /><Relationship Type="http://schemas.openxmlformats.org/officeDocument/2006/relationships/slide" Target="/ppt/slides/slide1.xml" Id="Rc6cb655fdb92407e" /><Relationship Type="http://schemas.openxmlformats.org/officeDocument/2006/relationships/slide" Target="/ppt/slides/slide2.xml" Id="Rd2711ebb707b4853" /><Relationship Type="http://schemas.openxmlformats.org/officeDocument/2006/relationships/slide" Target="/ppt/slides/slide3.xml" Id="R0d67ed93676d44ce" /><Relationship Type="http://schemas.openxmlformats.org/officeDocument/2006/relationships/slide" Target="/ppt/slides/slide4.xml" Id="Rebeb006bcc6847b9" /><Relationship Type="http://schemas.openxmlformats.org/officeDocument/2006/relationships/slide" Target="/ppt/slides/slide5.xml" Id="Rb4368a08eb3543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15a2240c3dd47e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e11b4501024663" /><Relationship Type="http://schemas.openxmlformats.org/officeDocument/2006/relationships/notesMaster" Target="/ppt/notesMasters/notesMaster1.xml" Id="R3ec9db3ef0e241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ed92c61c2204653" /><Relationship Type="http://schemas.openxmlformats.org/officeDocument/2006/relationships/notesMaster" Target="/ppt/notesMasters/notesMaster1.xml" Id="Raa5b4f2acfe846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3eeb03b47d46ac" /><Relationship Type="http://schemas.openxmlformats.org/officeDocument/2006/relationships/notesMaster" Target="/ppt/notesMasters/notesMaster1.xml" Id="R729e111bc5f044f0"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6abeb8741649d1" /><Relationship Type="http://schemas.openxmlformats.org/officeDocument/2006/relationships/notesMaster" Target="/ppt/notesMasters/notesMaster1.xml" Id="R48987fcdbfc64f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ae378a4feb734654" /><Relationship Type="http://schemas.openxmlformats.org/officeDocument/2006/relationships/notesMaster" Target="/ppt/notesMasters/notesMaster1.xml" Id="R88f972be3b9141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https://github.com/LLMauthorbench/LLMauthorbench ; paper https://arxiv.org/abs/2506.17323 . The authors describe code generation from 300 parameterized C-programming templates, followed by deduplication and compilation filtering. We treat code as text. The five labels are gpt-4.1, deepseek-chat, claude-3.5-haiku, gemini-2.5-flash-preview-05-20 and llama-3.3-70b-instruct. AI assistance was used for code and writing. Research-use licence, dataset claim and member contributions still require group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data/splits.csv, results/split_counts.csv and class_counts.csv. We filter the prior seed-42 split to five labels. Grouping originally normalized prompt parameters, used audited task aliases and merged similar descriptions. Provenance: Git commit 33b42098d3bfdeddd8d94c77326a22fb8847be0a, src/prepare_data.py. There are no official task IDs. Groups can overmerge and unrecognized paraphrases may overlap. Full dataset has eight labels; the selected subset has 20,000 complete, unique source programs. Case retained; sklearn character analysis collapses repeated whitespace.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assignment.py. Same TF-IDF matrices for all four models. Macro-F1 gives each class equal importance. NB alpha=1. LR C=1, lbfgs, max_iter=3000. SVM C=1, dual=auto, max_iter=10000. RF 150 trees, max_depth=40, min_samples_leaf=2, max_features=sqrt, n_jobs=4. No hyperparameter search. Uniform-chance expected accuracy is 20%. Code uses numpy, pandas, scikit-learn and joblib.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results/metrics.csv. Test scores use 3,872 programs. Training timings depend on hardware; vectorizer extraction time and size are stored separately in each experiment features.json. Five labels match the paper, but the split and feature setup differ. These scores do not reproduce the published benchmark. No confidence interval or statistical significance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PLAN.md, results/feature_comparison.csv and results/feature_interpretation.md. Hypothesis: distributed character patterns partly explain the SVM advantage. One limit of 500 was chosen and committed before execution in 5cdab0d, with no sweep. Original code and comments retained. Validation SVM-LR gap falls from 1.48692356 to 1.38818655 percentage points: a change of only 0.09873701 points. All validation and test ranks remain SVM, LR, RF, NB. Test SVM F1 falls from 0.7970261 to 0.7169088. This exploratory single-split result is weak directional support, not a ranking reversal or a statistically established causal explanation. Restricting vocabulary also changes normalization and the forest sqrt candidate-feature count. The prior comment-removal prediction failed: validation gap widened from 1.49 to 3.03 points. Both outcomes are retained and reported.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5bb57a5b0d145d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7ea02e19554762" /><Relationship Type="http://schemas.openxmlformats.org/officeDocument/2006/relationships/slideLayout" Target="/ppt/slideLayouts/slideLayout1.xml" Id="R937ea570cae24c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7ea570cae24c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042a4674101486c" /><Relationship Type="http://schemas.openxmlformats.org/officeDocument/2006/relationships/notesSlide" Target="/ppt/notesSlides/notesSlide1.xml" Id="Re4acd9436c294f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176280337b84b49" /><Relationship Type="http://schemas.openxmlformats.org/officeDocument/2006/relationships/notesSlide" Target="/ppt/notesSlides/notesSlide2.xml" Id="Rd5be566679c043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93019bba0f345e9" /><Relationship Type="http://schemas.openxmlformats.org/officeDocument/2006/relationships/notesSlide" Target="/ppt/notesSlides/notesSlide3.xml" Id="R69f74d14414b4d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67dad93b3124ec2" /><Relationship Type="http://schemas.openxmlformats.org/officeDocument/2006/relationships/notesSlide" Target="/ppt/notesSlides/notesSlide4.xml" Id="R24cd0e23f8864b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23fca5455d941ec" /><Relationship Type="http://schemas.openxmlformats.org/officeDocument/2006/relationships/notesSlide" Target="/ppt/notesSlides/notesSlide5.xml" Id="Re59928a1aad64c15" /></Relationships>
</file>

<file path=ppt/slides/slide1.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6A74C2-4F95-419D-9DBD-CCFB1E3E5257}"/>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LLM code authorship: five classes</a:t>
            </a:r>
          </a:p>
        </p:txBody>
      </p:sp>
      <p:sp>
        <p:nvSpPr>
          <p:cNvPr id="2" name="">
            <a:extLst xmlns:a="http://schemas.openxmlformats.org/drawingml/2006/main">
              <a:ext uri="{FF2B5EF4-FFF2-40B4-BE49-F238E27FC236}">
                <a16:creationId xmlns:a16="http://schemas.microsoft.com/office/drawing/2014/main" id="{8E4BB4D5-534A-44C7-A5C3-59666DA26E91}"/>
              </a:ext>
            </a:extLst>
          </p:cNvPr>
          <p:cNvSpPr>
            <a:spLocks xmlns:a="http://schemas.openxmlformats.org/drawingml/2006/main" noGrp="1"/>
          </p:cNvSpPr>
          <p:nvPr/>
        </p:nvSpPr>
        <p:spPr>
          <a:xfrm xmlns:a="http://schemas.openxmlformats.org/drawingml/2006/main">
            <a:off x="571500" y="14763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000" b="1">
                <a:solidFill>
                  <a:srgbClr val="117C83"/>
                </a:solidFill>
                <a:latin typeface="Arial"/>
                <a:ea typeface="Arial"/>
                <a:cs typeface="Arial"/>
              </a:defRPr>
            </a:pPr>
            <a:r>
              <a:rPr sz="3000" b="1">
                <a:solidFill>
                  <a:srgbClr val="117C83"/>
                </a:solidFill>
                <a:latin typeface="Arial"/>
                <a:ea typeface="Arial"/>
                <a:cs typeface="Arial"/>
              </a:rPr>
              <a:t>Which LLM wrote this C program?</a:t>
            </a:r>
          </a:p>
        </p:txBody>
      </p:sp>
      <p:sp>
        <p:nvSpPr>
          <p:cNvPr id="3" name="">
            <a:extLst xmlns:a="http://schemas.openxmlformats.org/drawingml/2006/main">
              <a:ext uri="{FF2B5EF4-FFF2-40B4-BE49-F238E27FC236}">
                <a16:creationId xmlns:a16="http://schemas.microsoft.com/office/drawing/2014/main" id="{D971DD85-EF1D-489C-85A2-D5F492BEE8A6}"/>
              </a:ext>
            </a:extLst>
          </p:cNvPr>
          <p:cNvSpPr>
            <a:spLocks xmlns:a="http://schemas.openxmlformats.org/drawingml/2006/main" noGrp="1"/>
          </p:cNvSpPr>
          <p:nvPr/>
        </p:nvSpPr>
        <p:spPr>
          <a:xfrm xmlns:a="http://schemas.openxmlformats.org/drawingml/2006/main">
            <a:off x="571500" y="2543175"/>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0">
                <a:solidFill>
                  <a:srgbClr val="152E38"/>
                </a:solidFill>
                <a:latin typeface="Arial"/>
                <a:ea typeface="Arial"/>
                <a:cs typeface="Arial"/>
              </a:defRPr>
            </a:pPr>
            <a:r>
              <a:rPr sz="2400" b="0">
                <a:solidFill>
                  <a:srgbClr val="152E38"/>
                </a:solidFill>
                <a:latin typeface="Arial"/>
                <a:ea typeface="Arial"/>
                <a:cs typeface="Arial"/>
              </a:rPr>
              <a:t>20,000 programs from LLM-AuthorBench</a:t>
            </a:r>
          </a:p>
          <a:p xmlns:a="http://schemas.openxmlformats.org/drawingml/2006/main">
            <a:pPr>
              <a:defRPr sz="2400" b="0">
                <a:solidFill>
                  <a:srgbClr val="152E38"/>
                </a:solidFill>
                <a:latin typeface="Arial"/>
                <a:ea typeface="Arial"/>
                <a:cs typeface="Arial"/>
              </a:defRPr>
            </a:pPr>
            <a:r>
              <a:rPr sz="2400" b="0">
                <a:solidFill>
                  <a:srgbClr val="152E38"/>
                </a:solidFill>
                <a:latin typeface="Arial"/>
                <a:ea typeface="Arial"/>
                <a:cs typeface="Arial"/>
              </a:rPr>
              <a:t>Five classes with 4,000 programs each</a:t>
            </a:r>
          </a:p>
        </p:txBody>
      </p:sp>
      <p:sp>
        <p:nvSpPr>
          <p:cNvPr id="4" name="">
            <a:extLst xmlns:a="http://schemas.openxmlformats.org/drawingml/2006/main">
              <a:ext uri="{FF2B5EF4-FFF2-40B4-BE49-F238E27FC236}">
                <a16:creationId xmlns:a16="http://schemas.microsoft.com/office/drawing/2014/main" id="{0080827F-6AEA-4AED-A29B-1A0884EDE0F3}"/>
              </a:ext>
            </a:extLst>
          </p:cNvPr>
          <p:cNvSpPr>
            <a:spLocks xmlns:a="http://schemas.openxmlformats.org/drawingml/2006/main" noGrp="1"/>
          </p:cNvSpPr>
          <p:nvPr/>
        </p:nvSpPr>
        <p:spPr>
          <a:xfrm xmlns:a="http://schemas.openxmlformats.org/drawingml/2006/main">
            <a:off x="571500" y="383857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152E38"/>
                </a:solidFill>
                <a:latin typeface="Arial"/>
                <a:ea typeface="Arial"/>
                <a:cs typeface="Arial"/>
              </a:defRPr>
            </a:pPr>
            <a:r>
              <a:rPr sz="2250" b="0">
                <a:solidFill>
                  <a:srgbClr val="152E38"/>
                </a:solidFill>
                <a:latin typeface="Arial"/>
                <a:ea typeface="Arial"/>
                <a:cs typeface="Arial"/>
              </a:rPr>
              <a:t>Our topic: attributing LLM-generated code.</a:t>
            </a:r>
          </a:p>
          <a:p xmlns:a="http://schemas.openxmlformats.org/drawingml/2006/main">
            <a:pPr>
              <a:defRPr sz="2250" b="0">
                <a:solidFill>
                  <a:srgbClr val="152E38"/>
                </a:solidFill>
                <a:latin typeface="Arial"/>
                <a:ea typeface="Arial"/>
                <a:cs typeface="Arial"/>
              </a:defRPr>
            </a:pPr>
            <a:r>
              <a:rPr sz="2250" b="0">
                <a:solidFill>
                  <a:srgbClr val="152E38"/>
                </a:solidFill>
                <a:latin typeface="Arial"/>
                <a:ea typeface="Arial"/>
                <a:cs typeface="Arial"/>
              </a:rPr>
              <a:t>We compare four standard classifiers using source text.</a:t>
            </a:r>
          </a:p>
        </p:txBody>
      </p:sp>
      <p:sp>
        <p:nvSpPr>
          <p:cNvPr id="5" name="">
            <a:extLst xmlns:a="http://schemas.openxmlformats.org/drawingml/2006/main">
              <a:ext uri="{FF2B5EF4-FFF2-40B4-BE49-F238E27FC236}">
                <a16:creationId xmlns:a16="http://schemas.microsoft.com/office/drawing/2014/main" id="{653B837F-B21A-4585-92AC-1F9B37305BE4}"/>
              </a:ext>
            </a:extLst>
          </p:cNvPr>
          <p:cNvSpPr>
            <a:spLocks xmlns:a="http://schemas.openxmlformats.org/drawingml/2006/main" noGrp="1"/>
          </p:cNvSpPr>
          <p:nvPr/>
        </p:nvSpPr>
        <p:spPr>
          <a:xfrm xmlns:a="http://schemas.openxmlformats.org/drawingml/2006/main">
            <a:off x="571500" y="5286375"/>
            <a:ext cx="1114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7C83"/>
                </a:solidFill>
                <a:latin typeface="Arial"/>
                <a:ea typeface="Arial"/>
                <a:cs typeface="Arial"/>
              </a:defRPr>
            </a:pPr>
            <a:r>
              <a:rPr sz="1800" b="0">
                <a:solidFill>
                  <a:srgbClr val="117C83"/>
                </a:solidFill>
                <a:latin typeface="Arial"/>
                <a:ea typeface="Arial"/>
                <a:cs typeface="Arial"/>
              </a:rPr>
              <a:t>https://github.com/S3eeDTR/LLM-AuthorBench-Assignment</a:t>
            </a:r>
          </a:p>
        </p:txBody>
      </p:sp>
      <p:sp>
        <p:nvSpPr>
          <p:cNvPr id="6" name="">
            <a:extLst xmlns:a="http://schemas.openxmlformats.org/drawingml/2006/main">
              <a:ext uri="{FF2B5EF4-FFF2-40B4-BE49-F238E27FC236}">
                <a16:creationId xmlns:a16="http://schemas.microsoft.com/office/drawing/2014/main" id="{15D3F4E7-6178-4263-95A2-80B5BA4BDD1B}"/>
              </a:ext>
            </a:extLst>
          </p:cNvPr>
          <p:cNvSpPr>
            <a:spLocks xmlns:a="http://schemas.openxmlformats.org/drawingml/2006/main" noGrp="1"/>
          </p:cNvSpPr>
          <p:nvPr/>
        </p:nvSpPr>
        <p:spPr>
          <a:xfrm xmlns:a="http://schemas.openxmlformats.org/drawingml/2006/main">
            <a:off x="571500" y="5819775"/>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52E38"/>
                </a:solidFill>
                <a:latin typeface="Arial"/>
                <a:ea typeface="Arial"/>
                <a:cs typeface="Arial"/>
              </a:defRPr>
            </a:pPr>
            <a:r>
              <a:rPr sz="1800" b="0">
                <a:solidFill>
                  <a:srgbClr val="152E38"/>
                </a:solidFill>
                <a:latin typeface="Arial"/>
                <a:ea typeface="Arial"/>
                <a:cs typeface="Arial"/>
              </a:rPr>
              <a:t>Source: github.com/LLMauthorbench/LLMauthorbench</a:t>
            </a:r>
          </a:p>
        </p:txBody>
      </p:sp>
    </p:spTree>
    <p:extLst>
      <p:ext uri="{BB962C8B-B14F-4D97-AF65-F5344CB8AC3E}">
        <p14:creationId xmlns:p14="http://schemas.microsoft.com/office/powerpoint/2010/main" val="1489348571"/>
      </p:ext>
    </p:extLst>
  </p:cSld>
</p:sld>
</file>

<file path=ppt/slides/slide2.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304140-8A41-4C17-BDB0-7E8DD0DE3B9C}"/>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Data preparation</a:t>
            </a:r>
          </a:p>
        </p:txBody>
      </p:sp>
      <p:graphicFrame>
        <p:nvGraphicFramePr>
          <p:cNvPr id="8" name=""/>
          <p:cNvGraphicFramePr/>
          <p:nvPr/>
        </p:nvGraphicFramePr>
        <p:xfrm>
          <a:off xmlns:a="http://schemas.openxmlformats.org/drawingml/2006/main" x="571500" y="1495425"/>
          <a:ext xmlns:a="http://schemas.openxmlformats.org/drawingml/2006/main" cx="5810250" cy="2714625"/>
        </p:xfrm>
        <a:graphic xmlns:a="http://schemas.openxmlformats.org/drawingml/2006/main">
          <a:graphicData uri="http://schemas.openxmlformats.org/drawingml/2006/table">
            <a:tbl>
              <a:tblPr/>
              <a:tblGrid>
                <a:gridCol w="2476500"/>
                <a:gridCol w="1714500"/>
                <a:gridCol w="1619250"/>
              </a:tblGrid>
              <a:tr h="678656">
                <a:tc>
                  <a:txBody>
                    <a:bodyPr>
                      <a:noAutofit/>
                    </a:bodyPr>
                    <a:lstStyle/>
                    <a:p>
                      <a:pPr algn="l"/>
                      <a:r>
                        <a:rPr sz="1875" b="1">
                          <a:solidFill>
                            <a:srgbClr val="FFFFFF"/>
                          </a:solidFill>
                          <a:latin typeface="Arial"/>
                          <a:ea typeface="Arial"/>
                          <a:cs typeface="Arial"/>
                        </a:rPr>
                        <a:t>Split</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Programs</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Task groups</a:t>
                      </a:r>
                    </a:p>
                  </a:txBody>
                  <a:tcPr marL="91440" marR="91440" marT="45720" marB="45720">
                    <a:solidFill>
                      <a:srgbClr val="152E38"/>
                    </a:solidFill>
                  </a:tcPr>
                </a:tc>
              </a:tr>
              <a:tr h="678656">
                <a:tc>
                  <a:txBody>
                    <a:bodyPr>
                      <a:noAutofit/>
                    </a:bodyPr>
                    <a:lstStyle/>
                    <a:p>
                      <a:pPr algn="l"/>
                      <a:r>
                        <a:rPr sz="1950" b="0">
                          <a:solidFill>
                            <a:srgbClr val="152E38"/>
                          </a:solidFill>
                          <a:latin typeface="Arial"/>
                          <a:ea typeface="Arial"/>
                          <a:cs typeface="Arial"/>
                        </a:rPr>
                        <a:t>Training</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13,150</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181</a:t>
                      </a:r>
                    </a:p>
                  </a:txBody>
                  <a:tcPr marL="91440" marR="91440" marT="45720" marB="45720">
                    <a:solidFill>
                      <a:srgbClr val="FFFFFF"/>
                    </a:solidFill>
                  </a:tcPr>
                </a:tc>
              </a:tr>
              <a:tr h="678656">
                <a:tc>
                  <a:txBody>
                    <a:bodyPr>
                      <a:noAutofit/>
                    </a:bodyPr>
                    <a:lstStyle/>
                    <a:p>
                      <a:pPr algn="l"/>
                      <a:r>
                        <a:rPr sz="1950" b="0">
                          <a:solidFill>
                            <a:srgbClr val="152E38"/>
                          </a:solidFill>
                          <a:latin typeface="Arial"/>
                          <a:ea typeface="Arial"/>
                          <a:cs typeface="Arial"/>
                        </a:rPr>
                        <a:t>Validation</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2,978</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38</a:t>
                      </a:r>
                    </a:p>
                  </a:txBody>
                  <a:tcPr marL="91440" marR="91440" marT="45720" marB="45720">
                    <a:solidFill>
                      <a:srgbClr val="FFFFFF"/>
                    </a:solidFill>
                  </a:tcPr>
                </a:tc>
              </a:tr>
              <a:tr h="678656">
                <a:tc>
                  <a:txBody>
                    <a:bodyPr>
                      <a:noAutofit/>
                    </a:bodyPr>
                    <a:lstStyle/>
                    <a:p>
                      <a:pPr algn="l"/>
                      <a:r>
                        <a:rPr sz="1950" b="0">
                          <a:solidFill>
                            <a:srgbClr val="152E38"/>
                          </a:solidFill>
                          <a:latin typeface="Arial"/>
                          <a:ea typeface="Arial"/>
                          <a:cs typeface="Arial"/>
                        </a:rPr>
                        <a:t>Test</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3,872</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40</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5CCAF138-6D34-4ED9-AC8B-8E80B7603FB5}"/>
              </a:ext>
            </a:extLst>
          </p:cNvPr>
          <p:cNvSpPr>
            <a:spLocks xmlns:a="http://schemas.openxmlformats.org/drawingml/2006/main" noGrp="1"/>
          </p:cNvSpPr>
          <p:nvPr/>
        </p:nvSpPr>
        <p:spPr>
          <a:xfrm xmlns:a="http://schemas.openxmlformats.org/drawingml/2006/main">
            <a:off x="6858000" y="1666875"/>
            <a:ext cx="4857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50,000 character TF-IDF features</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Three to five characters per pattern</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Fit using training code only</a:t>
            </a:r>
          </a:p>
        </p:txBody>
      </p:sp>
      <p:sp>
        <p:nvSpPr>
          <p:cNvPr id="4" name="">
            <a:extLst xmlns:a="http://schemas.openxmlformats.org/drawingml/2006/main">
              <a:ext uri="{FF2B5EF4-FFF2-40B4-BE49-F238E27FC236}">
                <a16:creationId xmlns:a16="http://schemas.microsoft.com/office/drawing/2014/main" id="{53FDAA8F-E2BD-4A3C-A996-60C9CA866B24}"/>
              </a:ext>
            </a:extLst>
          </p:cNvPr>
          <p:cNvSpPr>
            <a:spLocks xmlns:a="http://schemas.openxmlformats.org/drawingml/2006/main" noGrp="1"/>
          </p:cNvSpPr>
          <p:nvPr/>
        </p:nvSpPr>
        <p:spPr>
          <a:xfrm xmlns:a="http://schemas.openxmlformats.org/drawingml/2006/main">
            <a:off x="6858000" y="3333750"/>
            <a:ext cx="476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0 empty programs</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0 exact source duplicates</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Five labels in every split</a:t>
            </a:r>
          </a:p>
        </p:txBody>
      </p:sp>
      <p:sp>
        <p:nvSpPr>
          <p:cNvPr id="5" name="">
            <a:extLst xmlns:a="http://schemas.openxmlformats.org/drawingml/2006/main">
              <a:ext uri="{FF2B5EF4-FFF2-40B4-BE49-F238E27FC236}">
                <a16:creationId xmlns:a16="http://schemas.microsoft.com/office/drawing/2014/main" id="{DE15496B-94E5-41AF-9A4A-C19CD292DF82}"/>
              </a:ext>
            </a:extLst>
          </p:cNvPr>
          <p:cNvSpPr>
            <a:spLocks xmlns:a="http://schemas.openxmlformats.org/drawingml/2006/main" noGrp="1"/>
          </p:cNvSpPr>
          <p:nvPr/>
        </p:nvSpPr>
        <p:spPr>
          <a:xfrm xmlns:a="http://schemas.openxmlformats.org/drawingml/2006/main">
            <a:off x="571500" y="4762500"/>
            <a:ext cx="10953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Saved groups keep related prompt variants together.</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No shared group, exact prompt or source hash across splits.</a:t>
            </a:r>
          </a:p>
        </p:txBody>
      </p:sp>
      <p:sp>
        <p:nvSpPr>
          <p:cNvPr id="6" name="">
            <a:extLst xmlns:a="http://schemas.openxmlformats.org/drawingml/2006/main">
              <a:ext uri="{FF2B5EF4-FFF2-40B4-BE49-F238E27FC236}">
                <a16:creationId xmlns:a16="http://schemas.microsoft.com/office/drawing/2014/main" id="{9127EC34-23E1-45B1-AFD1-7D8A0EA64A7D}"/>
              </a:ext>
            </a:extLst>
          </p:cNvPr>
          <p:cNvSpPr>
            <a:spLocks xmlns:a="http://schemas.openxmlformats.org/drawingml/2006/main" noGrp="1"/>
          </p:cNvSpPr>
          <p:nvPr/>
        </p:nvSpPr>
        <p:spPr>
          <a:xfrm xmlns:a="http://schemas.openxmlformats.org/drawingml/2006/main">
            <a:off x="571500" y="5972175"/>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50636B"/>
                </a:solidFill>
                <a:latin typeface="Arial"/>
                <a:ea typeface="Arial"/>
                <a:cs typeface="Arial"/>
              </a:defRPr>
            </a:pPr>
            <a:r>
              <a:rPr sz="1875" b="0">
                <a:solidFill>
                  <a:srgbClr val="50636B"/>
                </a:solidFill>
                <a:latin typeface="Arial"/>
                <a:ea typeface="Arial"/>
                <a:cs typeface="Arial"/>
              </a:rPr>
              <a:t>Groups are inferred. Some semantic overlap may remain.</a:t>
            </a:r>
          </a:p>
        </p:txBody>
      </p:sp>
    </p:spTree>
    <p:extLst>
      <p:ext uri="{BB962C8B-B14F-4D97-AF65-F5344CB8AC3E}">
        <p14:creationId xmlns:p14="http://schemas.microsoft.com/office/powerpoint/2010/main" val="1001095405"/>
      </p:ext>
    </p:extLst>
  </p:cSld>
</p:sld>
</file>

<file path=ppt/slides/slide3.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7E73206-36CF-4B56-91F7-60DC37BFE0A1}"/>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Experiment 1: original code</a:t>
            </a:r>
          </a:p>
        </p:txBody>
      </p:sp>
      <p:sp>
        <p:nvSpPr>
          <p:cNvPr id="2" name="">
            <a:extLst xmlns:a="http://schemas.openxmlformats.org/drawingml/2006/main">
              <a:ext uri="{FF2B5EF4-FFF2-40B4-BE49-F238E27FC236}">
                <a16:creationId xmlns:a16="http://schemas.microsoft.com/office/drawing/2014/main" id="{1E2D2320-DAC0-4C9F-9AB1-66B51F4057CD}"/>
              </a:ext>
            </a:extLst>
          </p:cNvPr>
          <p:cNvSpPr>
            <a:spLocks xmlns:a="http://schemas.openxmlformats.org/drawingml/2006/main" noGrp="1"/>
          </p:cNvSpPr>
          <p:nvPr/>
        </p:nvSpPr>
        <p:spPr>
          <a:xfrm xmlns:a="http://schemas.openxmlformats.org/drawingml/2006/main">
            <a:off x="571500" y="1428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17C83"/>
                </a:solidFill>
                <a:latin typeface="Arial"/>
                <a:ea typeface="Arial"/>
                <a:cs typeface="Arial"/>
              </a:defRPr>
            </a:pPr>
            <a:r>
              <a:rPr sz="2250" b="1">
                <a:solidFill>
                  <a:srgbClr val="117C83"/>
                </a:solidFill>
                <a:latin typeface="Arial"/>
                <a:ea typeface="Arial"/>
                <a:cs typeface="Arial"/>
              </a:rPr>
              <a:t>Four models use the same training, validation and test data</a:t>
            </a:r>
          </a:p>
        </p:txBody>
      </p:sp>
      <p:sp>
        <p:nvSpPr>
          <p:cNvPr id="3" name="">
            <a:extLst xmlns:a="http://schemas.openxmlformats.org/drawingml/2006/main">
              <a:ext uri="{FF2B5EF4-FFF2-40B4-BE49-F238E27FC236}">
                <a16:creationId xmlns:a16="http://schemas.microsoft.com/office/drawing/2014/main" id="{5301E6EE-6D30-4634-9652-C788ABEFB15B}"/>
              </a:ext>
            </a:extLst>
          </p:cNvPr>
          <p:cNvSpPr>
            <a:spLocks xmlns:a="http://schemas.openxmlformats.org/drawingml/2006/main" noGrp="1"/>
          </p:cNvSpPr>
          <p:nvPr/>
        </p:nvSpPr>
        <p:spPr>
          <a:xfrm xmlns:a="http://schemas.openxmlformats.org/drawingml/2006/main">
            <a:off x="571500" y="2428875"/>
            <a:ext cx="414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52E38"/>
                </a:solidFill>
                <a:latin typeface="Arial"/>
                <a:ea typeface="Arial"/>
                <a:cs typeface="Arial"/>
              </a:defRPr>
            </a:pPr>
            <a:r>
              <a:rPr sz="2250" b="1">
                <a:solidFill>
                  <a:srgbClr val="152E38"/>
                </a:solidFill>
                <a:latin typeface="Arial"/>
                <a:ea typeface="Arial"/>
                <a:cs typeface="Arial"/>
              </a:rPr>
              <a:t>Naive Bayes</a:t>
            </a:r>
          </a:p>
        </p:txBody>
      </p:sp>
      <p:sp>
        <p:nvSpPr>
          <p:cNvPr id="4" name="">
            <a:extLst xmlns:a="http://schemas.openxmlformats.org/drawingml/2006/main">
              <a:ext uri="{FF2B5EF4-FFF2-40B4-BE49-F238E27FC236}">
                <a16:creationId xmlns:a16="http://schemas.microsoft.com/office/drawing/2014/main" id="{2A472845-4AAF-4D80-94DA-CACEF8D7700D}"/>
              </a:ext>
            </a:extLst>
          </p:cNvPr>
          <p:cNvSpPr>
            <a:spLocks xmlns:a="http://schemas.openxmlformats.org/drawingml/2006/main" noGrp="1"/>
          </p:cNvSpPr>
          <p:nvPr/>
        </p:nvSpPr>
        <p:spPr>
          <a:xfrm xmlns:a="http://schemas.openxmlformats.org/drawingml/2006/main">
            <a:off x="5238750" y="2428875"/>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Simple baseline</a:t>
            </a:r>
          </a:p>
        </p:txBody>
      </p:sp>
      <p:sp>
        <p:nvSpPr>
          <p:cNvPr id="5" name="">
            <a:extLst xmlns:a="http://schemas.openxmlformats.org/drawingml/2006/main">
              <a:ext uri="{FF2B5EF4-FFF2-40B4-BE49-F238E27FC236}">
                <a16:creationId xmlns:a16="http://schemas.microsoft.com/office/drawing/2014/main" id="{528F8AD2-568E-4ED5-9AAA-16916BC46390}"/>
              </a:ext>
            </a:extLst>
          </p:cNvPr>
          <p:cNvSpPr>
            <a:spLocks xmlns:a="http://schemas.openxmlformats.org/drawingml/2006/main" noGrp="1"/>
          </p:cNvSpPr>
          <p:nvPr/>
        </p:nvSpPr>
        <p:spPr>
          <a:xfrm xmlns:a="http://schemas.openxmlformats.org/drawingml/2006/main">
            <a:off x="571500" y="3076575"/>
            <a:ext cx="414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52E38"/>
                </a:solidFill>
                <a:latin typeface="Arial"/>
                <a:ea typeface="Arial"/>
                <a:cs typeface="Arial"/>
              </a:defRPr>
            </a:pPr>
            <a:r>
              <a:rPr sz="2250" b="1">
                <a:solidFill>
                  <a:srgbClr val="152E38"/>
                </a:solidFill>
                <a:latin typeface="Arial"/>
                <a:ea typeface="Arial"/>
                <a:cs typeface="Arial"/>
              </a:rPr>
              <a:t>Logistic Regression</a:t>
            </a:r>
          </a:p>
        </p:txBody>
      </p:sp>
      <p:sp>
        <p:nvSpPr>
          <p:cNvPr id="6" name="">
            <a:extLst xmlns:a="http://schemas.openxmlformats.org/drawingml/2006/main">
              <a:ext uri="{FF2B5EF4-FFF2-40B4-BE49-F238E27FC236}">
                <a16:creationId xmlns:a16="http://schemas.microsoft.com/office/drawing/2014/main" id="{7320F779-83C5-415C-BE4E-03BB0A262BCC}"/>
              </a:ext>
            </a:extLst>
          </p:cNvPr>
          <p:cNvSpPr>
            <a:spLocks xmlns:a="http://schemas.openxmlformats.org/drawingml/2006/main" noGrp="1"/>
          </p:cNvSpPr>
          <p:nvPr/>
        </p:nvSpPr>
        <p:spPr>
          <a:xfrm xmlns:a="http://schemas.openxmlformats.org/drawingml/2006/main">
            <a:off x="5238750" y="3076575"/>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Linear classifier</a:t>
            </a:r>
          </a:p>
        </p:txBody>
      </p:sp>
      <p:sp>
        <p:nvSpPr>
          <p:cNvPr id="7" name="">
            <a:extLst xmlns:a="http://schemas.openxmlformats.org/drawingml/2006/main">
              <a:ext uri="{FF2B5EF4-FFF2-40B4-BE49-F238E27FC236}">
                <a16:creationId xmlns:a16="http://schemas.microsoft.com/office/drawing/2014/main" id="{379F312B-630E-48D0-B6F7-C318E06A146A}"/>
              </a:ext>
            </a:extLst>
          </p:cNvPr>
          <p:cNvSpPr>
            <a:spLocks xmlns:a="http://schemas.openxmlformats.org/drawingml/2006/main" noGrp="1"/>
          </p:cNvSpPr>
          <p:nvPr/>
        </p:nvSpPr>
        <p:spPr>
          <a:xfrm xmlns:a="http://schemas.openxmlformats.org/drawingml/2006/main">
            <a:off x="571500" y="3724275"/>
            <a:ext cx="414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52E38"/>
                </a:solidFill>
                <a:latin typeface="Arial"/>
                <a:ea typeface="Arial"/>
                <a:cs typeface="Arial"/>
              </a:defRPr>
            </a:pPr>
            <a:r>
              <a:rPr sz="2250" b="1">
                <a:solidFill>
                  <a:srgbClr val="152E38"/>
                </a:solidFill>
                <a:latin typeface="Arial"/>
                <a:ea typeface="Arial"/>
                <a:cs typeface="Arial"/>
              </a:rPr>
              <a:t>Linear SVM</a:t>
            </a:r>
          </a:p>
        </p:txBody>
      </p:sp>
      <p:sp>
        <p:nvSpPr>
          <p:cNvPr id="8" name="">
            <a:extLst xmlns:a="http://schemas.openxmlformats.org/drawingml/2006/main">
              <a:ext uri="{FF2B5EF4-FFF2-40B4-BE49-F238E27FC236}">
                <a16:creationId xmlns:a16="http://schemas.microsoft.com/office/drawing/2014/main" id="{923FB148-AD29-4A15-A131-50A08ABA6891}"/>
              </a:ext>
            </a:extLst>
          </p:cNvPr>
          <p:cNvSpPr>
            <a:spLocks xmlns:a="http://schemas.openxmlformats.org/drawingml/2006/main" noGrp="1"/>
          </p:cNvSpPr>
          <p:nvPr/>
        </p:nvSpPr>
        <p:spPr>
          <a:xfrm xmlns:a="http://schemas.openxmlformats.org/drawingml/2006/main">
            <a:off x="5238750" y="3724275"/>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Linear margin classifier</a:t>
            </a:r>
          </a:p>
        </p:txBody>
      </p:sp>
      <p:sp>
        <p:nvSpPr>
          <p:cNvPr id="9" name="">
            <a:extLst xmlns:a="http://schemas.openxmlformats.org/drawingml/2006/main">
              <a:ext uri="{FF2B5EF4-FFF2-40B4-BE49-F238E27FC236}">
                <a16:creationId xmlns:a16="http://schemas.microsoft.com/office/drawing/2014/main" id="{9721E28D-0796-400D-9D43-93A60C4F5DF1}"/>
              </a:ext>
            </a:extLst>
          </p:cNvPr>
          <p:cNvSpPr>
            <a:spLocks xmlns:a="http://schemas.openxmlformats.org/drawingml/2006/main" noGrp="1"/>
          </p:cNvSpPr>
          <p:nvPr/>
        </p:nvSpPr>
        <p:spPr>
          <a:xfrm xmlns:a="http://schemas.openxmlformats.org/drawingml/2006/main">
            <a:off x="571500" y="4371975"/>
            <a:ext cx="414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52E38"/>
                </a:solidFill>
                <a:latin typeface="Arial"/>
                <a:ea typeface="Arial"/>
                <a:cs typeface="Arial"/>
              </a:defRPr>
            </a:pPr>
            <a:r>
              <a:rPr sz="2250" b="1">
                <a:solidFill>
                  <a:srgbClr val="152E38"/>
                </a:solidFill>
                <a:latin typeface="Arial"/>
                <a:ea typeface="Arial"/>
                <a:cs typeface="Arial"/>
              </a:rPr>
              <a:t>Random Forest</a:t>
            </a:r>
          </a:p>
        </p:txBody>
      </p:sp>
      <p:sp>
        <p:nvSpPr>
          <p:cNvPr id="10" name="">
            <a:extLst xmlns:a="http://schemas.openxmlformats.org/drawingml/2006/main">
              <a:ext uri="{FF2B5EF4-FFF2-40B4-BE49-F238E27FC236}">
                <a16:creationId xmlns:a16="http://schemas.microsoft.com/office/drawing/2014/main" id="{4C8CD0DD-8103-456D-BB5D-CC8B994657B6}"/>
              </a:ext>
            </a:extLst>
          </p:cNvPr>
          <p:cNvSpPr>
            <a:spLocks xmlns:a="http://schemas.openxmlformats.org/drawingml/2006/main" noGrp="1"/>
          </p:cNvSpPr>
          <p:nvPr/>
        </p:nvSpPr>
        <p:spPr>
          <a:xfrm xmlns:a="http://schemas.openxmlformats.org/drawingml/2006/main">
            <a:off x="5238750" y="4371975"/>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Tree ensemble</a:t>
            </a:r>
          </a:p>
        </p:txBody>
      </p:sp>
      <p:sp>
        <p:nvSpPr>
          <p:cNvPr id="11" name="">
            <a:extLst xmlns:a="http://schemas.openxmlformats.org/drawingml/2006/main">
              <a:ext uri="{FF2B5EF4-FFF2-40B4-BE49-F238E27FC236}">
                <a16:creationId xmlns:a16="http://schemas.microsoft.com/office/drawing/2014/main" id="{F05DAA05-4D90-48DF-83E6-65B7C266A0FF}"/>
              </a:ext>
            </a:extLst>
          </p:cNvPr>
          <p:cNvSpPr>
            <a:spLocks xmlns:a="http://schemas.openxmlformats.org/drawingml/2006/main" noGrp="1"/>
          </p:cNvSpPr>
          <p:nvPr/>
        </p:nvSpPr>
        <p:spPr>
          <a:xfrm xmlns:a="http://schemas.openxmlformats.org/drawingml/2006/main">
            <a:off x="571500" y="5429250"/>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Keep comments and identifiers. Seed 42 where supported.</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Select the model with the highest validation Macro-F1.</a:t>
            </a:r>
          </a:p>
        </p:txBody>
      </p:sp>
    </p:spTree>
    <p:extLst>
      <p:ext uri="{BB962C8B-B14F-4D97-AF65-F5344CB8AC3E}">
        <p14:creationId xmlns:p14="http://schemas.microsoft.com/office/powerpoint/2010/main" val="2030792755"/>
      </p:ext>
    </p:extLst>
  </p:cSld>
</p:sld>
</file>

<file path=ppt/slides/slide4.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43FBC93-EBA2-44A4-9258-B4B7151068F6}"/>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Experiment 1: results</a:t>
            </a:r>
          </a:p>
        </p:txBody>
      </p:sp>
      <p:graphicFrame>
        <p:nvGraphicFramePr>
          <p:cNvPr id="6" name=""/>
          <p:cNvGraphicFramePr/>
          <p:nvPr/>
        </p:nvGraphicFramePr>
        <p:xfrm>
          <a:off xmlns:a="http://schemas.openxmlformats.org/drawingml/2006/main" x="571500" y="1657350"/>
          <a:ext xmlns:a="http://schemas.openxmlformats.org/drawingml/2006/main" cx="11049000" cy="2905125"/>
        </p:xfrm>
        <a:graphic xmlns:a="http://schemas.openxmlformats.org/drawingml/2006/main">
          <a:graphicData uri="http://schemas.openxmlformats.org/drawingml/2006/table">
            <a:tbl>
              <a:tblPr/>
              <a:tblGrid>
                <a:gridCol w="3619500"/>
                <a:gridCol w="1809750"/>
                <a:gridCol w="1809750"/>
                <a:gridCol w="1809750"/>
                <a:gridCol w="2000250"/>
              </a:tblGrid>
              <a:tr h="581025">
                <a:tc>
                  <a:txBody>
                    <a:bodyPr>
                      <a:noAutofit/>
                    </a:bodyPr>
                    <a:lstStyle/>
                    <a:p>
                      <a:pPr algn="l"/>
                      <a:r>
                        <a:rPr sz="1875" b="1">
                          <a:solidFill>
                            <a:srgbClr val="FFFFFF"/>
                          </a:solidFill>
                          <a:latin typeface="Arial"/>
                          <a:ea typeface="Arial"/>
                          <a:cs typeface="Arial"/>
                        </a:rPr>
                        <a:t>Model</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Accuracy</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Macro-F1</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Fit (s)</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Size (MB)</a:t>
                      </a:r>
                    </a:p>
                  </a:txBody>
                  <a:tcPr marL="91440" marR="91440" marT="45720" marB="45720">
                    <a:solidFill>
                      <a:srgbClr val="152E38"/>
                    </a:solidFill>
                  </a:tcPr>
                </a:tc>
              </a:tr>
              <a:tr h="581025">
                <a:tc>
                  <a:txBody>
                    <a:bodyPr>
                      <a:noAutofit/>
                    </a:bodyPr>
                    <a:lstStyle/>
                    <a:p>
                      <a:pPr algn="l"/>
                      <a:r>
                        <a:rPr sz="1950" b="0">
                          <a:solidFill>
                            <a:srgbClr val="152E38"/>
                          </a:solidFill>
                          <a:latin typeface="Arial"/>
                          <a:ea typeface="Arial"/>
                          <a:cs typeface="Arial"/>
                        </a:rPr>
                        <a:t>Naive Bayes</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62.68%</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0.6278</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0.12</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2.898</a:t>
                      </a:r>
                    </a:p>
                  </a:txBody>
                  <a:tcPr marL="91440" marR="91440" marT="45720" marB="45720">
                    <a:solidFill>
                      <a:srgbClr val="FFFFFF"/>
                    </a:solidFill>
                  </a:tcPr>
                </a:tc>
              </a:tr>
              <a:tr h="581025">
                <a:tc>
                  <a:txBody>
                    <a:bodyPr>
                      <a:noAutofit/>
                    </a:bodyPr>
                    <a:lstStyle/>
                    <a:p>
                      <a:pPr algn="l"/>
                      <a:r>
                        <a:rPr sz="1950" b="0">
                          <a:solidFill>
                            <a:srgbClr val="152E38"/>
                          </a:solidFill>
                          <a:latin typeface="Arial"/>
                          <a:ea typeface="Arial"/>
                          <a:cs typeface="Arial"/>
                        </a:rPr>
                        <a:t>Logistic Regression</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76.89%</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0.7704</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15.17</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0.863</a:t>
                      </a:r>
                    </a:p>
                  </a:txBody>
                  <a:tcPr marL="91440" marR="91440" marT="45720" marB="45720">
                    <a:solidFill>
                      <a:srgbClr val="FFFFFF"/>
                    </a:solidFill>
                  </a:tcPr>
                </a:tc>
              </a:tr>
              <a:tr h="581025">
                <a:tc>
                  <a:txBody>
                    <a:bodyPr>
                      <a:noAutofit/>
                    </a:bodyPr>
                    <a:lstStyle/>
                    <a:p>
                      <a:pPr algn="l"/>
                      <a:r>
                        <a:rPr sz="1950" b="1">
                          <a:solidFill>
                            <a:srgbClr val="152E38"/>
                          </a:solidFill>
                          <a:latin typeface="Arial"/>
                          <a:ea typeface="Arial"/>
                          <a:cs typeface="Arial"/>
                        </a:rPr>
                        <a:t>Linear SVM</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79.75%</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0.7970</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5.36</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1.767</a:t>
                      </a:r>
                    </a:p>
                  </a:txBody>
                  <a:tcPr marL="91440" marR="91440" marT="45720" marB="45720">
                    <a:solidFill>
                      <a:srgbClr val="E0F0ED"/>
                    </a:solidFill>
                  </a:tcPr>
                </a:tc>
              </a:tr>
              <a:tr h="581025">
                <a:tc>
                  <a:txBody>
                    <a:bodyPr>
                      <a:noAutofit/>
                    </a:bodyPr>
                    <a:lstStyle/>
                    <a:p>
                      <a:pPr algn="l"/>
                      <a:r>
                        <a:rPr sz="1950" b="0">
                          <a:solidFill>
                            <a:srgbClr val="152E38"/>
                          </a:solidFill>
                          <a:latin typeface="Arial"/>
                          <a:ea typeface="Arial"/>
                          <a:cs typeface="Arial"/>
                        </a:rPr>
                        <a:t>Random Forest</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69.01%</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0.6796</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20.11</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9.935</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3BFA7B34-CBA0-4E8F-B412-A3340810BE42}"/>
              </a:ext>
            </a:extLst>
          </p:cNvPr>
          <p:cNvSpPr>
            <a:spLocks xmlns:a="http://schemas.openxmlformats.org/drawingml/2006/main" noGrp="1"/>
          </p:cNvSpPr>
          <p:nvPr/>
        </p:nvSpPr>
        <p:spPr>
          <a:xfrm xmlns:a="http://schemas.openxmlformats.org/drawingml/2006/main">
            <a:off x="571500" y="501015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17C83"/>
                </a:solidFill>
                <a:latin typeface="Arial"/>
                <a:ea typeface="Arial"/>
                <a:cs typeface="Arial"/>
              </a:defRPr>
            </a:pPr>
            <a:r>
              <a:rPr sz="2250" b="1">
                <a:solidFill>
                  <a:srgbClr val="117C83"/>
                </a:solidFill>
                <a:latin typeface="Arial"/>
                <a:ea typeface="Arial"/>
                <a:cs typeface="Arial"/>
              </a:rPr>
              <a:t>Linear SVM leads on validation and test.</a:t>
            </a:r>
          </a:p>
          <a:p xmlns:a="http://schemas.openxmlformats.org/drawingml/2006/main">
            <a:pPr>
              <a:defRPr sz="2250" b="1">
                <a:solidFill>
                  <a:srgbClr val="117C83"/>
                </a:solidFill>
                <a:latin typeface="Arial"/>
                <a:ea typeface="Arial"/>
                <a:cs typeface="Arial"/>
              </a:defRPr>
            </a:pPr>
            <a:r>
              <a:rPr sz="2250" b="1">
                <a:solidFill>
                  <a:srgbClr val="117C83"/>
                </a:solidFill>
                <a:latin typeface="Arial"/>
                <a:ea typeface="Arial"/>
                <a:cs typeface="Arial"/>
              </a:rPr>
              <a:t>Validation Macro-F1: 0.8062</a:t>
            </a:r>
          </a:p>
        </p:txBody>
      </p:sp>
      <p:sp>
        <p:nvSpPr>
          <p:cNvPr id="4" name="">
            <a:extLst xmlns:a="http://schemas.openxmlformats.org/drawingml/2006/main">
              <a:ext uri="{FF2B5EF4-FFF2-40B4-BE49-F238E27FC236}">
                <a16:creationId xmlns:a16="http://schemas.microsoft.com/office/drawing/2014/main" id="{BFF30153-121D-4671-9917-8702C53F1156}"/>
              </a:ext>
            </a:extLst>
          </p:cNvPr>
          <p:cNvSpPr>
            <a:spLocks xmlns:a="http://schemas.openxmlformats.org/drawingml/2006/main" noGrp="1"/>
          </p:cNvSpPr>
          <p:nvPr/>
        </p:nvSpPr>
        <p:spPr>
          <a:xfrm xmlns:a="http://schemas.openxmlformats.org/drawingml/2006/main">
            <a:off x="571500" y="6124575"/>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50636B"/>
                </a:solidFill>
                <a:latin typeface="Arial"/>
                <a:ea typeface="Arial"/>
                <a:cs typeface="Arial"/>
              </a:defRPr>
            </a:pPr>
            <a:r>
              <a:rPr sz="1800" b="0">
                <a:solidFill>
                  <a:srgbClr val="50636B"/>
                </a:solidFill>
                <a:latin typeface="Arial"/>
                <a:ea typeface="Arial"/>
                <a:cs typeface="Arial"/>
              </a:rPr>
              <a:t>Single-run times exclude TF-IDF. Size is the compressed classifier.</a:t>
            </a:r>
          </a:p>
        </p:txBody>
      </p:sp>
    </p:spTree>
    <p:extLst>
      <p:ext uri="{BB962C8B-B14F-4D97-AF65-F5344CB8AC3E}">
        <p14:creationId xmlns:p14="http://schemas.microsoft.com/office/powerpoint/2010/main" val="2058895215"/>
      </p:ext>
    </p:extLst>
  </p:cSld>
</p:sld>
</file>

<file path=ppt/slides/slide5.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85BE1B7-F06B-4464-B74C-EB3FF529C004}"/>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Ablation: restrict the code-pattern vocabulary</a:t>
            </a:r>
          </a:p>
        </p:txBody>
      </p:sp>
      <p:graphicFrame>
        <p:nvGraphicFramePr>
          <p:cNvPr id="6" name=""/>
          <p:cNvGraphicFramePr/>
          <p:nvPr/>
        </p:nvGraphicFramePr>
        <p:xfrm>
          <a:off xmlns:a="http://schemas.openxmlformats.org/drawingml/2006/main" x="571500" y="1476375"/>
          <a:ext xmlns:a="http://schemas.openxmlformats.org/drawingml/2006/main" cx="11049000" cy="2714625"/>
        </p:xfrm>
        <a:graphic xmlns:a="http://schemas.openxmlformats.org/drawingml/2006/main">
          <a:graphicData uri="http://schemas.openxmlformats.org/drawingml/2006/table">
            <a:tbl>
              <a:tblPr/>
              <a:tblGrid>
                <a:gridCol w="3810000"/>
                <a:gridCol w="2571750"/>
                <a:gridCol w="2476500"/>
                <a:gridCol w="2190750"/>
              </a:tblGrid>
              <a:tr h="542925">
                <a:tc>
                  <a:txBody>
                    <a:bodyPr>
                      <a:noAutofit/>
                    </a:bodyPr>
                    <a:lstStyle/>
                    <a:p>
                      <a:pPr algn="l"/>
                      <a:r>
                        <a:rPr sz="1875" b="1">
                          <a:solidFill>
                            <a:srgbClr val="FFFFFF"/>
                          </a:solidFill>
                          <a:latin typeface="Arial"/>
                          <a:ea typeface="Arial"/>
                          <a:cs typeface="Arial"/>
                        </a:rPr>
                        <a:t>Validation F1</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50,000 features</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500 features</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Rank</a:t>
                      </a:r>
                    </a:p>
                  </a:txBody>
                  <a:tcPr marL="91440" marR="91440" marT="45720" marB="45720">
                    <a:solidFill>
                      <a:srgbClr val="152E38"/>
                    </a:solidFill>
                  </a:tcPr>
                </a:tc>
              </a:tr>
              <a:tr h="542925">
                <a:tc>
                  <a:txBody>
                    <a:bodyPr>
                      <a:noAutofit/>
                    </a:bodyPr>
                    <a:lstStyle/>
                    <a:p>
                      <a:pPr algn="l"/>
                      <a:r>
                        <a:rPr sz="1950" b="1">
                          <a:solidFill>
                            <a:srgbClr val="152E38"/>
                          </a:solidFill>
                          <a:latin typeface="Arial"/>
                          <a:ea typeface="Arial"/>
                          <a:cs typeface="Arial"/>
                        </a:rPr>
                        <a:t>Linear SVM</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0.8062</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0.7336</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1 to 1</a:t>
                      </a:r>
                    </a:p>
                  </a:txBody>
                  <a:tcPr marL="91440" marR="91440" marT="45720" marB="45720">
                    <a:solidFill>
                      <a:srgbClr val="E0F0ED"/>
                    </a:solidFill>
                  </a:tcPr>
                </a:tc>
              </a:tr>
              <a:tr h="542925">
                <a:tc>
                  <a:txBody>
                    <a:bodyPr>
                      <a:noAutofit/>
                    </a:bodyPr>
                    <a:lstStyle/>
                    <a:p>
                      <a:pPr algn="l"/>
                      <a:r>
                        <a:rPr sz="1950" b="0">
                          <a:solidFill>
                            <a:srgbClr val="152E38"/>
                          </a:solidFill>
                          <a:latin typeface="Arial"/>
                          <a:ea typeface="Arial"/>
                          <a:cs typeface="Arial"/>
                        </a:rPr>
                        <a:t>Logistic Regression</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0.7913</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0.7197</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2 to 2</a:t>
                      </a:r>
                    </a:p>
                  </a:txBody>
                  <a:tcPr marL="91440" marR="91440" marT="45720" marB="45720">
                    <a:solidFill>
                      <a:srgbClr val="FFFFFF"/>
                    </a:solidFill>
                  </a:tcPr>
                </a:tc>
              </a:tr>
              <a:tr h="542925">
                <a:tc>
                  <a:txBody>
                    <a:bodyPr>
                      <a:noAutofit/>
                    </a:bodyPr>
                    <a:lstStyle/>
                    <a:p>
                      <a:pPr algn="l"/>
                      <a:r>
                        <a:rPr sz="1950" b="0">
                          <a:solidFill>
                            <a:srgbClr val="152E38"/>
                          </a:solidFill>
                          <a:latin typeface="Arial"/>
                          <a:ea typeface="Arial"/>
                          <a:cs typeface="Arial"/>
                        </a:rPr>
                        <a:t>Random Forest</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0.7609</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0.6614</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3 to 3</a:t>
                      </a:r>
                    </a:p>
                  </a:txBody>
                  <a:tcPr marL="91440" marR="91440" marT="45720" marB="45720">
                    <a:solidFill>
                      <a:srgbClr val="FFFFFF"/>
                    </a:solidFill>
                  </a:tcPr>
                </a:tc>
              </a:tr>
              <a:tr h="542925">
                <a:tc>
                  <a:txBody>
                    <a:bodyPr>
                      <a:noAutofit/>
                    </a:bodyPr>
                    <a:lstStyle/>
                    <a:p>
                      <a:pPr algn="l"/>
                      <a:r>
                        <a:rPr sz="1950" b="0">
                          <a:solidFill>
                            <a:srgbClr val="152E38"/>
                          </a:solidFill>
                          <a:latin typeface="Arial"/>
                          <a:ea typeface="Arial"/>
                          <a:cs typeface="Arial"/>
                        </a:rPr>
                        <a:t>Naive Bayes</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0.6903</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0.5214</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4 to 4</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5F08BF02-F422-4D2E-9D67-BEC93E9DB899}"/>
              </a:ext>
            </a:extLst>
          </p:cNvPr>
          <p:cNvSpPr>
            <a:spLocks xmlns:a="http://schemas.openxmlformats.org/drawingml/2006/main" noGrp="1"/>
          </p:cNvSpPr>
          <p:nvPr/>
        </p:nvSpPr>
        <p:spPr>
          <a:xfrm xmlns:a="http://schemas.openxmlformats.org/drawingml/2006/main">
            <a:off x="571500" y="4524375"/>
            <a:ext cx="1104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Prediction: fewer patterns would narrow SVM’s lead over LR.</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Observed: 1.49 to 1.39 percentage points. Rankings did not change.</a:t>
            </a:r>
          </a:p>
        </p:txBody>
      </p:sp>
      <p:sp>
        <p:nvSpPr>
          <p:cNvPr id="4" name="">
            <a:extLst xmlns:a="http://schemas.openxmlformats.org/drawingml/2006/main">
              <a:ext uri="{FF2B5EF4-FFF2-40B4-BE49-F238E27FC236}">
                <a16:creationId xmlns:a16="http://schemas.microsoft.com/office/drawing/2014/main" id="{108BEF3B-75C1-4C25-A102-B6ADC1AB733E}"/>
              </a:ext>
            </a:extLst>
          </p:cNvPr>
          <p:cNvSpPr>
            <a:spLocks xmlns:a="http://schemas.openxmlformats.org/drawingml/2006/main" noGrp="1"/>
          </p:cNvSpPr>
          <p:nvPr/>
        </p:nvSpPr>
        <p:spPr>
          <a:xfrm xmlns:a="http://schemas.openxmlformats.org/drawingml/2006/main">
            <a:off x="571500" y="55721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117C83"/>
                </a:solidFill>
                <a:latin typeface="Arial"/>
                <a:ea typeface="Arial"/>
                <a:cs typeface="Arial"/>
              </a:defRPr>
            </a:pPr>
            <a:r>
              <a:rPr sz="2025" b="1">
                <a:solidFill>
                  <a:srgbClr val="117C83"/>
                </a:solidFill>
                <a:latin typeface="Arial"/>
                <a:ea typeface="Arial"/>
                <a:cs typeface="Arial"/>
              </a:rPr>
              <a:t>Weak support for the gap prediction, not a full explanation.</a:t>
            </a:r>
          </a:p>
          <a:p xmlns:a="http://schemas.openxmlformats.org/drawingml/2006/main">
            <a:pPr>
              <a:defRPr sz="2025" b="1">
                <a:solidFill>
                  <a:srgbClr val="117C83"/>
                </a:solidFill>
                <a:latin typeface="Arial"/>
                <a:ea typeface="Arial"/>
                <a:cs typeface="Arial"/>
              </a:defRPr>
            </a:pPr>
            <a:r>
              <a:rPr sz="2025" b="1">
                <a:solidFill>
                  <a:srgbClr val="117C83"/>
                </a:solidFill>
                <a:latin typeface="Arial"/>
                <a:ea typeface="Arial"/>
                <a:cs typeface="Arial"/>
              </a:rPr>
              <a:t>Removing comments also hurt all models without changing ranks.</a:t>
            </a:r>
          </a:p>
        </p:txBody>
      </p:sp>
    </p:spTree>
    <p:extLst>
      <p:ext uri="{BB962C8B-B14F-4D97-AF65-F5344CB8AC3E}">
        <p14:creationId xmlns:p14="http://schemas.microsoft.com/office/powerpoint/2010/main" val="17248178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2026-09-29T07:21:48.4130000Z</dcterms:created>
  <dcterms:modified xsi:type="dcterms:W3CDTF">2026-09-29T07:21:48.4130000Z</dcterms:modified>
</coreProperties>
</file>