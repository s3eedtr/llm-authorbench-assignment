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28bd0ff986148b4" /><Relationship Type="http://schemas.openxmlformats.org/officeDocument/2006/relationships/extended-properties" Target="/docProps/app.xml" Id="Raae8576af1c44fe4" /><Relationship Type="http://schemas.openxmlformats.org/officeDocument/2006/relationships/officeDocument" Target="/ppt/presentation.xml" Id="Rea70171add8c468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34efcd4b1414613"/>
  </p:sldMasterIdLst>
  <p:notesMasterIdLst>
    <p:notesMasterId xmlns:r="http://schemas.openxmlformats.org/officeDocument/2006/relationships" r:id="R231da35ed40348b2"/>
  </p:notesMasterIdLst>
  <p:sldIdLst>
    <p:sldId xmlns:r="http://schemas.openxmlformats.org/officeDocument/2006/relationships" id="256" r:id="R2edb8b2c9b7f4fb9"/>
    <p:sldId xmlns:r="http://schemas.openxmlformats.org/officeDocument/2006/relationships" id="257" r:id="Rcb5dbcb3feaf4f1f"/>
    <p:sldId xmlns:r="http://schemas.openxmlformats.org/officeDocument/2006/relationships" id="258" r:id="R5cec3d1956794dbf"/>
    <p:sldId xmlns:r="http://schemas.openxmlformats.org/officeDocument/2006/relationships" id="259" r:id="R20c34acd1cbc41a6"/>
    <p:sldId xmlns:r="http://schemas.openxmlformats.org/officeDocument/2006/relationships" id="260" r:id="R831267d18b184c0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85b4b63eb1e4348" /><Relationship Type="http://schemas.openxmlformats.org/officeDocument/2006/relationships/slideMaster" Target="/ppt/slideMasters/slideMaster1.xml" Id="R034efcd4b1414613" /><Relationship Type="http://schemas.openxmlformats.org/officeDocument/2006/relationships/notesMaster" Target="/ppt/notesMasters/notesMaster1.xml" Id="R231da35ed40348b2" /><Relationship Type="http://schemas.openxmlformats.org/officeDocument/2006/relationships/presProps" Target="/ppt/presProps.xml" Id="R6d6182b54220488e" /><Relationship Type="http://schemas.openxmlformats.org/officeDocument/2006/relationships/tableStyles" Target="/ppt/tableStyles.xml" Id="R17fac4aa900b4d98" /><Relationship Type="http://schemas.openxmlformats.org/officeDocument/2006/relationships/slide" Target="/ppt/slides/slide1.xml" Id="R2edb8b2c9b7f4fb9" /><Relationship Type="http://schemas.openxmlformats.org/officeDocument/2006/relationships/slide" Target="/ppt/slides/slide2.xml" Id="Rcb5dbcb3feaf4f1f" /><Relationship Type="http://schemas.openxmlformats.org/officeDocument/2006/relationships/slide" Target="/ppt/slides/slide3.xml" Id="R5cec3d1956794dbf" /><Relationship Type="http://schemas.openxmlformats.org/officeDocument/2006/relationships/slide" Target="/ppt/slides/slide4.xml" Id="R20c34acd1cbc41a6" /><Relationship Type="http://schemas.openxmlformats.org/officeDocument/2006/relationships/slide" Target="/ppt/slides/slide5.xml" Id="R831267d18b184c0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925b683edfe478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a53814f7bea4ed8" /><Relationship Type="http://schemas.openxmlformats.org/officeDocument/2006/relationships/notesMaster" Target="/ppt/notesMasters/notesMaster1.xml" Id="Rd72e362ee363488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813cf04d4ec4305" /><Relationship Type="http://schemas.openxmlformats.org/officeDocument/2006/relationships/notesMaster" Target="/ppt/notesMasters/notesMaster1.xml" Id="R52e46ac238e4477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654153d21e5455a" /><Relationship Type="http://schemas.openxmlformats.org/officeDocument/2006/relationships/notesMaster" Target="/ppt/notesMasters/notesMaster1.xml" Id="R50612873ab3c4e1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2d6254c289849bc" /><Relationship Type="http://schemas.openxmlformats.org/officeDocument/2006/relationships/notesMaster" Target="/ppt/notesMasters/notesMaster1.xml" Id="R5da626ae151f413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d02b3df63994043" /><Relationship Type="http://schemas.openxmlformats.org/officeDocument/2006/relationships/notesMaster" Target="/ppt/notesMasters/notesMaster1.xml" Id="R621241781dc1426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https://github.com/LLMauthorbench/LLMauthorbench ; paper https://arxiv.org/abs/2506.17323 . The authors describe code generation from 300 parameterized C-programming templates, followed by deduplication and compilation filtering. We treat code as text. The five labels are gpt-4.1, deepseek-chat, claude-3.5-haiku, gemini-2.5-flash-preview-05-20 and llama-3.3-70b-instruct. AI assistance was used for code and writing. Research-use licence, dataset claim and member contributions still require group confirmation.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data/splits.csv, results/split_counts.csv and class_counts.csv. We filter the prior seed-42 split to five labels. Grouping originally normalized prompt parameters, used audited task aliases and merged similar descriptions. Provenance: Git commit 33b42098d3bfdeddd8d94c77326a22fb8847be0a, src/prepare_data.py. There are no official task IDs. Groups can overmerge and unrecognized paraphrases may overlap. Full dataset has eight labels; the selected subset has 20,000 complete, unique source programs. Case retained; sklearn character analysis collapses repeated whitespace.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assignment.py and https://scikit-learn.org/stable/modules/generated/sklearn.svm.LinearSVC.html . Explain aloud: each code sample becomes a vector x of TF-IDF weights. For a chosen author, multiply each feature by its learned weight, add the contributions, then add b. The superscript T means transpose and w-transpose-x is a dot product. k indexes authors; i indexes training programs. For each author y is +1 for that author and -1 for the other four. The training algorithm minimizes J over w and b. Norm squared means sum of squared weights; sigma means sum over training examples. Our defaults use L2 penalty, squared-hinge loss, one-vs-rest, fit_intercept=True and intercept_scaling=1, so b squared is part of the regularization term. C=1 controls the relative cost of margin violations. If signed score y*f is at least 1, loss is zero. At 0.6 loss is 0.16; at -0.5 loss is 2.25. These are invented teaching examples, not measured model outputs. Five class scores are compared by argmax; scores are not calibrated probabilities. NB alpha=1; LR C=1 max_iter=3000; RF 150 trees max_depth=40 min_samples_leaf=2 max_features=sqrt. Shared splits and feature matrix keep the comparison fair. The equation explains the mechanism, not proof of why SVM wins on this dataset.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results/metrics.csv and results/experiment_1_original/Linear SVM_test_confusion.csv. Matrix shows raw counts for 3,872 test programs. Labels abbreviated: Claude is claude-3.5-haiku, DeepSeek is deepseek-chat, Gemini is gemini-2.5-flash-preview-05-20, GPT-4.1 is gpt-4.1 and Llama is llama-3.3-70b-instruct. Rows are actual labels, columns predictions. SVM selected using validation Macro-F1 0.8062. Timings and compressed classifier sizes exclude shared TF-IDF. Single split, no significance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PLAN.md, results/feature_comparison.csv and results/feature_interpretation.md. Hypothesis: distributed character patterns partly explain the SVM advantage. One limit of 500 was chosen and committed before execution in 5cdab0d, with no sweep. Original code and comments retained. Validation SVM-LR gap falls from 1.48692356 to 1.38818655 percentage points: a change of only 0.09873701 points. All validation and test ranks remain SVM, LR, RF, NB. Test SVM F1 falls from 0.7970261 to 0.7169088. This exploratory single-split result is weak directional support, not a ranking reversal or a statistically established causal explanation. Restricting vocabulary also changes normalization and the forest sqrt candidate-feature count. The prior comment-removal prediction failed: validation gap widened from 1.49 to 3.03 points. Both outcomes are retained and reported.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616953fef947a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205db2ce04641a3" /><Relationship Type="http://schemas.openxmlformats.org/officeDocument/2006/relationships/slideLayout" Target="/ppt/slideLayouts/slideLayout1.xml" Id="R3a140da35ba548f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a140da35ba548f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876094aa8f4964" /><Relationship Type="http://schemas.openxmlformats.org/officeDocument/2006/relationships/notesSlide" Target="/ppt/notesSlides/notesSlide1.xml" Id="Rf1dcf56abd44447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bc533d61f34f9e" /><Relationship Type="http://schemas.openxmlformats.org/officeDocument/2006/relationships/notesSlide" Target="/ppt/notesSlides/notesSlide2.xml" Id="Rde4e6ba116d141e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e696d89400443b" /><Relationship Type="http://schemas.openxmlformats.org/officeDocument/2006/relationships/notesSlide" Target="/ppt/notesSlides/notesSlide3.xml" Id="R1b8b920332d643c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6c5ebf065147b0" /><Relationship Type="http://schemas.openxmlformats.org/officeDocument/2006/relationships/image" Target="/ppt/media/image.png" Id="Rce88165ae4f4441e" /><Relationship Type="http://schemas.openxmlformats.org/officeDocument/2006/relationships/notesSlide" Target="/ppt/notesSlides/notesSlide4.xml" Id="R57018a2986df4ba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e18c6d373a4afc" /><Relationship Type="http://schemas.openxmlformats.org/officeDocument/2006/relationships/image" Target="/ppt/media/image2.png" Id="R8a2680c66c9b4023" /><Relationship Type="http://schemas.openxmlformats.org/officeDocument/2006/relationships/notesSlide" Target="/ppt/notesSlides/notesSlide5.xml" Id="Rc7ddade92abd4c9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AC8825-FCAD-442E-8CBD-A18A46741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52E38"/>
                </a:solidFill>
                <a:latin typeface="Arial"/>
                <a:ea typeface="Arial"/>
                <a:cs typeface="Arial"/>
              </a:rPr>
              <a:t>LLM code authorship: five classes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FE5CA1-4B04-4F65-A91C-005CBBDB2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7C8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7C83"/>
                </a:solidFill>
                <a:latin typeface="Arial"/>
                <a:ea typeface="Arial"/>
                <a:cs typeface="Arial"/>
              </a:rPr>
              <a:t>Which LLM wrote this C program?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7AFCD3-D4B3-4324-95CB-B8C6C131B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43175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20,000 programs from LLM-AuthorBench</a:t>
            </a:r>
          </a:p>
          <a:p xmlns:a="http://schemas.openxmlformats.org/drawingml/2006/main">
            <a:pPr>
              <a:defRPr sz="24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Five classes with 4,000 programs 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8BCC15-88B6-48F7-9C33-F475B6AB0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38575"/>
            <a:ext cx="1076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Our topic: attributing LLM-generated code.</a:t>
            </a:r>
          </a:p>
          <a:p xmlns:a="http://schemas.openxmlformats.org/drawingml/2006/main">
            <a:pPr>
              <a:defRPr sz="225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We compare four standard classifiers using source text.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70F0D1-366C-488F-8971-A099B1888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14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17C8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C83"/>
                </a:solidFill>
                <a:latin typeface="Arial"/>
                <a:ea typeface="Arial"/>
                <a:cs typeface="Arial"/>
              </a:rPr>
              <a:t>https://github.com/S3eeDTR/LLM-AuthorBench-Assignment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E259FF-2AC6-4300-9E9F-2DA5870D6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9775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Source: github.com/LLMauthorbench/LLMauthorbench</a:t>
            </a:r>
          </a:p>
        </p:txBody>
      </p:sp>
    </p:spTree>
    <p:extLst>
      <p:ext uri="{BB962C8B-B14F-4D97-AF65-F5344CB8AC3E}">
        <p14:creationId xmlns:p14="http://schemas.microsoft.com/office/powerpoint/2010/main" val="134841180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7A55FA-24F1-4845-B6D5-F0BCB7B5C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52E38"/>
                </a:solidFill>
                <a:latin typeface="Arial"/>
                <a:ea typeface="Arial"/>
                <a:cs typeface="Arial"/>
              </a:rPr>
              <a:t>Data preparation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571500" y="1495425"/>
          <a:ext xmlns:a="http://schemas.openxmlformats.org/drawingml/2006/main" cx="5810250" cy="2714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1714500"/>
                <a:gridCol w="1619250"/>
              </a:tblGrid>
              <a:tr h="678656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Split</a:t>
                      </a:r>
                    </a:p>
                  </a:txBody>
                  <a:tcPr marL="91440" marR="91440" marT="45720" marB="45720">
                    <a:solidFill>
                      <a:srgbClr val="152E3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Programs</a:t>
                      </a:r>
                    </a:p>
                  </a:txBody>
                  <a:tcPr marL="91440" marR="91440" marT="45720" marB="45720">
                    <a:solidFill>
                      <a:srgbClr val="152E3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Task groups</a:t>
                      </a:r>
                    </a:p>
                  </a:txBody>
                  <a:tcPr marL="91440" marR="91440" marT="45720" marB="45720">
                    <a:solidFill>
                      <a:srgbClr val="152E38"/>
                    </a:solidFill>
                  </a:tcPr>
                </a:tc>
              </a:tr>
              <a:tr h="678656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950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Training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13,150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181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78656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950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Validation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2,978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38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78656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950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Test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3,872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40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C2D4EE-EC2E-46A5-9F02-CEAAAF6BF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571625"/>
            <a:ext cx="4857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TF-IDF: Term Frequency–</a:t>
            </a:r>
          </a:p>
          <a:p xmlns:a="http://schemas.openxmlformats.org/drawingml/2006/main">
            <a:pPr>
              <a:defRPr sz="195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Inverse Document Frequency</a:t>
            </a:r>
          </a:p>
          <a:p xmlns:a="http://schemas.openxmlformats.org/drawingml/2006/main">
            <a:pPr>
              <a:defRPr sz="195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50,000 patterns of 3–5 characters</a:t>
            </a:r>
          </a:p>
          <a:p xmlns:a="http://schemas.openxmlformats.org/drawingml/2006/main">
            <a:pPr>
              <a:defRPr sz="195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Fit using training code only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B6CCB9-0C49-439A-9A67-995E787FD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33750"/>
            <a:ext cx="47625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0 empty programs</a:t>
            </a:r>
          </a:p>
          <a:p xmlns:a="http://schemas.openxmlformats.org/drawingml/2006/main">
            <a:pPr>
              <a:defRPr sz="21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0 exact source duplicates</a:t>
            </a:r>
          </a:p>
          <a:p xmlns:a="http://schemas.openxmlformats.org/drawingml/2006/main">
            <a:pPr>
              <a:defRPr sz="21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Five labels in every split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2B9607-2BC0-4B85-BD87-6D799385D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62500"/>
            <a:ext cx="1095375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Saved groups keep related prompt variants together.</a:t>
            </a:r>
          </a:p>
          <a:p xmlns:a="http://schemas.openxmlformats.org/drawingml/2006/main">
            <a:pPr>
              <a:defRPr sz="21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No shared group, exact prompt or source hash across splits.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E58FAC-F286-45F4-9D30-438849A74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72175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0636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36B"/>
                </a:solidFill>
                <a:latin typeface="Arial"/>
                <a:ea typeface="Arial"/>
                <a:cs typeface="Arial"/>
              </a:rPr>
              <a:t>Groups are inferred. Some semantic overlap may remain.</a:t>
            </a:r>
          </a:p>
        </p:txBody>
      </p:sp>
    </p:spTree>
    <p:extLst>
      <p:ext uri="{BB962C8B-B14F-4D97-AF65-F5344CB8AC3E}">
        <p14:creationId xmlns:p14="http://schemas.microsoft.com/office/powerpoint/2010/main" val="106847116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17C12A-F730-4039-A653-063E2DEFA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52E38"/>
                </a:solidFill>
                <a:latin typeface="Arial"/>
                <a:ea typeface="Arial"/>
                <a:cs typeface="Arial"/>
              </a:rPr>
              <a:t>Experiment 1: how Linear SVM learns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FA743D-D208-4BFC-8DA7-AABE2039C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Naive Bayes: baseline    Logistic Regression: linear probability model</a:t>
            </a:r>
          </a:p>
          <a:p xmlns:a="http://schemas.openxmlformats.org/drawingml/2006/main">
            <a:pPr>
              <a:defRPr sz="1875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Support Vector Machine: linear margin model    Random Forest: trees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7D5340-7788-4C25-900F-48724F236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76475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7C8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7C83"/>
                </a:solidFill>
                <a:latin typeface="Arial"/>
                <a:ea typeface="Arial"/>
                <a:cs typeface="Arial"/>
              </a:rPr>
              <a:t>Score for class k:  fₖ(x) = wₖᵀx + bₖ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A868F0-E7E7-4F56-B678-A58B6AEE3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00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Train five one-vs-rest classifiers. Predict the class with the largest score.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225C70-D991-4FD5-B08C-7B4877B9B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11144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17C8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7C83"/>
                </a:solidFill>
                <a:latin typeface="Arial"/>
                <a:ea typeface="Arial"/>
                <a:cs typeface="Arial"/>
              </a:rPr>
              <a:t>Minimize J = ½(‖w‖² + b²) + C Σᵢ max(0, 1 − yᵢ f(xᵢ))²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C5E97D-4462-4C14-97F0-6286B3770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719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x: TF-IDF weights     w: learned feature weights     b: learned offset</a:t>
            </a:r>
          </a:p>
          <a:p xmlns:a="http://schemas.openxmlformats.org/drawingml/2006/main">
            <a:pPr>
              <a:defRPr sz="195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yᵢ: +1 for this author, −1 for the others     C = 1 in our code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C44DE1-7080-48E1-A0C1-126E6238B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First term limits weight size. The sum penalizes margin violations.</a:t>
            </a:r>
          </a:p>
          <a:p xmlns:a="http://schemas.openxmlformats.org/drawingml/2006/main">
            <a:pPr>
              <a:defRPr sz="21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Toy example: yᵢ f(xᵢ) = 0.6 gives loss (1 − 0.6)² = 0.16.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74E735-E345-4757-8812-71B3AA03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76975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0636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0636B"/>
                </a:solidFill>
                <a:latin typeface="Arial"/>
                <a:ea typeface="Arial"/>
                <a:cs typeface="Arial"/>
              </a:rPr>
              <a:t>LinearSVC uses squared-hinge loss and regularizes the intercept (scale = 1).</a:t>
            </a:r>
          </a:p>
        </p:txBody>
      </p:sp>
    </p:spTree>
    <p:extLst>
      <p:ext uri="{BB962C8B-B14F-4D97-AF65-F5344CB8AC3E}">
        <p14:creationId xmlns:p14="http://schemas.microsoft.com/office/powerpoint/2010/main" val="17475604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23F091-2413-4DF6-941E-8108DFCA8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52E38"/>
                </a:solidFill>
                <a:latin typeface="Arial"/>
                <a:ea typeface="Arial"/>
                <a:cs typeface="Arial"/>
              </a:rPr>
              <a:t>Results and SVM classification errors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476250" y="1657350"/>
          <a:ext xmlns:a="http://schemas.openxmlformats.org/drawingml/2006/main" cx="6762750" cy="2905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1143000"/>
                <a:gridCol w="1238250"/>
                <a:gridCol w="952500"/>
                <a:gridCol w="952500"/>
              </a:tblGrid>
              <a:tr h="581025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91440" marR="91440" marT="45720" marB="45720">
                    <a:solidFill>
                      <a:srgbClr val="152E3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Accuracy</a:t>
                      </a:r>
                    </a:p>
                  </a:txBody>
                  <a:tcPr marL="91440" marR="91440" marT="45720" marB="45720">
                    <a:solidFill>
                      <a:srgbClr val="152E3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Macro-F1</a:t>
                      </a:r>
                    </a:p>
                  </a:txBody>
                  <a:tcPr marL="91440" marR="91440" marT="45720" marB="45720">
                    <a:solidFill>
                      <a:srgbClr val="152E3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Fit (s)</a:t>
                      </a:r>
                    </a:p>
                  </a:txBody>
                  <a:tcPr marL="91440" marR="91440" marT="45720" marB="45720">
                    <a:solidFill>
                      <a:srgbClr val="152E3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MB</a:t>
                      </a:r>
                    </a:p>
                  </a:txBody>
                  <a:tcPr marL="91440" marR="91440" marT="45720" marB="45720">
                    <a:solidFill>
                      <a:srgbClr val="152E38"/>
                    </a:solidFill>
                  </a:tcPr>
                </a:tc>
              </a:tr>
              <a:tr h="581025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Naive Bayes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62.68%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0.6278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0.12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2.898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Logistic Regression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76.89%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0.7704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15.17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0.863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725" b="1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Linear SVM</a:t>
                      </a:r>
                    </a:p>
                  </a:txBody>
                  <a:tcPr marL="91440" marR="91440" marT="45720" marB="45720">
                    <a:solidFill>
                      <a:srgbClr val="E0F0ED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79.75%</a:t>
                      </a:r>
                    </a:p>
                  </a:txBody>
                  <a:tcPr marL="91440" marR="91440" marT="45720" marB="45720">
                    <a:solidFill>
                      <a:srgbClr val="E0F0ED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0.7970</a:t>
                      </a:r>
                    </a:p>
                  </a:txBody>
                  <a:tcPr marL="91440" marR="91440" marT="45720" marB="45720">
                    <a:solidFill>
                      <a:srgbClr val="E0F0ED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5.36</a:t>
                      </a:r>
                    </a:p>
                  </a:txBody>
                  <a:tcPr marL="91440" marR="91440" marT="45720" marB="45720">
                    <a:solidFill>
                      <a:srgbClr val="E0F0ED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1.767</a:t>
                      </a:r>
                    </a:p>
                  </a:txBody>
                  <a:tcPr marL="91440" marR="91440" marT="45720" marB="45720">
                    <a:solidFill>
                      <a:srgbClr val="E0F0ED"/>
                    </a:solidFill>
                  </a:tcPr>
                </a:tc>
              </a:tr>
              <a:tr h="581025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Random Forest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69.01%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0.6796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20.11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9.935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88165ae4f4441e"/>
          <a:stretch xmlns:a="http://schemas.openxmlformats.org/drawingml/2006/main"/>
        </p:blipFill>
        <p:spPr>
          <a:xfrm xmlns:a="http://schemas.openxmlformats.org/drawingml/2006/main">
            <a:off x="7410450" y="1333500"/>
            <a:ext cx="4667250" cy="46672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F132B3-303F-4730-88FF-4FDC1A85A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05375"/>
            <a:ext cx="666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17C8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7C83"/>
                </a:solidFill>
                <a:latin typeface="Arial"/>
                <a:ea typeface="Arial"/>
                <a:cs typeface="Arial"/>
              </a:rPr>
              <a:t>F1 = 2PR / (P + R)</a:t>
            </a:r>
          </a:p>
          <a:p xmlns:a="http://schemas.openxmlformats.org/drawingml/2006/main">
            <a:pPr>
              <a:defRPr sz="2100" b="1">
                <a:solidFill>
                  <a:srgbClr val="117C8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7C83"/>
                </a:solidFill>
                <a:latin typeface="Arial"/>
                <a:ea typeface="Arial"/>
                <a:cs typeface="Arial"/>
              </a:rPr>
              <a:t>Macro-F1 = (F1₁ + … + F1₅) / 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A5EECD-86FA-4FA2-AB09-E2ACF58D1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66675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P: precision    R: recall</a:t>
            </a:r>
          </a:p>
          <a:p xmlns:a="http://schemas.openxmlformats.org/drawingml/2006/main">
            <a:pPr>
              <a:defRPr sz="165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SVM validation Macro-F1: 0.8062 (selection)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BB11DB-4A99-41AD-BF02-E3B05F121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86525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0636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36B"/>
                </a:solidFill>
                <a:latin typeface="Arial"/>
                <a:ea typeface="Arial"/>
                <a:cs typeface="Arial"/>
              </a:rPr>
              <a:t>Test: 3,872 programs. Fit time and model size exclude TF-IDF.</a:t>
            </a:r>
          </a:p>
        </p:txBody>
      </p:sp>
    </p:spTree>
    <p:extLst>
      <p:ext uri="{BB962C8B-B14F-4D97-AF65-F5344CB8AC3E}">
        <p14:creationId xmlns:p14="http://schemas.microsoft.com/office/powerpoint/2010/main" val="86906599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F5A025-5950-4BD6-8F99-FD58F497E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52E38"/>
                </a:solidFill>
                <a:latin typeface="Arial"/>
                <a:ea typeface="Arial"/>
                <a:cs typeface="Arial"/>
              </a:rPr>
              <a:t>Ablation: restrict the code-pattern vocabulary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2680c66c9b4023"/>
          <a:stretch xmlns:a="http://schemas.openxmlformats.org/drawingml/2006/main"/>
        </p:blipFill>
        <p:spPr>
          <a:xfrm xmlns:a="http://schemas.openxmlformats.org/drawingml/2006/main">
            <a:off x="633132" y="1333500"/>
            <a:ext cx="10925735" cy="309562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944FEB-AD25-4227-87DE-55188A5EB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24375"/>
            <a:ext cx="110490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Prediction: fewer patterns would narrow SVM’s lead over LR.</a:t>
            </a:r>
          </a:p>
          <a:p xmlns:a="http://schemas.openxmlformats.org/drawingml/2006/main">
            <a:pPr>
              <a:defRPr sz="21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Observed: 1.49 to 1.39 percentage points. Rankings did not change.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BF3C80-E355-4397-8B16-C55BE55FA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721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7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7C83"/>
                </a:solidFill>
                <a:latin typeface="Arial"/>
                <a:ea typeface="Arial"/>
                <a:cs typeface="Arial"/>
              </a:rPr>
              <a:t>Weak support for the gap prediction, not a full explanation.</a:t>
            </a:r>
          </a:p>
          <a:p xmlns:a="http://schemas.openxmlformats.org/drawingml/2006/main">
            <a:pPr>
              <a:defRPr sz="2025" b="1">
                <a:solidFill>
                  <a:srgbClr val="117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7C83"/>
                </a:solidFill>
                <a:latin typeface="Arial"/>
                <a:ea typeface="Arial"/>
                <a:cs typeface="Arial"/>
              </a:rPr>
              <a:t>Removing comments also hurt all models without changing ranks.</a:t>
            </a:r>
          </a:p>
        </p:txBody>
      </p:sp>
    </p:spTree>
    <p:extLst>
      <p:ext uri="{BB962C8B-B14F-4D97-AF65-F5344CB8AC3E}">
        <p14:creationId xmlns:p14="http://schemas.microsoft.com/office/powerpoint/2010/main" val="95058176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2026-09-30T03:48:32.6450000Z</dcterms:created>
  <dcterms:modified xsi:type="dcterms:W3CDTF">2026-09-30T03:48:32.6450000Z</dcterms:modified>
</coreProperties>
</file>