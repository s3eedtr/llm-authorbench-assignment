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9840f3b7e3435f" /><Relationship Type="http://schemas.openxmlformats.org/officeDocument/2006/relationships/extended-properties" Target="/docProps/app.xml" Id="R2051de8aca8a4454" /><Relationship Type="http://schemas.openxmlformats.org/officeDocument/2006/relationships/officeDocument" Target="/ppt/presentation.xml" Id="R10ca82a2fdd44b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8a56acc3df4430"/>
  </p:sldMasterIdLst>
  <p:notesMasterIdLst>
    <p:notesMasterId xmlns:r="http://schemas.openxmlformats.org/officeDocument/2006/relationships" r:id="R5d78586f7c4549e6"/>
  </p:notesMasterIdLst>
  <p:sldIdLst>
    <p:sldId xmlns:r="http://schemas.openxmlformats.org/officeDocument/2006/relationships" id="256" r:id="R28d829945efb4f9c"/>
    <p:sldId xmlns:r="http://schemas.openxmlformats.org/officeDocument/2006/relationships" id="257" r:id="R33ed2ee9fe7b41e5"/>
    <p:sldId xmlns:r="http://schemas.openxmlformats.org/officeDocument/2006/relationships" id="258" r:id="R1122b233210c4238"/>
    <p:sldId xmlns:r="http://schemas.openxmlformats.org/officeDocument/2006/relationships" id="259" r:id="Rf2d6543178524467"/>
    <p:sldId xmlns:r="http://schemas.openxmlformats.org/officeDocument/2006/relationships" id="260" r:id="Rc006f61dcced4b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0dad2a85fe4f7f" /><Relationship Type="http://schemas.openxmlformats.org/officeDocument/2006/relationships/slideMaster" Target="/ppt/slideMasters/slideMaster1.xml" Id="R308a56acc3df4430" /><Relationship Type="http://schemas.openxmlformats.org/officeDocument/2006/relationships/notesMaster" Target="/ppt/notesMasters/notesMaster1.xml" Id="R5d78586f7c4549e6" /><Relationship Type="http://schemas.openxmlformats.org/officeDocument/2006/relationships/presProps" Target="/ppt/presProps.xml" Id="Re372c4d29477443e" /><Relationship Type="http://schemas.openxmlformats.org/officeDocument/2006/relationships/tableStyles" Target="/ppt/tableStyles.xml" Id="R09c7704f19824a21" /><Relationship Type="http://schemas.openxmlformats.org/officeDocument/2006/relationships/slide" Target="/ppt/slides/slide1.xml" Id="R28d829945efb4f9c" /><Relationship Type="http://schemas.openxmlformats.org/officeDocument/2006/relationships/slide" Target="/ppt/slides/slide2.xml" Id="R33ed2ee9fe7b41e5" /><Relationship Type="http://schemas.openxmlformats.org/officeDocument/2006/relationships/slide" Target="/ppt/slides/slide3.xml" Id="R1122b233210c4238" /><Relationship Type="http://schemas.openxmlformats.org/officeDocument/2006/relationships/slide" Target="/ppt/slides/slide4.xml" Id="Rf2d6543178524467" /><Relationship Type="http://schemas.openxmlformats.org/officeDocument/2006/relationships/slide" Target="/ppt/slides/slide5.xml" Id="Rc006f61dcced4b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595938a2974e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f0946ba2aa43dc" /><Relationship Type="http://schemas.openxmlformats.org/officeDocument/2006/relationships/notesMaster" Target="/ppt/notesMasters/notesMaster1.xml" Id="Rc3d80f8d499b40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e4ab08d26f4d19" /><Relationship Type="http://schemas.openxmlformats.org/officeDocument/2006/relationships/notesMaster" Target="/ppt/notesMasters/notesMaster1.xml" Id="Ra6c8e9dceaec44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5b977aef9f4b84" /><Relationship Type="http://schemas.openxmlformats.org/officeDocument/2006/relationships/notesMaster" Target="/ppt/notesMasters/notesMaster1.xml" Id="Reb418375b22049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87d61ed1354eea" /><Relationship Type="http://schemas.openxmlformats.org/officeDocument/2006/relationships/notesMaster" Target="/ppt/notesMasters/notesMaster1.xml" Id="R71a40ee46b604a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9d1e7207443ea" /><Relationship Type="http://schemas.openxmlformats.org/officeDocument/2006/relationships/notesMaster" Target="/ppt/notesMasters/notesMaster1.xml" Id="R0323c03f9a8543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https://github.com/LLMauthorbench/LLMauthorbench ; paper https://arxiv.org/abs/2506.17323 . The authors describe code generation from 300 parameterized C-programming templates, followed by deduplication and compilation filtering. We treat code as text. The five labels are gpt-4.1, deepseek-chat, claude-3.5-haiku, gemini-2.5-flash-preview-05-20 and llama-3.3-70b-instruct. AI assistance was used for code and writing. Research-use licence, dataset claim and member contributions still require group confirmation.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data/splits.csv, results/split_counts.csv and class_counts.csv. We filter the prior seed-42 split to five labels. Grouping originally normalized prompt parameters, used audited task aliases and merged similar descriptions. Provenance: Git commit 33b42098d3bfdeddd8d94c77326a22fb8847be0a, src/prepare_data.py. There are no official task IDs. Groups can overmerge and unrecognized paraphrases may overlap. Full dataset has eight labels; the selected subset has 20,000 complete, unique source programs. Case retained; sklearn character analysis collapses repeated whitespace.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assignment.py and https://scikit-learn.org/stable/modules/generated/sklearn.svm.LinearSVC.html . Explain aloud: each code sample becomes a vector x of TF-IDF weights. For a chosen author, multiply each feature by its learned weight, add the contributions, then add b. The superscript T means transpose and w-transpose-x is a dot product. k indexes authors; i indexes training programs. For each author y is +1 for that author and -1 for the other four. The training algorithm minimizes J over w and b. Norm squared means sum of squared weights; sigma means sum over training examples. Our defaults use L2 penalty, squared-hinge loss, one-vs-rest, fit_intercept=True and intercept_scaling=1, so b squared is part of the regularization term. C=1 controls the relative cost of margin violations. If signed score y*f is at least 1, loss is zero. At 0.6 loss is 0.16; at -0.5 loss is 2.25. These are invented teaching examples, not measured model outputs. Five class scores are compared by argmax; scores are not calibrated probabilities. NB alpha=1; LR C=1 max_iter=3000; RF 150 trees max_depth=40 min_samples_leaf=2 max_features=sqrt. Shared splits and feature matrix keep the comparison fair. The equation explains the mechanism, not proof of why SVM wins on this dataset.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results/metrics.csv and results/experiment_1_original/Linear SVM_test_confusion.csv. Matrix shows raw counts for 3,872 test programs. Labels abbreviated: Claude is claude-3.5-haiku, DeepSeek is deepseek-chat, Gemini is gemini-2.5-flash-preview-05-20, GPT-4.1 is gpt-4.1 and Llama is llama-3.3-70b-instruct. Rows are actual labels, columns predictions. SVM selected using validation Macro-F1 0.8062. Timings and compressed classifier sizes exclude shared TF-IDF. Single split, no significance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PLAN.md, results/feature_comparison.csv and results/feature_interpretation.md. Hypothesis: distributed character patterns partly explain the SVM advantage. One limit of 500 was chosen and committed before execution in 5cdab0d, with no sweep. Original code and comments retained. Validation SVM-LR gap falls from 1.48692356 to 1.38818655 percentage points: a change of only 0.09873701 points. All validation and test ranks remain SVM, LR, RF, NB. Test SVM F1 falls from 0.7970261 to 0.7169088. This exploratory single-split result is weak directional support, not a ranking reversal or a statistically established causal explanation. Restricting vocabulary also changes normalization and the forest sqrt candidate-feature count. The prior comment-removal prediction failed: validation gap widened from 1.49 to 3.03 points. Both outcomes are retained and reported.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d41061cc3f4a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f42f29f2a4440c" /><Relationship Type="http://schemas.openxmlformats.org/officeDocument/2006/relationships/slideLayout" Target="/ppt/slideLayouts/slideLayout1.xml" Id="R569feaa1e24c4c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9feaa1e24c4c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b8588bb5140fc" /><Relationship Type="http://schemas.openxmlformats.org/officeDocument/2006/relationships/notesSlide" Target="/ppt/notesSlides/notesSlide1.xml" Id="R9072f0bd03264a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7806793c542bc" /><Relationship Type="http://schemas.openxmlformats.org/officeDocument/2006/relationships/notesSlide" Target="/ppt/notesSlides/notesSlide2.xml" Id="R7e3cab7cb36a4b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8cb6f3ca04c76" /><Relationship Type="http://schemas.openxmlformats.org/officeDocument/2006/relationships/image" Target="/ppt/media/image.png" Id="Rec3f6a9e90a94006" /><Relationship Type="http://schemas.openxmlformats.org/officeDocument/2006/relationships/image" Target="/ppt/media/image2.png" Id="Rccfd2ec01c65474b" /><Relationship Type="http://schemas.openxmlformats.org/officeDocument/2006/relationships/notesSlide" Target="/ppt/notesSlides/notesSlide3.xml" Id="Re7ec4f52c7be44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87c6e389b465b" /><Relationship Type="http://schemas.openxmlformats.org/officeDocument/2006/relationships/image" Target="/ppt/media/image3.png" Id="R40bae9e9ef0e4636" /><Relationship Type="http://schemas.openxmlformats.org/officeDocument/2006/relationships/image" Target="/ppt/media/image4.png" Id="R0c30f0713d8c4127" /><Relationship Type="http://schemas.openxmlformats.org/officeDocument/2006/relationships/notesSlide" Target="/ppt/notesSlides/notesSlide4.xml" Id="R24062f0ddac74e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1ba8bb1ad4fe2" /><Relationship Type="http://schemas.openxmlformats.org/officeDocument/2006/relationships/image" Target="/ppt/media/image5.png" Id="R8434c4425bba440c" /><Relationship Type="http://schemas.openxmlformats.org/officeDocument/2006/relationships/notesSlide" Target="/ppt/notesSlides/notesSlide5.xml" Id="R9091d85de0f541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E3D35C-FB37-4EB8-B467-85C50329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LLM code authorship: five classes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C002E-7B12-46A7-A235-2A04372A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Which LLM wrote this C program?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34C1B-D253-49F0-8995-6509CC9D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20,000 programs from LLM-AuthorBench</a:t>
            </a:r>
          </a:p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classes with 4,000 programs 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F9FBF-B5CE-4B47-ABE5-BE0B6BE8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Our topic: attributing LLM-generated code.</a:t>
            </a:r>
          </a:p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We compare four standard classifiers using source 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8D6E4-6F63-4725-A8C1-017A1C0F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14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C83"/>
                </a:solidFill>
                <a:latin typeface="Arial"/>
                <a:ea typeface="Arial"/>
                <a:cs typeface="Arial"/>
              </a:rPr>
              <a:t>https://github.com/S3eeDTR/LLM-AuthorBench-Assignment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1FE6-4CC8-42F3-AD28-82BA2500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Source: github.com/LLMauthorbench/LLMauthorbench</a:t>
            </a:r>
          </a:p>
        </p:txBody>
      </p:sp>
    </p:spTree>
    <p:extLst>
      <p:ext uri="{BB962C8B-B14F-4D97-AF65-F5344CB8AC3E}">
        <p14:creationId xmlns:p14="http://schemas.microsoft.com/office/powerpoint/2010/main" val="405089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ABF14-80BA-4C5B-943C-212B1962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Data preparation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81025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714500"/>
                <a:gridCol w="1619250"/>
              </a:tblGrid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Task groups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13,150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2,978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3,872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05D51-B2AD-43DD-801B-9550482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4857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TF-IDF: Term Frequency–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Inverse Document Frequency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50,000 patterns of 3–5 characters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Fit using training code only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C5223-7AF8-48CD-B443-F3ED0920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4762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empty programs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exact source duplicates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labels in every split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33893-C05A-4A8D-B6B9-411D8900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0953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Saved groups keep related prompt variants together.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No shared group, exact prompt or source hash across splits.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E1ACB-0975-456B-A215-AD2CE4B0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7217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Groups are inferred. Some semantic overlap may remain.</a:t>
            </a:r>
          </a:p>
        </p:txBody>
      </p:sp>
    </p:spTree>
    <p:extLst>
      <p:ext uri="{BB962C8B-B14F-4D97-AF65-F5344CB8AC3E}">
        <p14:creationId xmlns:p14="http://schemas.microsoft.com/office/powerpoint/2010/main" val="5615668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1A5B7-C093-4FD2-8077-50F929BC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Experiment 1: how Linear SVM learns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9AD58-9D7A-4B43-8FCF-3448563F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Naive Bayes: baseline    Logistic Regression: linear probability model</a:t>
            </a:r>
          </a:p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Support Vector Machine: linear margin model    Random Forest: trees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f6a9e90a94006"/>
          <a:stretch xmlns:a="http://schemas.openxmlformats.org/drawingml/2006/main"/>
        </p:blipFill>
        <p:spPr>
          <a:xfrm xmlns:a="http://schemas.openxmlformats.org/drawingml/2006/main">
            <a:off x="2941926" y="2019300"/>
            <a:ext cx="6308148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BBA9F-7FF2-4D0E-B9DF-B2CEE192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Train five one-vs-rest classifiers. Predict the class with the largest score.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d2ec01c65474b"/>
          <a:stretch xmlns:a="http://schemas.openxmlformats.org/drawingml/2006/main"/>
        </p:blipFill>
        <p:spPr>
          <a:xfrm xmlns:a="http://schemas.openxmlformats.org/drawingml/2006/main">
            <a:off x="1865344" y="3200400"/>
            <a:ext cx="8461312" cy="1047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2703A-9361-48DF-A31A-EB9184DB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x: TF-IDF weights     w: learned feature weights     b: learned offset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yᵢ: +1 for this author, −1 for the others     C = 1 in our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80A16-2263-4D1A-A8C9-1B554DCC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First term limits weight size. The sum penalizes margin violations.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Toy example: yᵢ f(xᵢ) = 0.6 gives loss (1 − 0.6)² = 0.16.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A0977-79FA-428C-A8DD-09357B65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7697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LinearSVC uses squared-hinge loss and regularizes the intercept (scale = 1).</a:t>
            </a:r>
          </a:p>
        </p:txBody>
      </p:sp>
    </p:spTree>
    <p:extLst>
      <p:ext uri="{BB962C8B-B14F-4D97-AF65-F5344CB8AC3E}">
        <p14:creationId xmlns:p14="http://schemas.microsoft.com/office/powerpoint/2010/main" val="7950019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6CBAA-43C8-4C9F-BD8F-90A7F0D8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Results and SVM classification errors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76250" y="1657350"/>
          <a:ext xmlns:a="http://schemas.openxmlformats.org/drawingml/2006/main" cx="67627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143000"/>
                <a:gridCol w="1238250"/>
                <a:gridCol w="952500"/>
                <a:gridCol w="952500"/>
              </a:tblGrid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Fit (s)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MB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Naive Bayes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62.68%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0.6278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2.898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76.89%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0.7704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15.17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0.863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Linear SVM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79.75%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0.7970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5.36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1.767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Random Forest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69.01%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0.6796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20.11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9.935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ae9e9ef0e4636"/>
          <a:stretch xmlns:a="http://schemas.openxmlformats.org/drawingml/2006/main"/>
        </p:blipFill>
        <p:spPr>
          <a:xfrm xmlns:a="http://schemas.openxmlformats.org/drawingml/2006/main">
            <a:off x="7410450" y="1333500"/>
            <a:ext cx="4667250" cy="466725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0f0713d8c4127"/>
          <a:stretch xmlns:a="http://schemas.openxmlformats.org/drawingml/2006/main"/>
        </p:blipFill>
        <p:spPr>
          <a:xfrm xmlns:a="http://schemas.openxmlformats.org/drawingml/2006/main">
            <a:off x="795451" y="4762500"/>
            <a:ext cx="6124348" cy="1047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17228-A482-4895-94EC-321CB2A6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P: precision    R: recall</a:t>
            </a:r>
          </a:p>
          <a:p xmlns:a="http://schemas.openxmlformats.org/drawingml/2006/main">
            <a:pPr>
              <a:defRPr sz="16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SVM validation Macro-F1: 0.8062 (selection)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ECBD16-42C6-4210-92F8-76E51FA6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Test: 3,872 programs. Fit time and model size exclude TF-IDF.</a:t>
            </a:r>
          </a:p>
        </p:txBody>
      </p:sp>
    </p:spTree>
    <p:extLst>
      <p:ext uri="{BB962C8B-B14F-4D97-AF65-F5344CB8AC3E}">
        <p14:creationId xmlns:p14="http://schemas.microsoft.com/office/powerpoint/2010/main" val="16148712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51A48-5F25-4527-9938-59A66620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Ablation: restrict the code-pattern vocabulary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4c4425bba440c"/>
          <a:stretch xmlns:a="http://schemas.openxmlformats.org/drawingml/2006/main"/>
        </p:blipFill>
        <p:spPr>
          <a:xfrm xmlns:a="http://schemas.openxmlformats.org/drawingml/2006/main">
            <a:off x="633132" y="1333500"/>
            <a:ext cx="10925735" cy="3095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8FCFD-9387-49EA-846C-CFE76EB0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Prediction: fewer patterns would narrow SVM’s lead over LR.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Observed: 1.49 to 1.39 percentage points. Rankings did not change.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8622C-6CA1-46D2-9A13-BEE3BEB3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Weak support for the gap prediction, not a full explanation.</a:t>
            </a:r>
          </a:p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Removing comments also hurt all models without changing ranks.</a:t>
            </a:r>
          </a:p>
        </p:txBody>
      </p:sp>
    </p:spTree>
    <p:extLst>
      <p:ext uri="{BB962C8B-B14F-4D97-AF65-F5344CB8AC3E}">
        <p14:creationId xmlns:p14="http://schemas.microsoft.com/office/powerpoint/2010/main" val="147755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2026-09-30T03:52:32.3950000Z</dcterms:created>
  <dcterms:modified xsi:type="dcterms:W3CDTF">2026-09-30T03:52:32.3950000Z</dcterms:modified>
</coreProperties>
</file>