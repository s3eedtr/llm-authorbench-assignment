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008d97618044f2" /><Relationship Type="http://schemas.openxmlformats.org/officeDocument/2006/relationships/extended-properties" Target="/docProps/app.xml" Id="R8097338eaa844714" /><Relationship Type="http://schemas.openxmlformats.org/officeDocument/2006/relationships/officeDocument" Target="/ppt/presentation.xml" Id="R00e08e84898c4a9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3a29f5e7f25410c"/>
  </p:sldMasterIdLst>
  <p:notesMasterIdLst>
    <p:notesMasterId xmlns:r="http://schemas.openxmlformats.org/officeDocument/2006/relationships" r:id="R73d731f2d13c4f17"/>
  </p:notesMasterIdLst>
  <p:sldIdLst>
    <p:sldId xmlns:r="http://schemas.openxmlformats.org/officeDocument/2006/relationships" id="256" r:id="R783fb77b17f94040"/>
    <p:sldId xmlns:r="http://schemas.openxmlformats.org/officeDocument/2006/relationships" id="257" r:id="R9e3de1344307478d"/>
    <p:sldId xmlns:r="http://schemas.openxmlformats.org/officeDocument/2006/relationships" id="258" r:id="R5f46e31709024883"/>
    <p:sldId xmlns:r="http://schemas.openxmlformats.org/officeDocument/2006/relationships" id="259" r:id="Rcf1d0d5c8d504f5f"/>
    <p:sldId xmlns:r="http://schemas.openxmlformats.org/officeDocument/2006/relationships" id="260" r:id="R645a7e4cb6394c4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ba7229adee41f1" /><Relationship Type="http://schemas.openxmlformats.org/officeDocument/2006/relationships/slideMaster" Target="/ppt/slideMasters/slideMaster1.xml" Id="R63a29f5e7f25410c" /><Relationship Type="http://schemas.openxmlformats.org/officeDocument/2006/relationships/notesMaster" Target="/ppt/notesMasters/notesMaster1.xml" Id="R73d731f2d13c4f17" /><Relationship Type="http://schemas.openxmlformats.org/officeDocument/2006/relationships/presProps" Target="/ppt/presProps.xml" Id="R667065f0c3af4462" /><Relationship Type="http://schemas.openxmlformats.org/officeDocument/2006/relationships/tableStyles" Target="/ppt/tableStyles.xml" Id="R95b35444a5e1438a" /><Relationship Type="http://schemas.openxmlformats.org/officeDocument/2006/relationships/slide" Target="/ppt/slides/slide1.xml" Id="R783fb77b17f94040" /><Relationship Type="http://schemas.openxmlformats.org/officeDocument/2006/relationships/slide" Target="/ppt/slides/slide2.xml" Id="R9e3de1344307478d" /><Relationship Type="http://schemas.openxmlformats.org/officeDocument/2006/relationships/slide" Target="/ppt/slides/slide3.xml" Id="R5f46e31709024883" /><Relationship Type="http://schemas.openxmlformats.org/officeDocument/2006/relationships/slide" Target="/ppt/slides/slide4.xml" Id="Rcf1d0d5c8d504f5f" /><Relationship Type="http://schemas.openxmlformats.org/officeDocument/2006/relationships/slide" Target="/ppt/slides/slide5.xml" Id="R645a7e4cb6394c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395fc38cabd4e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7e1b6b205d04d36" /><Relationship Type="http://schemas.openxmlformats.org/officeDocument/2006/relationships/notesMaster" Target="/ppt/notesMasters/notesMaster1.xml" Id="R578b30904ccc40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a61538050eb4036" /><Relationship Type="http://schemas.openxmlformats.org/officeDocument/2006/relationships/notesMaster" Target="/ppt/notesMasters/notesMaster1.xml" Id="R68765f30795148b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4038e15726142e7" /><Relationship Type="http://schemas.openxmlformats.org/officeDocument/2006/relationships/notesMaster" Target="/ppt/notesMasters/notesMaster1.xml" Id="R8027970a83e54dc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6b5b571635b49de" /><Relationship Type="http://schemas.openxmlformats.org/officeDocument/2006/relationships/notesMaster" Target="/ppt/notesMasters/notesMaster1.xml" Id="Rfe2e62cf5a5e4ac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3a58fedaa647f6" /><Relationship Type="http://schemas.openxmlformats.org/officeDocument/2006/relationships/notesMaster" Target="/ppt/notesMasters/notesMaster1.xml" Id="R7952cfbfbd48470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https://github.com/LLMauthorbench/LLMauthorbench ; paper https://arxiv.org/abs/2506.17323 . The authors describe code generation from 300 parameterized C-programming templates, followed by deduplication and compilation filtering. We treat code as text. The five labels are gpt-4.1, deepseek-chat, claude-3.5-haiku, gemini-2.5-flash-preview-05-20 and llama-3.3-70b-instruct. AI assistance was used for code and writing. Research-use licence, dataset claim and member contributions still require group confirmation.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data/splits.csv, results/split_counts.csv and class_counts.csv. We filter the prior seed-42 split to five labels. Grouping originally normalized prompt parameters, used audited task aliases and merged similar descriptions. Provenance: Git commit 33b42098d3bfdeddd8d94c77326a22fb8847be0a, src/prepare_data.py. There are no official task IDs. Groups can overmerge and unrecognized paraphrases may overlap. Full dataset has eight labels; the selected subset has 20,000 complete, unique source programs. Case retained; sklearn character analysis collapses repeated whitespace.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assignment.py. Same TF-IDF matrices for all four models. Macro-F1 gives each class equal importance. NB alpha=1. LR C=1, lbfgs, max_iter=3000. SVM C=1, dual=auto, max_iter=10000. RF 150 trees, max_depth=40, min_samples_leaf=2, max_features=sqrt, n_jobs=4. No hyperparameter search. Uniform-chance expected accuracy is 20%. Code uses numpy, pandas, scikit-learn and joblib.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results/metrics.csv and results/experiment_1_original/Linear SVM_test_confusion.csv. Matrix shows raw counts for 3,872 test programs. Labels abbreviated: Claude is claude-3.5-haiku, DeepSeek is deepseek-chat, Gemini is gemini-2.5-flash-preview-05-20, GPT-4.1 is gpt-4.1 and Llama is llama-3.3-70b-instruct. Rows are actual labels, columns predictions. SVM selected using validation Macro-F1 0.8062. Timings and compressed classifier sizes exclude shared TF-IDF. Single split, no significance claim.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PLAN.md, results/feature_comparison.csv and results/feature_interpretation.md. Hypothesis: distributed character patterns partly explain the SVM advantage. One limit of 500 was chosen and committed before execution in 5cdab0d, with no sweep. Original code and comments retained. Validation SVM-LR gap falls from 1.48692356 to 1.38818655 percentage points: a change of only 0.09873701 points. All validation and test ranks remain SVM, LR, RF, NB. Test SVM F1 falls from 0.7970261 to 0.7169088. This exploratory single-split result is weak directional support, not a ranking reversal or a statistically established causal explanation. Restricting vocabulary also changes normalization and the forest sqrt candidate-feature count. The prior comment-removal prediction failed: validation gap widened from 1.49 to 3.03 points. Both outcomes are retained and reported.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9ec705ef454cd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d6cd3dcdf8e4e20" /><Relationship Type="http://schemas.openxmlformats.org/officeDocument/2006/relationships/slideLayout" Target="/ppt/slideLayouts/slideLayout1.xml" Id="Rcbf0d320b4a44ce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f0d320b4a44ce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f9d1641baa4be9" /><Relationship Type="http://schemas.openxmlformats.org/officeDocument/2006/relationships/notesSlide" Target="/ppt/notesSlides/notesSlide1.xml" Id="Rb5aa6754f87e43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757fce5f194278" /><Relationship Type="http://schemas.openxmlformats.org/officeDocument/2006/relationships/notesSlide" Target="/ppt/notesSlides/notesSlide2.xml" Id="R5b1a22497df640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d7d68b1d434460" /><Relationship Type="http://schemas.openxmlformats.org/officeDocument/2006/relationships/notesSlide" Target="/ppt/notesSlides/notesSlide3.xml" Id="R50e45cbe400b45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bb1063a94d4f4c" /><Relationship Type="http://schemas.openxmlformats.org/officeDocument/2006/relationships/image" Target="/ppt/media/image.png" Id="R3c4ecda0ac844eb6" /><Relationship Type="http://schemas.openxmlformats.org/officeDocument/2006/relationships/notesSlide" Target="/ppt/notesSlides/notesSlide4.xml" Id="Ra2d02fbc806b48b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0b7a124ba4ae7" /><Relationship Type="http://schemas.openxmlformats.org/officeDocument/2006/relationships/image" Target="/ppt/media/image2.png" Id="R28b6fe4ff8a646d5" /><Relationship Type="http://schemas.openxmlformats.org/officeDocument/2006/relationships/notesSlide" Target="/ppt/notesSlides/notesSlide5.xml" Id="Ra831028ed416467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AE8B64-FC45-4AD2-B7A4-8E78D8BFD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LLM code authorship: five classes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B6B09E2-372C-4250-B3C4-263C192AC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11049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Which LLM wrote this C program?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608EE4-F721-4AB6-BE4E-750D7CD8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43175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20,000 programs from LLM-AuthorBench</a:t>
            </a:r>
          </a:p>
          <a:p xmlns:a="http://schemas.openxmlformats.org/drawingml/2006/main">
            <a:pPr>
              <a:defRPr sz="24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classes with 4,000 programs each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CE3108-4B7B-468E-BAAF-DBF573DAE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0763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Our topic: attributing LLM-generated code.</a:t>
            </a:r>
          </a:p>
          <a:p xmlns:a="http://schemas.openxmlformats.org/drawingml/2006/main">
            <a:pPr>
              <a:defRPr sz="22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We compare four standard classifiers using source 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5EA350-EE39-4251-9701-5E4953DA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144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C83"/>
                </a:solidFill>
                <a:latin typeface="Arial"/>
                <a:ea typeface="Arial"/>
                <a:cs typeface="Arial"/>
              </a:rPr>
              <a:t>https://github.com/S3eeDTR/LLM-AuthorBench-Assignment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A9ED1C-55F0-4C81-B40C-A23E44C66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9775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Source: github.com/LLMauthorbench/LLMauthorbench</a:t>
            </a:r>
          </a:p>
        </p:txBody>
      </p:sp>
    </p:spTree>
    <p:extLst>
      <p:ext uri="{BB962C8B-B14F-4D97-AF65-F5344CB8AC3E}">
        <p14:creationId xmlns:p14="http://schemas.microsoft.com/office/powerpoint/2010/main" val="143127762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FA1A6F-7C27-4DE6-AD42-16DE75E5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Data preparation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571500" y="1495425"/>
          <a:ext xmlns:a="http://schemas.openxmlformats.org/drawingml/2006/main" cx="5810250" cy="2714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714500"/>
                <a:gridCol w="1619250"/>
              </a:tblGrid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Split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Programs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Task groups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Training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13,150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181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Validation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2,978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8656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Test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3,872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950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153699-B6D9-45DC-90DA-2B8C93F9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666875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50,000 character TF-IDF features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Three to five characters per pattern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Fit using training code only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28F9F6-BE66-4C1A-8BAE-49EBCBBA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333750"/>
            <a:ext cx="4762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empty programs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0 exact source duplicates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Five labels in every split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2A76E-FD6A-4C21-ABA0-B45746873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62500"/>
            <a:ext cx="109537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Saved groups keep related prompt variants together.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No shared group, exact prompt or source hash across splits.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81F71B-51D3-4047-B0E2-A7137D765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72175"/>
            <a:ext cx="10953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75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Groups are inferred. Some semantic overlap may remain.</a:t>
            </a:r>
          </a:p>
        </p:txBody>
      </p:sp>
    </p:spTree>
    <p:extLst>
      <p:ext uri="{BB962C8B-B14F-4D97-AF65-F5344CB8AC3E}">
        <p14:creationId xmlns:p14="http://schemas.microsoft.com/office/powerpoint/2010/main" val="14275230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616124-4688-498C-9AC9-B7AAC83B2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Experiment 1: original code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F72D8-56E3-4DE4-B1DE-16BE5F6F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1104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Four models use the same training, validation and test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3E074A-F0E1-493C-8B5E-6695927D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14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Naive Bayes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46A9B1-C976-408C-9E3B-CA4FC05E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1145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Simple baseline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8534D-1BF7-4013-B66A-04D0E41CE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47950"/>
            <a:ext cx="414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Logistic Regression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3B7919-BF73-42C8-811D-421410BD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6479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Linear classifier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48FDBB-540C-45F7-9AB4-443CC6AE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81350"/>
            <a:ext cx="414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Linear SVM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FA98A6-C246-4649-9D9E-04654E80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1813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Linear margin classifier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C7E5E-A0E6-4879-B422-29D651CC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4143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Random Forest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73650F-7524-4FEE-9893-968C4109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3714750"/>
            <a:ext cx="609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Tree ensemble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44B875-D7ED-464F-8B97-96A54E128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91050"/>
            <a:ext cx="11049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F1 = 2 × precision × recall / (precision + recall)</a:t>
            </a:r>
          </a:p>
          <a:p xmlns:a="http://schemas.openxmlformats.org/drawingml/2006/main">
            <a:pPr>
              <a:defRPr sz="217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Macro-F1 = average of the five class F1 scores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D8B95-C3F1-4216-A438-1893F67C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76925"/>
            <a:ext cx="11049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Select using validation Macro-F1. Each LLM class has equal weight.</a:t>
            </a:r>
          </a:p>
        </p:txBody>
      </p:sp>
    </p:spTree>
    <p:extLst>
      <p:ext uri="{BB962C8B-B14F-4D97-AF65-F5344CB8AC3E}">
        <p14:creationId xmlns:p14="http://schemas.microsoft.com/office/powerpoint/2010/main" val="195284631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07F51B-90B7-4763-8523-BDF78EEE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Results and SVM classification errors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476250" y="1657350"/>
          <a:ext xmlns:a="http://schemas.openxmlformats.org/drawingml/2006/main" cx="6762750" cy="2905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1143000"/>
                <a:gridCol w="1238250"/>
                <a:gridCol w="952500"/>
                <a:gridCol w="952500"/>
              </a:tblGrid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Model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Accuracy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Macro-F1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Fit (s)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6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MB</a:t>
                      </a:r>
                    </a:p>
                  </a:txBody>
                  <a:tcPr marL="91440" marR="91440" marT="45720" marB="45720">
                    <a:solidFill>
                      <a:srgbClr val="152E38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Naive Bayes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62.68%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0.6278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2.898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Logistic Regression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76.89%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0.7704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15.17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0.863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Linear SVM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79.75%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0.7970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5.36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1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1.767</a:t>
                      </a:r>
                    </a:p>
                  </a:txBody>
                  <a:tcPr marL="91440" marR="91440" marT="45720" marB="45720">
                    <a:solidFill>
                      <a:srgbClr val="E0F0ED"/>
                    </a:solidFill>
                  </a:tcPr>
                </a:tc>
              </a:tr>
              <a:tr h="581025">
                <a:tc>
                  <a:txBody>
                    <a:bodyPr>
                      <a:noAutofit/>
                    </a:bodyPr>
                    <a:lstStyle/>
                    <a:p>
                      <a:pPr algn="l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Random Forest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69.01%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0.6796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20.11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ctr"/>
                      <a:r>
                        <a:rPr sz="1725" b="0">
                          <a:solidFill>
                            <a:srgbClr val="152E38"/>
                          </a:solidFill>
                          <a:latin typeface="Arial"/>
                          <a:ea typeface="Arial"/>
                          <a:cs typeface="Arial"/>
                        </a:rPr>
                        <a:t>9.935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4ecda0ac844eb6"/>
          <a:stretch xmlns:a="http://schemas.openxmlformats.org/drawingml/2006/main"/>
        </p:blipFill>
        <p:spPr>
          <a:xfrm xmlns:a="http://schemas.openxmlformats.org/drawingml/2006/main">
            <a:off x="7410450" y="1333500"/>
            <a:ext cx="4667250" cy="466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49DD9B-055A-415C-961C-21548E985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95875"/>
            <a:ext cx="6667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SVM test accuracy: 79.75%</a:t>
            </a:r>
          </a:p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Correct predictions lie on the matrix diagonal.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CC7E48-2CF4-40BF-9753-907875B4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0636B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50636B"/>
                </a:solidFill>
                <a:latin typeface="Arial"/>
                <a:ea typeface="Arial"/>
                <a:cs typeface="Arial"/>
              </a:rPr>
              <a:t>Fit time excludes TF-IDF. MB measures the compressed classifier.</a:t>
            </a:r>
          </a:p>
        </p:txBody>
      </p:sp>
    </p:spTree>
    <p:extLst>
      <p:ext uri="{BB962C8B-B14F-4D97-AF65-F5344CB8AC3E}">
        <p14:creationId xmlns:p14="http://schemas.microsoft.com/office/powerpoint/2010/main" val="186382377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890294-D55C-47C7-A498-6BB4BE0A1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52E38"/>
                </a:solidFill>
                <a:latin typeface="Arial"/>
                <a:ea typeface="Arial"/>
                <a:cs typeface="Arial"/>
              </a:rPr>
              <a:t>Ablation: restrict the code-pattern vocabulary</a:t>
            </a:r>
          </a:p>
        </p:txBody>
      </p:sp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b6fe4ff8a646d5"/>
          <a:stretch xmlns:a="http://schemas.openxmlformats.org/drawingml/2006/main"/>
        </p:blipFill>
        <p:spPr>
          <a:xfrm xmlns:a="http://schemas.openxmlformats.org/drawingml/2006/main">
            <a:off x="633132" y="1333500"/>
            <a:ext cx="10925735" cy="30956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2D6927-C7B6-48B7-A846-68F39FCFD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24375"/>
            <a:ext cx="110490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Prediction: fewer patterns would narrow SVM’s lead over LR.</a:t>
            </a:r>
          </a:p>
          <a:p xmlns:a="http://schemas.openxmlformats.org/drawingml/2006/main">
            <a:pPr>
              <a:defRPr sz="2100" b="0">
                <a:solidFill>
                  <a:srgbClr val="152E38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52E38"/>
                </a:solidFill>
                <a:latin typeface="Arial"/>
                <a:ea typeface="Arial"/>
                <a:cs typeface="Arial"/>
              </a:rPr>
              <a:t>Observed: 1.49 to 1.39 percentage points. Rankings did not change.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7A80C0-68C2-49EB-920B-23EB0C756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72125"/>
            <a:ext cx="1104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Weak support for the gap prediction, not a full explanation.</a:t>
            </a:r>
          </a:p>
          <a:p xmlns:a="http://schemas.openxmlformats.org/drawingml/2006/main">
            <a:pPr>
              <a:defRPr sz="2025" b="1">
                <a:solidFill>
                  <a:srgbClr val="117C83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17C83"/>
                </a:solidFill>
                <a:latin typeface="Arial"/>
                <a:ea typeface="Arial"/>
                <a:cs typeface="Arial"/>
              </a:rPr>
              <a:t>Removing comments also hurt all models without changing ranks.</a:t>
            </a:r>
          </a:p>
        </p:txBody>
      </p:sp>
    </p:spTree>
    <p:extLst>
      <p:ext uri="{BB962C8B-B14F-4D97-AF65-F5344CB8AC3E}">
        <p14:creationId xmlns:p14="http://schemas.microsoft.com/office/powerpoint/2010/main" val="568850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2026-09-29T07:37:23.1370000Z</dcterms:created>
  <dcterms:modified xsi:type="dcterms:W3CDTF">2026-09-29T07:37:23.1370000Z</dcterms:modified>
</coreProperties>
</file>