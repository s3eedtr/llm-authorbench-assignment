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b8a6ce4a9a24f9e" /><Relationship Type="http://schemas.openxmlformats.org/officeDocument/2006/relationships/extended-properties" Target="/docProps/app.xml" Id="R468131e5863e410c" /><Relationship Type="http://schemas.openxmlformats.org/officeDocument/2006/relationships/officeDocument" Target="/ppt/presentation.xml" Id="R7c32ddb8468a4208" /></Relationships>
</file>

<file path=ppt/presentation.xml><?xml version="1.0" encoding="utf-8"?>
<p:presentation xmlns:p="http://schemas.openxmlformats.org/presentationml/2006/main">
  <p:sldMasterIdLst>
    <p:sldMasterId xmlns:r="http://schemas.openxmlformats.org/officeDocument/2006/relationships" id="2147483648" r:id="Rbc66f40befbd4fad"/>
  </p:sldMasterIdLst>
  <p:notesMasterIdLst>
    <p:notesMasterId xmlns:r="http://schemas.openxmlformats.org/officeDocument/2006/relationships" r:id="Re70e167b53c24727"/>
  </p:notesMasterIdLst>
  <p:sldIdLst>
    <p:sldId xmlns:r="http://schemas.openxmlformats.org/officeDocument/2006/relationships" id="256" r:id="Rc9d39d7d4e734f37"/>
    <p:sldId xmlns:r="http://schemas.openxmlformats.org/officeDocument/2006/relationships" id="257" r:id="R0d1d2750949b434f"/>
    <p:sldId xmlns:r="http://schemas.openxmlformats.org/officeDocument/2006/relationships" id="258" r:id="Rf436d112541e4258"/>
    <p:sldId xmlns:r="http://schemas.openxmlformats.org/officeDocument/2006/relationships" id="259" r:id="R2ba91847b08f45b6"/>
    <p:sldId xmlns:r="http://schemas.openxmlformats.org/officeDocument/2006/relationships" id="260" r:id="Rf81b878f91e0429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07be87c340d40ca" /><Relationship Type="http://schemas.openxmlformats.org/officeDocument/2006/relationships/slideMaster" Target="/ppt/slideMasters/slideMaster1.xml" Id="Rbc66f40befbd4fad" /><Relationship Type="http://schemas.openxmlformats.org/officeDocument/2006/relationships/notesMaster" Target="/ppt/notesMasters/notesMaster1.xml" Id="Re70e167b53c24727" /><Relationship Type="http://schemas.openxmlformats.org/officeDocument/2006/relationships/presProps" Target="/ppt/presProps.xml" Id="R55c2516d21b04b7a" /><Relationship Type="http://schemas.openxmlformats.org/officeDocument/2006/relationships/tableStyles" Target="/ppt/tableStyles.xml" Id="R6d3837ca803e49b4" /><Relationship Type="http://schemas.openxmlformats.org/officeDocument/2006/relationships/slide" Target="/ppt/slides/slide1.xml" Id="Rc9d39d7d4e734f37" /><Relationship Type="http://schemas.openxmlformats.org/officeDocument/2006/relationships/slide" Target="/ppt/slides/slide2.xml" Id="R0d1d2750949b434f" /><Relationship Type="http://schemas.openxmlformats.org/officeDocument/2006/relationships/slide" Target="/ppt/slides/slide3.xml" Id="Rf436d112541e4258" /><Relationship Type="http://schemas.openxmlformats.org/officeDocument/2006/relationships/slide" Target="/ppt/slides/slide4.xml" Id="R2ba91847b08f45b6" /><Relationship Type="http://schemas.openxmlformats.org/officeDocument/2006/relationships/slide" Target="/ppt/slides/slide5.xml" Id="Rf81b878f91e0429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66f2faf4018449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3f13ff5831e449d" /><Relationship Type="http://schemas.openxmlformats.org/officeDocument/2006/relationships/notesMaster" Target="/ppt/notesMasters/notesMaster1.xml" Id="R28a9f455c7e745ec" /></Relationships>
</file>

<file path=ppt/notesSlides/_rels/notesSlide2.xml.rels>&#65279;<?xml version="1.0" encoding="utf-8"?><Relationships xmlns="http://schemas.openxmlformats.org/package/2006/relationships"><Relationship Type="http://schemas.openxmlformats.org/officeDocument/2006/relationships/slide" Target="/ppt/slides/slide2.xml" Id="R665bfe4cbbb34253" /><Relationship Type="http://schemas.openxmlformats.org/officeDocument/2006/relationships/notesMaster" Target="/ppt/notesMasters/notesMaster1.xml" Id="R9ac8c29fb5bc487b" /></Relationships>
</file>

<file path=ppt/notesSlides/_rels/notesSlide3.xml.rels>&#65279;<?xml version="1.0" encoding="utf-8"?><Relationships xmlns="http://schemas.openxmlformats.org/package/2006/relationships"><Relationship Type="http://schemas.openxmlformats.org/officeDocument/2006/relationships/slide" Target="/ppt/slides/slide3.xml" Id="R9e08b46b1230427e" /><Relationship Type="http://schemas.openxmlformats.org/officeDocument/2006/relationships/notesMaster" Target="/ppt/notesMasters/notesMaster1.xml" Id="Rd997ccf506174adf" /></Relationships>
</file>

<file path=ppt/notesSlides/_rels/notesSlide4.xml.rels>&#65279;<?xml version="1.0" encoding="utf-8"?><Relationships xmlns="http://schemas.openxmlformats.org/package/2006/relationships"><Relationship Type="http://schemas.openxmlformats.org/officeDocument/2006/relationships/slide" Target="/ppt/slides/slide4.xml" Id="R0b312cff6bd244a6" /><Relationship Type="http://schemas.openxmlformats.org/officeDocument/2006/relationships/notesMaster" Target="/ppt/notesMasters/notesMaster1.xml" Id="Rc7cce0669dd04d4a" /></Relationships>
</file>

<file path=ppt/notesSlides/_rels/notesSlide5.xml.rels>&#65279;<?xml version="1.0" encoding="utf-8"?><Relationships xmlns="http://schemas.openxmlformats.org/package/2006/relationships"><Relationship Type="http://schemas.openxmlformats.org/officeDocument/2006/relationships/slide" Target="/ppt/slides/slide5.xml" Id="Rdfe1a7f1d33f48f6" /><Relationship Type="http://schemas.openxmlformats.org/officeDocument/2006/relationships/notesMaster" Target="/ppt/notesMasters/notesMaster1.xml" Id="R84063deb2a60421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explanation: We study attribution, meaning identifying the generating model from its C source code. The inputs are code strings and the targets are known LLM labels. We do not execute the programs or classify human authorship. LLM means Large Language Model. The full dataset has 32,000 examples and eight authors; we use the five labels from the paper's main setting. Balanced classes provide a 20% uniform-chance reference, while Naive Bayes is our trained baseline. The dataset is useful because it directly matches the question, fixes the programming language and provides comments and character patterns to investigate. Model versions, prompts and task content still limit generalization. Instructor approval was confirmed by email. Sources: https://github.com/LLMauthorbench/LLMauthorbench and https://arxiv.org/abs/2506.17323 . The original authors describe 300 parameterized C-programming templates followed by deduplication and compilation filtering. Our grouped split differs from the paper; this is not reproduction of its scores. AI assisted with implementation, figures and explanations. Transition: next explain how we keep the comparison fair.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three roles: training learns parameters, validation chooses the original winner and CodeT5 checkpoint, test estimates held-out performance. Counts are 13,150/2,978/3,872; task-family counts are 181/38/40. Families differ in size, so a roughly 70/15/15 group assignment does not produce the same sample proportions. The saved split is reused by all models. Related prompt variants such as sorting 10 or 12 values can produce similar code; inferred grouping tries to prevent task memorization across splits, but cannot eliminate every semantic overlap. Exact source hashes and prompts are checked. TF-IDF expands to Term Frequency–Inverse Document Frequency. A term is a character pattern, a document is one program. TF uses 1+ln(count) for present patterns; IDF uses 1+ln((1+N)/(1+df)); weights are multiplied then normalized to Euclidean length 1. N is the training count and df the number of training programs containing the pattern. Training-only fitting prevents vocabulary/IDF leakage. Case is preserved, while the character analyzer collapses repeated whitespace. 500 features means fewer columns, not fewer examples. CodeT5 instead uses its pretrained tokenizer and first 256 tokens; its representation is different, but the split is identical. Sources: assignment.py, data/splits.csv, results/class_counts.csv, results/split_counts.csv.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 rationale: Naive Bayes combines class-specific feature evidence under conditional independence; overlapping character patterns violate this assumption, but it is a useful fast baseline. Logistic Regression learns linear class scores with a probability loss. SVM is also linear but uses a margin objective, testing whether the training criterion matters. Random Forest combines 150 trees and can learn nonlinear interactions. Fixed settings: NB alpha=1; LR C=1, lbfgs, max_iter=3000; SVM C=1, dual=auto, max_iter=10000; RF max_depth=40, min_samples_leaf=2, sqrt feature sampling. Shared classical features and seed 42, with no grid search. Read the displayed equation: w transpose x means multiply each feature by its weight and sum. Add intercept b to obtain a score for class k. Argmax chooses the largest score. Scores are not probabilities. Toy example: x=[0.6,0.8], w=[2,-1], b=0.1 gives 0.5. Training minimizes one half of (sum of squared weights plus b squared) plus C times the sum of squared max(0, 1-y_i(w transpose x_i+b)). Label y is +1 for one author, -1 for the rest. C=1 balances regularization and margin violations; intercept is regularized because intercept_scaling=1. A signed score of 0.6 gives loss 0.16; at least 1 gives zero loss. CodeT5 uses Salesforce/codet5-base encoder, masked mean of token vectors, dropout 0.1 and linear head, with cross-entropy loss. AdamW learning rate 2e-5, weight decay 0.01, batch 16. All five epochs completed, best validation F1 0.799756 at epoch 3; loss kept falling while validation declined afterwards. This is our adaptation, not the paper implementation. Sources: assignment.py, supplied CodeT5 settings/history, https://scikit-learn.org/stable/modules/generated/sklearn.svm.LinearSVC.html and https://huggingface.co/Salesforce/codet5-base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accuracy and F1 separately: accuracy counts all correct predictions, while Macro-F1 averages class F1 values equally. Precision is TP/(TP+FP), recall is TP/(TP+FN), F1 is 2PR/(P+R). SVM has 3,088 correct of 3,872. For DeepSeek, TP=462, predicted DeepSeek total=692 and actual DeepSeek total=771, so precision=0.6676, recall=0.5992 and F1=0.6316. Gemini is easier for this model, with F1=0.9524. The 199 DeepSeek-to-Llama errors indicate recurring confusion, not its cause. SVM was selected by validation Macro-F1 0.8062. CodeT5 best validation score is 0.7998 and test score 0.7725; do not confuse validation with test. The test F1 gap is 100*(0.7970261-0.7725136)=2.45125 percentage points. CodeT5 is slightly above LR, but no statistical significance is established. Its pretrained representation, truncation and optimization differ, so its ranking does not prove SVM universally superior. Classical fit seconds exclude TF-IDF and saving; CodeT5 291.706 seconds includes validation/saving on A100 40GB. CodeT5 raw state dictionary is 438,494,134 bytes; classical files use compression and exclude the vectorizer. These sizes/times are not controlled efficiency comparisons. Sources: results/metrics.csv, saved SVM confusion matrix, user-supplied codet5_results (1).zip and best_model (1).pt. All CodeT5 test IDs, labels, counts and metrics were 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State the explanation before discussing the result: we hypothesized that comment patterns and many distributed character patterns particularly supported SVM relative to Logistic Regression. Removing comments refits TF-IDF on comment-free training code, with the same samples and model settings. Scores fell, but the validation gap grew from 1.4869 to 3.0270 percentage points, contradicting the predicted narrowing. Feature restriction keeps original code and comments, choosing the 500 most frequent patterns from training data rather than using labels to pick them. The gap fell to 1.3882 points, a narrowing of only 0.0987 points. That is weak directional evidence; all validation and test ranks stayed unchanged. We used one preset feature limit, not a sweep for a favorable result. These are exploratory follow-ups because prior outcomes were known. Restricting features also changes normalization and the forest sqrt candidate-feature count, so it is not a clean isolation of one mechanism. Adding CodeT5 expands the comparison but does not repair a failed ablation prediction. The honest conclusion is that SVM works best in our measured setup, and a richer representation helps all models, while the unique cause of SVM advantage remains unresolved. No confidence intervals or significance tests were established. Limit generalization to these authors, C code, prompt conditions and inferred groups. Sources: results/comment_comparison.csv, results/feature_comparison.csv and results/feature_interpretation.md.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58098b64d7046b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89fab69286b4cbd" /><Relationship Type="http://schemas.openxmlformats.org/officeDocument/2006/relationships/slideLayout" Target="/ppt/slideLayouts/slideLayout1.xml" Id="R3649678b26104d4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649678b26104d4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8c662e700e74dec" /><Relationship Type="http://schemas.openxmlformats.org/officeDocument/2006/relationships/notesSlide" Target="/ppt/notesSlides/notesSlide1.xml" Id="Rfff83a40f19543a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25c75efef444558" /><Relationship Type="http://schemas.openxmlformats.org/officeDocument/2006/relationships/notesSlide" Target="/ppt/notesSlides/notesSlide2.xml" Id="R634a36b8d37541a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05b6de5e6e24d53" /><Relationship Type="http://schemas.openxmlformats.org/officeDocument/2006/relationships/image" Target="/ppt/media/image.png" Id="R73baf8e432f14494" /><Relationship Type="http://schemas.openxmlformats.org/officeDocument/2006/relationships/notesSlide" Target="/ppt/notesSlides/notesSlide3.xml" Id="Re473a3e3d7424f1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4356d2b65c94436" /><Relationship Type="http://schemas.openxmlformats.org/officeDocument/2006/relationships/image" Target="/ppt/media/image2.png" Id="R86f8f581dd4940a4" /><Relationship Type="http://schemas.openxmlformats.org/officeDocument/2006/relationships/notesSlide" Target="/ppt/notesSlides/notesSlide4.xml" Id="R1c11c81469a84bc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9a5893284ba43c9" /><Relationship Type="http://schemas.openxmlformats.org/officeDocument/2006/relationships/image" Target="/ppt/media/image3.png" Id="R9054cb99d4e74ea4" /><Relationship Type="http://schemas.openxmlformats.org/officeDocument/2006/relationships/notesSlide" Target="/ppt/notesSlides/notesSlide5.xml" Id="R9c8cd7c6fd0b4a79" /></Relationships>
</file>

<file path=ppt/slides/slide1.xml><?xml version="1.0" encoding="utf-8"?>
<p:sld xmlns:p="http://schemas.openxmlformats.org/presentationml/2006/main">
  <p:cSld>
    <p:bg>
      <p:bgPr>
        <a:solidFill xmlns:a="http://schemas.openxmlformats.org/drawingml/2006/main">
          <a:srgbClr val="F7FAFA"/>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AF16CA3-A499-478D-9725-81ABB9B5D03A}"/>
              </a:ext>
            </a:extLst>
          </p:cNvPr>
          <p:cNvSpPr>
            <a:spLocks xmlns:a="http://schemas.openxmlformats.org/drawingml/2006/main" noGrp="1"/>
          </p:cNvSpPr>
          <p:nvPr/>
        </p:nvSpPr>
        <p:spPr>
          <a:xfrm xmlns:a="http://schemas.openxmlformats.org/drawingml/2006/main">
            <a:off x="571500" y="400050"/>
            <a:ext cx="11049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E38"/>
                </a:solidFill>
                <a:latin typeface="Arial"/>
                <a:ea typeface="Arial"/>
                <a:cs typeface="Arial"/>
              </a:defRPr>
            </a:pPr>
            <a:r>
              <a:rPr sz="3300" b="1">
                <a:solidFill>
                  <a:srgbClr val="152E38"/>
                </a:solidFill>
                <a:latin typeface="Arial"/>
                <a:ea typeface="Arial"/>
                <a:cs typeface="Arial"/>
              </a:rPr>
              <a:t>Which LLM wrote this C program?</a:t>
            </a:r>
          </a:p>
        </p:txBody>
      </p:sp>
      <p:sp>
        <p:nvSpPr>
          <p:cNvPr id="2" name="">
            <a:extLst xmlns:a="http://schemas.openxmlformats.org/drawingml/2006/main">
              <a:ext uri="{FF2B5EF4-FFF2-40B4-BE49-F238E27FC236}">
                <a16:creationId xmlns:a16="http://schemas.microsoft.com/office/drawing/2014/main" id="{385A8358-B894-45CE-8D52-29D864E1C4F4}"/>
              </a:ext>
            </a:extLst>
          </p:cNvPr>
          <p:cNvSpPr>
            <a:spLocks xmlns:a="http://schemas.openxmlformats.org/drawingml/2006/main" noGrp="1"/>
          </p:cNvSpPr>
          <p:nvPr/>
        </p:nvSpPr>
        <p:spPr>
          <a:xfrm xmlns:a="http://schemas.openxmlformats.org/drawingml/2006/main">
            <a:off x="571500" y="1257300"/>
            <a:ext cx="11049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117C83"/>
                </a:solidFill>
                <a:latin typeface="Arial"/>
                <a:ea typeface="Arial"/>
                <a:cs typeface="Arial"/>
              </a:defRPr>
            </a:pPr>
            <a:r>
              <a:rPr sz="2250" b="1">
                <a:solidFill>
                  <a:srgbClr val="117C83"/>
                </a:solidFill>
                <a:latin typeface="Arial"/>
                <a:ea typeface="Arial"/>
                <a:cs typeface="Arial"/>
              </a:rPr>
              <a:t>A five-class authorship experiment using LLM-AuthorBench</a:t>
            </a:r>
          </a:p>
        </p:txBody>
      </p:sp>
      <p:sp>
        <p:nvSpPr>
          <p:cNvPr id="3" name="">
            <a:extLst xmlns:a="http://schemas.openxmlformats.org/drawingml/2006/main">
              <a:ext uri="{FF2B5EF4-FFF2-40B4-BE49-F238E27FC236}">
                <a16:creationId xmlns:a16="http://schemas.microsoft.com/office/drawing/2014/main" id="{B3AD9E12-7B30-4D18-AB86-8B01F4188983}"/>
              </a:ext>
            </a:extLst>
          </p:cNvPr>
          <p:cNvSpPr>
            <a:spLocks xmlns:a="http://schemas.openxmlformats.org/drawingml/2006/main" noGrp="1"/>
          </p:cNvSpPr>
          <p:nvPr/>
        </p:nvSpPr>
        <p:spPr>
          <a:xfrm xmlns:a="http://schemas.openxmlformats.org/drawingml/2006/main">
            <a:off x="571500" y="2009775"/>
            <a:ext cx="50958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850" b="1">
                <a:solidFill>
                  <a:srgbClr val="152E38"/>
                </a:solidFill>
                <a:latin typeface="Arial"/>
                <a:ea typeface="Arial"/>
                <a:cs typeface="Arial"/>
              </a:defRPr>
            </a:pPr>
            <a:r>
              <a:rPr sz="2850" b="1">
                <a:solidFill>
                  <a:srgbClr val="152E38"/>
                </a:solidFill>
                <a:latin typeface="Arial"/>
                <a:ea typeface="Arial"/>
                <a:cs typeface="Arial"/>
              </a:rPr>
              <a:t>20,000 C programs</a:t>
            </a:r>
          </a:p>
          <a:p xmlns:a="http://schemas.openxmlformats.org/drawingml/2006/main">
            <a:pPr>
              <a:defRPr sz="2850" b="1">
                <a:solidFill>
                  <a:srgbClr val="152E38"/>
                </a:solidFill>
                <a:latin typeface="Arial"/>
                <a:ea typeface="Arial"/>
                <a:cs typeface="Arial"/>
              </a:defRPr>
            </a:pPr>
            <a:r>
              <a:rPr sz="2850" b="1">
                <a:solidFill>
                  <a:srgbClr val="152E38"/>
                </a:solidFill>
                <a:latin typeface="Arial"/>
                <a:ea typeface="Arial"/>
                <a:cs typeface="Arial"/>
              </a:rPr>
              <a:t>4,000 examples per author</a:t>
            </a:r>
          </a:p>
        </p:txBody>
      </p:sp>
      <p:sp>
        <p:nvSpPr>
          <p:cNvPr id="4" name="">
            <a:extLst xmlns:a="http://schemas.openxmlformats.org/drawingml/2006/main">
              <a:ext uri="{FF2B5EF4-FFF2-40B4-BE49-F238E27FC236}">
                <a16:creationId xmlns:a16="http://schemas.microsoft.com/office/drawing/2014/main" id="{8DB9F20D-3F17-4C12-80A2-9504C9FEC20F}"/>
              </a:ext>
            </a:extLst>
          </p:cNvPr>
          <p:cNvSpPr>
            <a:spLocks xmlns:a="http://schemas.openxmlformats.org/drawingml/2006/main" noGrp="1"/>
          </p:cNvSpPr>
          <p:nvPr/>
        </p:nvSpPr>
        <p:spPr>
          <a:xfrm xmlns:a="http://schemas.openxmlformats.org/drawingml/2006/main">
            <a:off x="571500" y="3190875"/>
            <a:ext cx="5238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950" b="0">
                <a:solidFill>
                  <a:srgbClr val="152E38"/>
                </a:solidFill>
                <a:latin typeface="Arial"/>
                <a:ea typeface="Arial"/>
                <a:cs typeface="Arial"/>
              </a:defRPr>
            </a:pPr>
            <a:r>
              <a:rPr sz="1950" b="0">
                <a:solidFill>
                  <a:srgbClr val="152E38"/>
                </a:solidFill>
                <a:latin typeface="Arial"/>
                <a:ea typeface="Arial"/>
                <a:cs typeface="Arial"/>
              </a:rPr>
              <a:t>Claude 3.5 Haiku, DeepSeek Chat,</a:t>
            </a:r>
          </a:p>
          <a:p xmlns:a="http://schemas.openxmlformats.org/drawingml/2006/main">
            <a:pPr>
              <a:defRPr sz="1950" b="0">
                <a:solidFill>
                  <a:srgbClr val="152E38"/>
                </a:solidFill>
                <a:latin typeface="Arial"/>
                <a:ea typeface="Arial"/>
                <a:cs typeface="Arial"/>
              </a:defRPr>
            </a:pPr>
            <a:r>
              <a:rPr sz="1950" b="0">
                <a:solidFill>
                  <a:srgbClr val="152E38"/>
                </a:solidFill>
                <a:latin typeface="Arial"/>
                <a:ea typeface="Arial"/>
                <a:cs typeface="Arial"/>
              </a:rPr>
              <a:t>Gemini 2.5 Flash Preview, GPT-4.1,</a:t>
            </a:r>
          </a:p>
          <a:p xmlns:a="http://schemas.openxmlformats.org/drawingml/2006/main">
            <a:pPr>
              <a:defRPr sz="1950" b="0">
                <a:solidFill>
                  <a:srgbClr val="152E38"/>
                </a:solidFill>
                <a:latin typeface="Arial"/>
                <a:ea typeface="Arial"/>
                <a:cs typeface="Arial"/>
              </a:defRPr>
            </a:pPr>
            <a:r>
              <a:rPr sz="1950" b="0">
                <a:solidFill>
                  <a:srgbClr val="152E38"/>
                </a:solidFill>
                <a:latin typeface="Arial"/>
                <a:ea typeface="Arial"/>
                <a:cs typeface="Arial"/>
              </a:rPr>
              <a:t>Llama 3.3 70B Instruct</a:t>
            </a:r>
          </a:p>
        </p:txBody>
      </p:sp>
      <p:sp>
        <p:nvSpPr>
          <p:cNvPr id="5" name="">
            <a:extLst xmlns:a="http://schemas.openxmlformats.org/drawingml/2006/main">
              <a:ext uri="{FF2B5EF4-FFF2-40B4-BE49-F238E27FC236}">
                <a16:creationId xmlns:a16="http://schemas.microsoft.com/office/drawing/2014/main" id="{854C1886-7BB9-466D-B9EA-1BCC93707F5C}"/>
              </a:ext>
            </a:extLst>
          </p:cNvPr>
          <p:cNvSpPr>
            <a:spLocks xmlns:a="http://schemas.openxmlformats.org/drawingml/2006/main" noGrp="1"/>
          </p:cNvSpPr>
          <p:nvPr/>
        </p:nvSpPr>
        <p:spPr>
          <a:xfrm xmlns:a="http://schemas.openxmlformats.org/drawingml/2006/main">
            <a:off x="6572250" y="2009775"/>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117C83"/>
                </a:solidFill>
                <a:latin typeface="Arial"/>
                <a:ea typeface="Arial"/>
                <a:cs typeface="Arial"/>
              </a:defRPr>
            </a:pPr>
            <a:r>
              <a:rPr sz="2250" b="1">
                <a:solidFill>
                  <a:srgbClr val="117C83"/>
                </a:solidFill>
                <a:latin typeface="Arial"/>
                <a:ea typeface="Arial"/>
                <a:cs typeface="Arial"/>
              </a:rPr>
              <a:t>Why this dataset?</a:t>
            </a:r>
          </a:p>
        </p:txBody>
      </p:sp>
      <p:sp>
        <p:nvSpPr>
          <p:cNvPr id="6" name="">
            <a:extLst xmlns:a="http://schemas.openxmlformats.org/drawingml/2006/main">
              <a:ext uri="{FF2B5EF4-FFF2-40B4-BE49-F238E27FC236}">
                <a16:creationId xmlns:a16="http://schemas.microsoft.com/office/drawing/2014/main" id="{DFFDA5F9-6F4D-4055-ACA1-565CE42CAAB9}"/>
              </a:ext>
            </a:extLst>
          </p:cNvPr>
          <p:cNvSpPr>
            <a:spLocks xmlns:a="http://schemas.openxmlformats.org/drawingml/2006/main" noGrp="1"/>
          </p:cNvSpPr>
          <p:nvPr/>
        </p:nvSpPr>
        <p:spPr>
          <a:xfrm xmlns:a="http://schemas.openxmlformats.org/drawingml/2006/main">
            <a:off x="6572250" y="2600325"/>
            <a:ext cx="49530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950" b="0">
                <a:solidFill>
                  <a:srgbClr val="152E38"/>
                </a:solidFill>
                <a:latin typeface="Arial"/>
                <a:ea typeface="Arial"/>
                <a:cs typeface="Arial"/>
              </a:defRPr>
            </a:pPr>
            <a:r>
              <a:rPr sz="1950" b="0">
                <a:solidFill>
                  <a:srgbClr val="152E38"/>
                </a:solidFill>
                <a:latin typeface="Arial"/>
                <a:ea typeface="Arial"/>
                <a:cs typeface="Arial"/>
              </a:rPr>
              <a:t>Known labels for supervised learning</a:t>
            </a:r>
          </a:p>
          <a:p xmlns:a="http://schemas.openxmlformats.org/drawingml/2006/main">
            <a:pPr>
              <a:defRPr sz="1950" b="0">
                <a:solidFill>
                  <a:srgbClr val="152E38"/>
                </a:solidFill>
                <a:latin typeface="Arial"/>
                <a:ea typeface="Arial"/>
                <a:cs typeface="Arial"/>
              </a:defRPr>
            </a:pPr>
            <a:r>
              <a:rPr sz="1950" b="0">
                <a:solidFill>
                  <a:srgbClr val="152E38"/>
                </a:solidFill>
                <a:latin typeface="Arial"/>
                <a:ea typeface="Arial"/>
                <a:cs typeface="Arial"/>
              </a:rPr>
              <a:t>Balanced examples across five authors</a:t>
            </a:r>
          </a:p>
          <a:p xmlns:a="http://schemas.openxmlformats.org/drawingml/2006/main">
            <a:pPr>
              <a:defRPr sz="1950" b="0">
                <a:solidFill>
                  <a:srgbClr val="152E38"/>
                </a:solidFill>
                <a:latin typeface="Arial"/>
                <a:ea typeface="Arial"/>
                <a:cs typeface="Arial"/>
              </a:defRPr>
            </a:pPr>
            <a:r>
              <a:rPr sz="1950" b="0">
                <a:solidFill>
                  <a:srgbClr val="152E38"/>
                </a:solidFill>
                <a:latin typeface="Arial"/>
                <a:ea typeface="Arial"/>
                <a:cs typeface="Arial"/>
              </a:rPr>
              <a:t>C code keeps the language consistent</a:t>
            </a:r>
          </a:p>
          <a:p xmlns:a="http://schemas.openxmlformats.org/drawingml/2006/main">
            <a:pPr>
              <a:defRPr sz="1950" b="0">
                <a:solidFill>
                  <a:srgbClr val="152E38"/>
                </a:solidFill>
                <a:latin typeface="Arial"/>
                <a:ea typeface="Arial"/>
                <a:cs typeface="Arial"/>
              </a:defRPr>
            </a:pPr>
            <a:r>
              <a:rPr sz="1950" b="0">
                <a:solidFill>
                  <a:srgbClr val="152E38"/>
                </a:solidFill>
                <a:latin typeface="Arial"/>
                <a:ea typeface="Arial"/>
                <a:cs typeface="Arial"/>
              </a:rPr>
              <a:t>Comments and patterns we can test</a:t>
            </a:r>
          </a:p>
        </p:txBody>
      </p:sp>
      <p:sp>
        <p:nvSpPr>
          <p:cNvPr id="7" name="">
            <a:extLst xmlns:a="http://schemas.openxmlformats.org/drawingml/2006/main">
              <a:ext uri="{FF2B5EF4-FFF2-40B4-BE49-F238E27FC236}">
                <a16:creationId xmlns:a16="http://schemas.microsoft.com/office/drawing/2014/main" id="{AC470FB2-169B-42D2-843E-F7649AC813DD}"/>
              </a:ext>
            </a:extLst>
          </p:cNvPr>
          <p:cNvSpPr>
            <a:spLocks xmlns:a="http://schemas.openxmlformats.org/drawingml/2006/main" noGrp="1"/>
          </p:cNvSpPr>
          <p:nvPr/>
        </p:nvSpPr>
        <p:spPr>
          <a:xfrm xmlns:a="http://schemas.openxmlformats.org/drawingml/2006/main">
            <a:off x="571500" y="4562475"/>
            <a:ext cx="11049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152E38"/>
                </a:solidFill>
                <a:latin typeface="Arial"/>
                <a:ea typeface="Arial"/>
                <a:cs typeface="Arial"/>
              </a:defRPr>
            </a:pPr>
            <a:r>
              <a:rPr sz="2025" b="0">
                <a:solidFill>
                  <a:srgbClr val="152E38"/>
                </a:solidFill>
                <a:latin typeface="Arial"/>
                <a:ea typeface="Arial"/>
                <a:cs typeface="Arial"/>
              </a:rPr>
              <a:t>We compare four classical models and a pretrained CodeT5 encoder.</a:t>
            </a:r>
          </a:p>
          <a:p xmlns:a="http://schemas.openxmlformats.org/drawingml/2006/main">
            <a:pPr>
              <a:defRPr sz="2025" b="0">
                <a:solidFill>
                  <a:srgbClr val="152E38"/>
                </a:solidFill>
                <a:latin typeface="Arial"/>
                <a:ea typeface="Arial"/>
                <a:cs typeface="Arial"/>
              </a:defRPr>
            </a:pPr>
            <a:r>
              <a:rPr sz="2025" b="0">
                <a:solidFill>
                  <a:srgbClr val="152E38"/>
                </a:solidFill>
                <a:latin typeface="Arial"/>
                <a:ea typeface="Arial"/>
                <a:cs typeface="Arial"/>
              </a:rPr>
              <a:t>The goal is a fair comparison and an evidence-based explanation.</a:t>
            </a:r>
          </a:p>
        </p:txBody>
      </p:sp>
      <p:sp>
        <p:nvSpPr>
          <p:cNvPr id="8" name="">
            <a:extLst xmlns:a="http://schemas.openxmlformats.org/drawingml/2006/main">
              <a:ext uri="{FF2B5EF4-FFF2-40B4-BE49-F238E27FC236}">
                <a16:creationId xmlns:a16="http://schemas.microsoft.com/office/drawing/2014/main" id="{26E0854D-045C-4097-98F1-E8D31385BFFC}"/>
              </a:ext>
            </a:extLst>
          </p:cNvPr>
          <p:cNvSpPr>
            <a:spLocks xmlns:a="http://schemas.openxmlformats.org/drawingml/2006/main" noGrp="1"/>
          </p:cNvSpPr>
          <p:nvPr/>
        </p:nvSpPr>
        <p:spPr>
          <a:xfrm xmlns:a="http://schemas.openxmlformats.org/drawingml/2006/main">
            <a:off x="571500" y="5429250"/>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152E38"/>
                </a:solidFill>
                <a:latin typeface="Arial"/>
                <a:ea typeface="Arial"/>
                <a:cs typeface="Arial"/>
              </a:defRPr>
            </a:pPr>
            <a:r>
              <a:rPr sz="1725" b="0">
                <a:solidFill>
                  <a:srgbClr val="152E38"/>
                </a:solidFill>
                <a:latin typeface="Arial"/>
                <a:ea typeface="Arial"/>
                <a:cs typeface="Arial"/>
              </a:rPr>
              <a:t>Saeed Alshehhi, Khalifa Alblooshi, Maitha Alblooshi</a:t>
            </a:r>
          </a:p>
          <a:p xmlns:a="http://schemas.openxmlformats.org/drawingml/2006/main">
            <a:pPr>
              <a:defRPr sz="1725" b="0">
                <a:solidFill>
                  <a:srgbClr val="152E38"/>
                </a:solidFill>
                <a:latin typeface="Arial"/>
                <a:ea typeface="Arial"/>
                <a:cs typeface="Arial"/>
              </a:defRPr>
            </a:pPr>
            <a:r>
              <a:rPr sz="1725" b="0">
                <a:solidFill>
                  <a:srgbClr val="152E38"/>
                </a:solidFill>
                <a:latin typeface="Arial"/>
                <a:ea typeface="Arial"/>
                <a:cs typeface="Arial"/>
              </a:rPr>
              <a:t>Fatima Alnuaimi, Fatima Alsadi</a:t>
            </a:r>
          </a:p>
        </p:txBody>
      </p:sp>
      <p:sp>
        <p:nvSpPr>
          <p:cNvPr id="9" name="">
            <a:extLst xmlns:a="http://schemas.openxmlformats.org/drawingml/2006/main">
              <a:ext uri="{FF2B5EF4-FFF2-40B4-BE49-F238E27FC236}">
                <a16:creationId xmlns:a16="http://schemas.microsoft.com/office/drawing/2014/main" id="{FB1E2BD7-EAE6-487A-921B-C195FB8663FE}"/>
              </a:ext>
            </a:extLst>
          </p:cNvPr>
          <p:cNvSpPr>
            <a:spLocks xmlns:a="http://schemas.openxmlformats.org/drawingml/2006/main" noGrp="1"/>
          </p:cNvSpPr>
          <p:nvPr/>
        </p:nvSpPr>
        <p:spPr>
          <a:xfrm xmlns:a="http://schemas.openxmlformats.org/drawingml/2006/main">
            <a:off x="571500" y="6115050"/>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650" b="0">
                <a:solidFill>
                  <a:srgbClr val="117C83"/>
                </a:solidFill>
                <a:latin typeface="Arial"/>
                <a:ea typeface="Arial"/>
                <a:cs typeface="Arial"/>
              </a:defRPr>
            </a:pPr>
            <a:r>
              <a:rPr sz="1650" b="0">
                <a:solidFill>
                  <a:srgbClr val="117C83"/>
                </a:solidFill>
                <a:latin typeface="Arial"/>
                <a:ea typeface="Arial"/>
                <a:cs typeface="Arial"/>
              </a:rPr>
              <a:t>https://github.com/S3eeDTR/LLM-AuthorBench-Assignment</a:t>
            </a:r>
          </a:p>
        </p:txBody>
      </p:sp>
      <p:sp>
        <p:nvSpPr>
          <p:cNvPr id="10" name="">
            <a:extLst xmlns:a="http://schemas.openxmlformats.org/drawingml/2006/main">
              <a:ext uri="{FF2B5EF4-FFF2-40B4-BE49-F238E27FC236}">
                <a16:creationId xmlns:a16="http://schemas.microsoft.com/office/drawing/2014/main" id="{F585C7A8-ACE2-4DC8-8643-27112F2F1B7B}"/>
              </a:ext>
            </a:extLst>
          </p:cNvPr>
          <p:cNvSpPr>
            <a:spLocks xmlns:a="http://schemas.openxmlformats.org/drawingml/2006/main" noGrp="1"/>
          </p:cNvSpPr>
          <p:nvPr/>
        </p:nvSpPr>
        <p:spPr>
          <a:xfrm xmlns:a="http://schemas.openxmlformats.org/drawingml/2006/main">
            <a:off x="571500" y="6477000"/>
            <a:ext cx="11049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0636B"/>
                </a:solidFill>
                <a:latin typeface="Arial"/>
                <a:ea typeface="Arial"/>
                <a:cs typeface="Arial"/>
              </a:defRPr>
            </a:pPr>
            <a:r>
              <a:rPr sz="1350" b="0">
                <a:solidFill>
                  <a:srgbClr val="50636B"/>
                </a:solidFill>
                <a:latin typeface="Arial"/>
                <a:ea typeface="Arial"/>
                <a:cs typeface="Arial"/>
              </a:rPr>
              <a:t>Data: github.com/LLMauthorbench/LLMauthorbench</a:t>
            </a:r>
          </a:p>
        </p:txBody>
      </p:sp>
    </p:spTree>
    <p:extLst>
      <p:ext uri="{BB962C8B-B14F-4D97-AF65-F5344CB8AC3E}">
        <p14:creationId xmlns:p14="http://schemas.microsoft.com/office/powerpoint/2010/main" val="1277318705"/>
      </p:ext>
    </p:extLst>
  </p:cSld>
</p:sld>
</file>

<file path=ppt/slides/slide2.xml><?xml version="1.0" encoding="utf-8"?>
<p:sld xmlns:p="http://schemas.openxmlformats.org/presentationml/2006/main">
  <p:cSld>
    <p:bg>
      <p:bgPr>
        <a:solidFill xmlns:a="http://schemas.openxmlformats.org/drawingml/2006/main">
          <a:srgbClr val="F7FAF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604FCEB-A6B8-45EB-9CA7-91A0A3692EED}"/>
              </a:ext>
            </a:extLst>
          </p:cNvPr>
          <p:cNvSpPr>
            <a:spLocks xmlns:a="http://schemas.openxmlformats.org/drawingml/2006/main" noGrp="1"/>
          </p:cNvSpPr>
          <p:nvPr/>
        </p:nvSpPr>
        <p:spPr>
          <a:xfrm xmlns:a="http://schemas.openxmlformats.org/drawingml/2006/main">
            <a:off x="571500" y="400050"/>
            <a:ext cx="11049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E38"/>
                </a:solidFill>
                <a:latin typeface="Arial"/>
                <a:ea typeface="Arial"/>
                <a:cs typeface="Arial"/>
              </a:defRPr>
            </a:pPr>
            <a:r>
              <a:rPr sz="3300" b="1">
                <a:solidFill>
                  <a:srgbClr val="152E38"/>
                </a:solidFill>
                <a:latin typeface="Arial"/>
                <a:ea typeface="Arial"/>
                <a:cs typeface="Arial"/>
              </a:rPr>
              <a:t>Data preparation: learn patterns without leakage</a:t>
            </a:r>
          </a:p>
        </p:txBody>
      </p:sp>
      <p:graphicFrame>
        <p:nvGraphicFramePr>
          <p:cNvPr id="8" name=""/>
          <p:cNvGraphicFramePr/>
          <p:nvPr/>
        </p:nvGraphicFramePr>
        <p:xfrm>
          <a:off xmlns:a="http://schemas.openxmlformats.org/drawingml/2006/main" x="571500" y="1381125"/>
          <a:ext xmlns:a="http://schemas.openxmlformats.org/drawingml/2006/main" cx="11049000" cy="1952625"/>
        </p:xfrm>
        <a:graphic xmlns:a="http://schemas.openxmlformats.org/drawingml/2006/main">
          <a:graphicData uri="http://schemas.openxmlformats.org/drawingml/2006/table">
            <a:tbl>
              <a:tblPr/>
              <a:tblGrid>
                <a:gridCol w="2095500"/>
                <a:gridCol w="1619250"/>
                <a:gridCol w="7334250"/>
              </a:tblGrid>
              <a:tr h="488156">
                <a:tc>
                  <a:txBody>
                    <a:bodyPr>
                      <a:noAutofit/>
                    </a:bodyPr>
                    <a:lstStyle/>
                    <a:p>
                      <a:pPr algn="l"/>
                      <a:r>
                        <a:rPr sz="1800" b="1">
                          <a:solidFill>
                            <a:srgbClr val="FFFFFF"/>
                          </a:solidFill>
                          <a:latin typeface="Arial"/>
                          <a:ea typeface="Arial"/>
                          <a:cs typeface="Arial"/>
                        </a:rPr>
                        <a:t>Partition</a:t>
                      </a:r>
                    </a:p>
                  </a:txBody>
                  <a:tcPr marL="91440" marR="91440" marT="45720" marB="45720">
                    <a:solidFill>
                      <a:srgbClr val="152E38"/>
                    </a:solidFill>
                  </a:tcPr>
                </a:tc>
                <a:tc>
                  <a:txBody>
                    <a:bodyPr>
                      <a:noAutofit/>
                    </a:bodyPr>
                    <a:lstStyle/>
                    <a:p>
                      <a:pPr algn="ctr"/>
                      <a:r>
                        <a:rPr sz="1800" b="1">
                          <a:solidFill>
                            <a:srgbClr val="FFFFFF"/>
                          </a:solidFill>
                          <a:latin typeface="Arial"/>
                          <a:ea typeface="Arial"/>
                          <a:cs typeface="Arial"/>
                        </a:rPr>
                        <a:t>Programs</a:t>
                      </a:r>
                    </a:p>
                  </a:txBody>
                  <a:tcPr marL="91440" marR="91440" marT="45720" marB="45720">
                    <a:solidFill>
                      <a:srgbClr val="152E38"/>
                    </a:solidFill>
                  </a:tcPr>
                </a:tc>
                <a:tc>
                  <a:txBody>
                    <a:bodyPr>
                      <a:noAutofit/>
                    </a:bodyPr>
                    <a:lstStyle/>
                    <a:p>
                      <a:pPr algn="ctr"/>
                      <a:r>
                        <a:rPr sz="1800" b="1">
                          <a:solidFill>
                            <a:srgbClr val="FFFFFF"/>
                          </a:solidFill>
                          <a:latin typeface="Arial"/>
                          <a:ea typeface="Arial"/>
                          <a:cs typeface="Arial"/>
                        </a:rPr>
                        <a:t>Purpose</a:t>
                      </a:r>
                    </a:p>
                  </a:txBody>
                  <a:tcPr marL="91440" marR="91440" marT="45720" marB="45720">
                    <a:solidFill>
                      <a:srgbClr val="152E38"/>
                    </a:solidFill>
                  </a:tcPr>
                </a:tc>
              </a:tr>
              <a:tr h="488156">
                <a:tc>
                  <a:txBody>
                    <a:bodyPr>
                      <a:noAutofit/>
                    </a:bodyPr>
                    <a:lstStyle/>
                    <a:p>
                      <a:pPr algn="l"/>
                      <a:r>
                        <a:rPr sz="1875" b="0">
                          <a:solidFill>
                            <a:srgbClr val="152E38"/>
                          </a:solidFill>
                          <a:latin typeface="Arial"/>
                          <a:ea typeface="Arial"/>
                          <a:cs typeface="Arial"/>
                        </a:rPr>
                        <a:t>Training</a:t>
                      </a:r>
                    </a:p>
                  </a:txBody>
                  <a:tcPr marL="91440" marR="91440" marT="45720" marB="45720">
                    <a:solidFill>
                      <a:srgbClr val="FFFFFF"/>
                    </a:solidFill>
                  </a:tcPr>
                </a:tc>
                <a:tc>
                  <a:txBody>
                    <a:bodyPr>
                      <a:noAutofit/>
                    </a:bodyPr>
                    <a:lstStyle/>
                    <a:p>
                      <a:pPr algn="ctr"/>
                      <a:r>
                        <a:rPr sz="1875" b="0">
                          <a:solidFill>
                            <a:srgbClr val="152E38"/>
                          </a:solidFill>
                          <a:latin typeface="Arial"/>
                          <a:ea typeface="Arial"/>
                          <a:cs typeface="Arial"/>
                        </a:rPr>
                        <a:t>13,150</a:t>
                      </a:r>
                    </a:p>
                  </a:txBody>
                  <a:tcPr marL="91440" marR="91440" marT="45720" marB="45720">
                    <a:solidFill>
                      <a:srgbClr val="FFFFFF"/>
                    </a:solidFill>
                  </a:tcPr>
                </a:tc>
                <a:tc>
                  <a:txBody>
                    <a:bodyPr>
                      <a:noAutofit/>
                    </a:bodyPr>
                    <a:lstStyle/>
                    <a:p>
                      <a:pPr algn="ctr"/>
                      <a:r>
                        <a:rPr sz="1875" b="0">
                          <a:solidFill>
                            <a:srgbClr val="152E38"/>
                          </a:solidFill>
                          <a:latin typeface="Arial"/>
                          <a:ea typeface="Arial"/>
                          <a:cs typeface="Arial"/>
                        </a:rPr>
                        <a:t>Learn features and models</a:t>
                      </a:r>
                    </a:p>
                  </a:txBody>
                  <a:tcPr marL="91440" marR="91440" marT="45720" marB="45720">
                    <a:solidFill>
                      <a:srgbClr val="FFFFFF"/>
                    </a:solidFill>
                  </a:tcPr>
                </a:tc>
              </a:tr>
              <a:tr h="488156">
                <a:tc>
                  <a:txBody>
                    <a:bodyPr>
                      <a:noAutofit/>
                    </a:bodyPr>
                    <a:lstStyle/>
                    <a:p>
                      <a:pPr algn="l"/>
                      <a:r>
                        <a:rPr sz="1875" b="0">
                          <a:solidFill>
                            <a:srgbClr val="152E38"/>
                          </a:solidFill>
                          <a:latin typeface="Arial"/>
                          <a:ea typeface="Arial"/>
                          <a:cs typeface="Arial"/>
                        </a:rPr>
                        <a:t>Validation</a:t>
                      </a:r>
                    </a:p>
                  </a:txBody>
                  <a:tcPr marL="91440" marR="91440" marT="45720" marB="45720">
                    <a:solidFill>
                      <a:srgbClr val="FFFFFF"/>
                    </a:solidFill>
                  </a:tcPr>
                </a:tc>
                <a:tc>
                  <a:txBody>
                    <a:bodyPr>
                      <a:noAutofit/>
                    </a:bodyPr>
                    <a:lstStyle/>
                    <a:p>
                      <a:pPr algn="ctr"/>
                      <a:r>
                        <a:rPr sz="1875" b="0">
                          <a:solidFill>
                            <a:srgbClr val="152E38"/>
                          </a:solidFill>
                          <a:latin typeface="Arial"/>
                          <a:ea typeface="Arial"/>
                          <a:cs typeface="Arial"/>
                        </a:rPr>
                        <a:t>2,978</a:t>
                      </a:r>
                    </a:p>
                  </a:txBody>
                  <a:tcPr marL="91440" marR="91440" marT="45720" marB="45720">
                    <a:solidFill>
                      <a:srgbClr val="FFFFFF"/>
                    </a:solidFill>
                  </a:tcPr>
                </a:tc>
                <a:tc>
                  <a:txBody>
                    <a:bodyPr>
                      <a:noAutofit/>
                    </a:bodyPr>
                    <a:lstStyle/>
                    <a:p>
                      <a:pPr algn="ctr"/>
                      <a:r>
                        <a:rPr sz="1875" b="0">
                          <a:solidFill>
                            <a:srgbClr val="152E38"/>
                          </a:solidFill>
                          <a:latin typeface="Arial"/>
                          <a:ea typeface="Arial"/>
                          <a:cs typeface="Arial"/>
                        </a:rPr>
                        <a:t>Choose models / checkpoints</a:t>
                      </a:r>
                    </a:p>
                  </a:txBody>
                  <a:tcPr marL="91440" marR="91440" marT="45720" marB="45720">
                    <a:solidFill>
                      <a:srgbClr val="FFFFFF"/>
                    </a:solidFill>
                  </a:tcPr>
                </a:tc>
              </a:tr>
              <a:tr h="488156">
                <a:tc>
                  <a:txBody>
                    <a:bodyPr>
                      <a:noAutofit/>
                    </a:bodyPr>
                    <a:lstStyle/>
                    <a:p>
                      <a:pPr algn="l"/>
                      <a:r>
                        <a:rPr sz="1875" b="0">
                          <a:solidFill>
                            <a:srgbClr val="152E38"/>
                          </a:solidFill>
                          <a:latin typeface="Arial"/>
                          <a:ea typeface="Arial"/>
                          <a:cs typeface="Arial"/>
                        </a:rPr>
                        <a:t>Test</a:t>
                      </a:r>
                    </a:p>
                  </a:txBody>
                  <a:tcPr marL="91440" marR="91440" marT="45720" marB="45720">
                    <a:solidFill>
                      <a:srgbClr val="FFFFFF"/>
                    </a:solidFill>
                  </a:tcPr>
                </a:tc>
                <a:tc>
                  <a:txBody>
                    <a:bodyPr>
                      <a:noAutofit/>
                    </a:bodyPr>
                    <a:lstStyle/>
                    <a:p>
                      <a:pPr algn="ctr"/>
                      <a:r>
                        <a:rPr sz="1875" b="0">
                          <a:solidFill>
                            <a:srgbClr val="152E38"/>
                          </a:solidFill>
                          <a:latin typeface="Arial"/>
                          <a:ea typeface="Arial"/>
                          <a:cs typeface="Arial"/>
                        </a:rPr>
                        <a:t>3,872</a:t>
                      </a:r>
                    </a:p>
                  </a:txBody>
                  <a:tcPr marL="91440" marR="91440" marT="45720" marB="45720">
                    <a:solidFill>
                      <a:srgbClr val="FFFFFF"/>
                    </a:solidFill>
                  </a:tcPr>
                </a:tc>
                <a:tc>
                  <a:txBody>
                    <a:bodyPr>
                      <a:noAutofit/>
                    </a:bodyPr>
                    <a:lstStyle/>
                    <a:p>
                      <a:pPr algn="ctr"/>
                      <a:r>
                        <a:rPr sz="1875" b="0">
                          <a:solidFill>
                            <a:srgbClr val="152E38"/>
                          </a:solidFill>
                          <a:latin typeface="Arial"/>
                          <a:ea typeface="Arial"/>
                          <a:cs typeface="Arial"/>
                        </a:rPr>
                        <a:t>Final held-out evaluation</a:t>
                      </a:r>
                    </a:p>
                  </a:txBody>
                  <a:tcPr marL="91440" marR="91440" marT="45720" marB="4572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F8AB9379-05E1-4A92-A463-2FE3653C230E}"/>
              </a:ext>
            </a:extLst>
          </p:cNvPr>
          <p:cNvSpPr>
            <a:spLocks xmlns:a="http://schemas.openxmlformats.org/drawingml/2006/main" noGrp="1"/>
          </p:cNvSpPr>
          <p:nvPr/>
        </p:nvSpPr>
        <p:spPr>
          <a:xfrm xmlns:a="http://schemas.openxmlformats.org/drawingml/2006/main">
            <a:off x="571500" y="3629025"/>
            <a:ext cx="1104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117C83"/>
                </a:solidFill>
                <a:latin typeface="Arial"/>
                <a:ea typeface="Arial"/>
                <a:cs typeface="Arial"/>
              </a:defRPr>
            </a:pPr>
            <a:r>
              <a:rPr sz="2175" b="1">
                <a:solidFill>
                  <a:srgbClr val="117C83"/>
                </a:solidFill>
                <a:latin typeface="Arial"/>
                <a:ea typeface="Arial"/>
                <a:cs typeface="Arial"/>
              </a:rPr>
              <a:t>TF-IDF: Term Frequency–Inverse Document Frequency</a:t>
            </a:r>
          </a:p>
        </p:txBody>
      </p:sp>
      <p:sp>
        <p:nvSpPr>
          <p:cNvPr id="4" name="">
            <a:extLst xmlns:a="http://schemas.openxmlformats.org/drawingml/2006/main">
              <a:ext uri="{FF2B5EF4-FFF2-40B4-BE49-F238E27FC236}">
                <a16:creationId xmlns:a16="http://schemas.microsoft.com/office/drawing/2014/main" id="{846D7E14-301D-451B-A776-2A9DB53E0871}"/>
              </a:ext>
            </a:extLst>
          </p:cNvPr>
          <p:cNvSpPr>
            <a:spLocks xmlns:a="http://schemas.openxmlformats.org/drawingml/2006/main" noGrp="1"/>
          </p:cNvSpPr>
          <p:nvPr/>
        </p:nvSpPr>
        <p:spPr>
          <a:xfrm xmlns:a="http://schemas.openxmlformats.org/drawingml/2006/main">
            <a:off x="571500" y="4105275"/>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152E38"/>
                </a:solidFill>
                <a:latin typeface="Arial"/>
                <a:ea typeface="Arial"/>
                <a:cs typeface="Arial"/>
              </a:defRPr>
            </a:pPr>
            <a:r>
              <a:rPr sz="2025" b="0">
                <a:solidFill>
                  <a:srgbClr val="152E38"/>
                </a:solidFill>
                <a:latin typeface="Arial"/>
                <a:ea typeface="Arial"/>
                <a:cs typeface="Arial"/>
              </a:rPr>
              <a:t>“int x;” contains patterns such as “int”, “nt ” and “t x”.</a:t>
            </a:r>
          </a:p>
          <a:p xmlns:a="http://schemas.openxmlformats.org/drawingml/2006/main">
            <a:pPr>
              <a:defRPr sz="2025" b="0">
                <a:solidFill>
                  <a:srgbClr val="152E38"/>
                </a:solidFill>
                <a:latin typeface="Arial"/>
                <a:ea typeface="Arial"/>
                <a:cs typeface="Arial"/>
              </a:defRPr>
            </a:pPr>
            <a:r>
              <a:rPr sz="2025" b="0">
                <a:solidFill>
                  <a:srgbClr val="152E38"/>
                </a:solidFill>
                <a:latin typeface="Arial"/>
                <a:ea typeface="Arial"/>
                <a:cs typeface="Arial"/>
              </a:rPr>
              <a:t>Use 3–5-character patterns, up to 50,000 columns per program.</a:t>
            </a:r>
          </a:p>
        </p:txBody>
      </p:sp>
      <p:sp>
        <p:nvSpPr>
          <p:cNvPr id="5" name="">
            <a:extLst xmlns:a="http://schemas.openxmlformats.org/drawingml/2006/main">
              <a:ext uri="{FF2B5EF4-FFF2-40B4-BE49-F238E27FC236}">
                <a16:creationId xmlns:a16="http://schemas.microsoft.com/office/drawing/2014/main" id="{8828E0D5-0F7B-4A3B-8EBD-AE87143F7E13}"/>
              </a:ext>
            </a:extLst>
          </p:cNvPr>
          <p:cNvSpPr>
            <a:spLocks xmlns:a="http://schemas.openxmlformats.org/drawingml/2006/main" noGrp="1"/>
          </p:cNvSpPr>
          <p:nvPr/>
        </p:nvSpPr>
        <p:spPr>
          <a:xfrm xmlns:a="http://schemas.openxmlformats.org/drawingml/2006/main">
            <a:off x="571500" y="4962525"/>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950" b="0">
                <a:solidFill>
                  <a:srgbClr val="152E38"/>
                </a:solidFill>
                <a:latin typeface="Arial"/>
                <a:ea typeface="Arial"/>
                <a:cs typeface="Arial"/>
              </a:defRPr>
            </a:pPr>
            <a:r>
              <a:rPr sz="1950" b="0">
                <a:solidFill>
                  <a:srgbClr val="152E38"/>
                </a:solidFill>
                <a:latin typeface="Arial"/>
                <a:ea typeface="Arial"/>
                <a:cs typeface="Arial"/>
              </a:rPr>
              <a:t>TF: repetition within a program. IDF: less weight for widespread patterns.</a:t>
            </a:r>
          </a:p>
          <a:p xmlns:a="http://schemas.openxmlformats.org/drawingml/2006/main">
            <a:pPr>
              <a:defRPr sz="1950" b="0">
                <a:solidFill>
                  <a:srgbClr val="152E38"/>
                </a:solidFill>
                <a:latin typeface="Arial"/>
                <a:ea typeface="Arial"/>
                <a:cs typeface="Arial"/>
              </a:defRPr>
            </a:pPr>
            <a:r>
              <a:rPr sz="1950" b="0">
                <a:solidFill>
                  <a:srgbClr val="152E38"/>
                </a:solidFill>
                <a:latin typeface="Arial"/>
                <a:ea typeface="Arial"/>
                <a:cs typeface="Arial"/>
              </a:rPr>
              <a:t>Fit vocabulary and IDF on training only; transform validation and test.</a:t>
            </a:r>
          </a:p>
        </p:txBody>
      </p:sp>
      <p:sp>
        <p:nvSpPr>
          <p:cNvPr id="6" name="">
            <a:extLst xmlns:a="http://schemas.openxmlformats.org/drawingml/2006/main">
              <a:ext uri="{FF2B5EF4-FFF2-40B4-BE49-F238E27FC236}">
                <a16:creationId xmlns:a16="http://schemas.microsoft.com/office/drawing/2014/main" id="{36F9D14E-75A9-4EA5-B806-7DE16B2E0057}"/>
              </a:ext>
            </a:extLst>
          </p:cNvPr>
          <p:cNvSpPr>
            <a:spLocks xmlns:a="http://schemas.openxmlformats.org/drawingml/2006/main" noGrp="1"/>
          </p:cNvSpPr>
          <p:nvPr/>
        </p:nvSpPr>
        <p:spPr>
          <a:xfrm xmlns:a="http://schemas.openxmlformats.org/drawingml/2006/main">
            <a:off x="571500" y="5905500"/>
            <a:ext cx="1104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50636B"/>
                </a:solidFill>
                <a:latin typeface="Arial"/>
                <a:ea typeface="Arial"/>
                <a:cs typeface="Arial"/>
              </a:defRPr>
            </a:pPr>
            <a:r>
              <a:rPr sz="1800" b="0">
                <a:solidFill>
                  <a:srgbClr val="50636B"/>
                </a:solidFill>
                <a:latin typeface="Arial"/>
                <a:ea typeface="Arial"/>
                <a:cs typeface="Arial"/>
              </a:rPr>
              <a:t>259 inferred task groups stay together. No exact code/prompt overlap.</a:t>
            </a:r>
          </a:p>
          <a:p xmlns:a="http://schemas.openxmlformats.org/drawingml/2006/main">
            <a:pPr>
              <a:defRPr sz="1800" b="0">
                <a:solidFill>
                  <a:srgbClr val="50636B"/>
                </a:solidFill>
                <a:latin typeface="Arial"/>
                <a:ea typeface="Arial"/>
                <a:cs typeface="Arial"/>
              </a:defRPr>
            </a:pPr>
            <a:r>
              <a:rPr sz="1800" b="0">
                <a:solidFill>
                  <a:srgbClr val="50636B"/>
                </a:solidFill>
                <a:latin typeface="Arial"/>
                <a:ea typeface="Arial"/>
                <a:cs typeface="Arial"/>
              </a:rPr>
              <a:t>No empty programs or exact duplicates. Semantic overlap may remain.</a:t>
            </a:r>
          </a:p>
        </p:txBody>
      </p:sp>
    </p:spTree>
    <p:extLst>
      <p:ext uri="{BB962C8B-B14F-4D97-AF65-F5344CB8AC3E}">
        <p14:creationId xmlns:p14="http://schemas.microsoft.com/office/powerpoint/2010/main" val="371595411"/>
      </p:ext>
    </p:extLst>
  </p:cSld>
</p:sld>
</file>

<file path=ppt/slides/slide3.xml><?xml version="1.0" encoding="utf-8"?>
<p:sld xmlns:p="http://schemas.openxmlformats.org/presentationml/2006/main">
  <p:cSld>
    <p:bg>
      <p:bgPr>
        <a:solidFill xmlns:a="http://schemas.openxmlformats.org/drawingml/2006/main">
          <a:srgbClr val="F7FAFA"/>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C79DB08-0376-4161-A63C-9EF54AC634BE}"/>
              </a:ext>
            </a:extLst>
          </p:cNvPr>
          <p:cNvSpPr>
            <a:spLocks xmlns:a="http://schemas.openxmlformats.org/drawingml/2006/main" noGrp="1"/>
          </p:cNvSpPr>
          <p:nvPr/>
        </p:nvSpPr>
        <p:spPr>
          <a:xfrm xmlns:a="http://schemas.openxmlformats.org/drawingml/2006/main">
            <a:off x="571500" y="400050"/>
            <a:ext cx="11049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E38"/>
                </a:solidFill>
                <a:latin typeface="Arial"/>
                <a:ea typeface="Arial"/>
                <a:cs typeface="Arial"/>
              </a:defRPr>
            </a:pPr>
            <a:r>
              <a:rPr sz="3300" b="1">
                <a:solidFill>
                  <a:srgbClr val="152E38"/>
                </a:solidFill>
                <a:latin typeface="Arial"/>
                <a:ea typeface="Arial"/>
                <a:cs typeface="Arial"/>
              </a:rPr>
              <a:t>Model choices: baseline, linear, trees and transfer</a:t>
            </a:r>
          </a:p>
        </p:txBody>
      </p:sp>
      <p:graphicFrame>
        <p:nvGraphicFramePr>
          <p:cNvPr id="7" name=""/>
          <p:cNvGraphicFramePr/>
          <p:nvPr/>
        </p:nvGraphicFramePr>
        <p:xfrm>
          <a:off xmlns:a="http://schemas.openxmlformats.org/drawingml/2006/main" x="571500" y="1314450"/>
          <a:ext xmlns:a="http://schemas.openxmlformats.org/drawingml/2006/main" cx="11049000" cy="2809875"/>
        </p:xfrm>
        <a:graphic xmlns:a="http://schemas.openxmlformats.org/drawingml/2006/main">
          <a:graphicData uri="http://schemas.openxmlformats.org/drawingml/2006/table">
            <a:tbl>
              <a:tblPr/>
              <a:tblGrid>
                <a:gridCol w="3048000"/>
                <a:gridCol w="8001000"/>
              </a:tblGrid>
              <a:tr h="468313">
                <a:tc>
                  <a:txBody>
                    <a:bodyPr>
                      <a:noAutofit/>
                    </a:bodyPr>
                    <a:lstStyle/>
                    <a:p>
                      <a:pPr algn="l"/>
                      <a:r>
                        <a:rPr sz="1800" b="1">
                          <a:solidFill>
                            <a:srgbClr val="FFFFFF"/>
                          </a:solidFill>
                          <a:latin typeface="Arial"/>
                          <a:ea typeface="Arial"/>
                          <a:cs typeface="Arial"/>
                        </a:rPr>
                        <a:t>Model</a:t>
                      </a:r>
                    </a:p>
                  </a:txBody>
                  <a:tcPr marL="91440" marR="91440" marT="45720" marB="45720">
                    <a:solidFill>
                      <a:srgbClr val="152E38"/>
                    </a:solidFill>
                  </a:tcPr>
                </a:tc>
                <a:tc>
                  <a:txBody>
                    <a:bodyPr>
                      <a:noAutofit/>
                    </a:bodyPr>
                    <a:lstStyle/>
                    <a:p>
                      <a:pPr algn="ctr"/>
                      <a:r>
                        <a:rPr sz="1800" b="1">
                          <a:solidFill>
                            <a:srgbClr val="FFFFFF"/>
                          </a:solidFill>
                          <a:latin typeface="Arial"/>
                          <a:ea typeface="Arial"/>
                          <a:cs typeface="Arial"/>
                        </a:rPr>
                        <a:t>Why include it?</a:t>
                      </a:r>
                    </a:p>
                  </a:txBody>
                  <a:tcPr marL="91440" marR="91440" marT="45720" marB="45720">
                    <a:solidFill>
                      <a:srgbClr val="152E38"/>
                    </a:solidFill>
                  </a:tcPr>
                </a:tc>
              </a:tr>
              <a:tr h="468313">
                <a:tc>
                  <a:txBody>
                    <a:bodyPr>
                      <a:noAutofit/>
                    </a:bodyPr>
                    <a:lstStyle/>
                    <a:p>
                      <a:pPr algn="l"/>
                      <a:r>
                        <a:rPr sz="1875" b="0">
                          <a:solidFill>
                            <a:srgbClr val="152E38"/>
                          </a:solidFill>
                          <a:latin typeface="Arial"/>
                          <a:ea typeface="Arial"/>
                          <a:cs typeface="Arial"/>
                        </a:rPr>
                        <a:t>Naive Bayes</a:t>
                      </a:r>
                    </a:p>
                  </a:txBody>
                  <a:tcPr marL="91440" marR="91440" marT="45720" marB="45720">
                    <a:solidFill>
                      <a:srgbClr val="FFFFFF"/>
                    </a:solidFill>
                  </a:tcPr>
                </a:tc>
                <a:tc>
                  <a:txBody>
                    <a:bodyPr>
                      <a:noAutofit/>
                    </a:bodyPr>
                    <a:lstStyle/>
                    <a:p>
                      <a:pPr algn="ctr"/>
                      <a:r>
                        <a:rPr sz="1875" b="0">
                          <a:solidFill>
                            <a:srgbClr val="152E38"/>
                          </a:solidFill>
                          <a:latin typeface="Arial"/>
                          <a:ea typeface="Arial"/>
                          <a:cs typeface="Arial"/>
                        </a:rPr>
                        <a:t>Simple probabilistic baseline</a:t>
                      </a:r>
                    </a:p>
                  </a:txBody>
                  <a:tcPr marL="91440" marR="91440" marT="45720" marB="45720">
                    <a:solidFill>
                      <a:srgbClr val="FFFFFF"/>
                    </a:solidFill>
                  </a:tcPr>
                </a:tc>
              </a:tr>
              <a:tr h="468313">
                <a:tc>
                  <a:txBody>
                    <a:bodyPr>
                      <a:noAutofit/>
                    </a:bodyPr>
                    <a:lstStyle/>
                    <a:p>
                      <a:pPr algn="l"/>
                      <a:r>
                        <a:rPr sz="1875" b="0">
                          <a:solidFill>
                            <a:srgbClr val="152E38"/>
                          </a:solidFill>
                          <a:latin typeface="Arial"/>
                          <a:ea typeface="Arial"/>
                          <a:cs typeface="Arial"/>
                        </a:rPr>
                        <a:t>Logistic Regression</a:t>
                      </a:r>
                    </a:p>
                  </a:txBody>
                  <a:tcPr marL="91440" marR="91440" marT="45720" marB="45720">
                    <a:solidFill>
                      <a:srgbClr val="FFFFFF"/>
                    </a:solidFill>
                  </a:tcPr>
                </a:tc>
                <a:tc>
                  <a:txBody>
                    <a:bodyPr>
                      <a:noAutofit/>
                    </a:bodyPr>
                    <a:lstStyle/>
                    <a:p>
                      <a:pPr algn="ctr"/>
                      <a:r>
                        <a:rPr sz="1875" b="0">
                          <a:solidFill>
                            <a:srgbClr val="152E38"/>
                          </a:solidFill>
                          <a:latin typeface="Arial"/>
                          <a:ea typeface="Arial"/>
                          <a:cs typeface="Arial"/>
                        </a:rPr>
                        <a:t>Linear probability model</a:t>
                      </a:r>
                    </a:p>
                  </a:txBody>
                  <a:tcPr marL="91440" marR="91440" marT="45720" marB="45720">
                    <a:solidFill>
                      <a:srgbClr val="FFFFFF"/>
                    </a:solidFill>
                  </a:tcPr>
                </a:tc>
              </a:tr>
              <a:tr h="468313">
                <a:tc>
                  <a:txBody>
                    <a:bodyPr>
                      <a:noAutofit/>
                    </a:bodyPr>
                    <a:lstStyle/>
                    <a:p>
                      <a:pPr algn="l"/>
                      <a:r>
                        <a:rPr sz="1875" b="0">
                          <a:solidFill>
                            <a:srgbClr val="152E38"/>
                          </a:solidFill>
                          <a:latin typeface="Arial"/>
                          <a:ea typeface="Arial"/>
                          <a:cs typeface="Arial"/>
                        </a:rPr>
                        <a:t>Linear SVM</a:t>
                      </a:r>
                    </a:p>
                  </a:txBody>
                  <a:tcPr marL="91440" marR="91440" marT="45720" marB="45720">
                    <a:solidFill>
                      <a:srgbClr val="FFFFFF"/>
                    </a:solidFill>
                  </a:tcPr>
                </a:tc>
                <a:tc>
                  <a:txBody>
                    <a:bodyPr>
                      <a:noAutofit/>
                    </a:bodyPr>
                    <a:lstStyle/>
                    <a:p>
                      <a:pPr algn="ctr"/>
                      <a:r>
                        <a:rPr sz="1875" b="0">
                          <a:solidFill>
                            <a:srgbClr val="152E38"/>
                          </a:solidFill>
                          <a:latin typeface="Arial"/>
                          <a:ea typeface="Arial"/>
                          <a:cs typeface="Arial"/>
                        </a:rPr>
                        <a:t>Linear margin model; different training objective</a:t>
                      </a:r>
                    </a:p>
                  </a:txBody>
                  <a:tcPr marL="91440" marR="91440" marT="45720" marB="45720">
                    <a:solidFill>
                      <a:srgbClr val="FFFFFF"/>
                    </a:solidFill>
                  </a:tcPr>
                </a:tc>
              </a:tr>
              <a:tr h="468313">
                <a:tc>
                  <a:txBody>
                    <a:bodyPr>
                      <a:noAutofit/>
                    </a:bodyPr>
                    <a:lstStyle/>
                    <a:p>
                      <a:pPr algn="l"/>
                      <a:r>
                        <a:rPr sz="1875" b="0">
                          <a:solidFill>
                            <a:srgbClr val="152E38"/>
                          </a:solidFill>
                          <a:latin typeface="Arial"/>
                          <a:ea typeface="Arial"/>
                          <a:cs typeface="Arial"/>
                        </a:rPr>
                        <a:t>Random Forest</a:t>
                      </a:r>
                    </a:p>
                  </a:txBody>
                  <a:tcPr marL="91440" marR="91440" marT="45720" marB="45720">
                    <a:solidFill>
                      <a:srgbClr val="FFFFFF"/>
                    </a:solidFill>
                  </a:tcPr>
                </a:tc>
                <a:tc>
                  <a:txBody>
                    <a:bodyPr>
                      <a:noAutofit/>
                    </a:bodyPr>
                    <a:lstStyle/>
                    <a:p>
                      <a:pPr algn="ctr"/>
                      <a:r>
                        <a:rPr sz="1875" b="0">
                          <a:solidFill>
                            <a:srgbClr val="152E38"/>
                          </a:solidFill>
                          <a:latin typeface="Arial"/>
                          <a:ea typeface="Arial"/>
                          <a:cs typeface="Arial"/>
                        </a:rPr>
                        <a:t>Nonlinear ensemble of 150 decision trees</a:t>
                      </a:r>
                    </a:p>
                  </a:txBody>
                  <a:tcPr marL="91440" marR="91440" marT="45720" marB="45720">
                    <a:solidFill>
                      <a:srgbClr val="FFFFFF"/>
                    </a:solidFill>
                  </a:tcPr>
                </a:tc>
              </a:tr>
              <a:tr h="468313">
                <a:tc>
                  <a:txBody>
                    <a:bodyPr>
                      <a:noAutofit/>
                    </a:bodyPr>
                    <a:lstStyle/>
                    <a:p>
                      <a:pPr algn="l"/>
                      <a:r>
                        <a:rPr sz="1875" b="0">
                          <a:solidFill>
                            <a:srgbClr val="152E38"/>
                          </a:solidFill>
                          <a:latin typeface="Arial"/>
                          <a:ea typeface="Arial"/>
                          <a:cs typeface="Arial"/>
                        </a:rPr>
                        <a:t>CodeT5 encoder</a:t>
                      </a:r>
                    </a:p>
                  </a:txBody>
                  <a:tcPr marL="91440" marR="91440" marT="45720" marB="45720">
                    <a:solidFill>
                      <a:srgbClr val="FFFFFF"/>
                    </a:solidFill>
                  </a:tcPr>
                </a:tc>
                <a:tc>
                  <a:txBody>
                    <a:bodyPr>
                      <a:noAutofit/>
                    </a:bodyPr>
                    <a:lstStyle/>
                    <a:p>
                      <a:pPr algn="ctr"/>
                      <a:r>
                        <a:rPr sz="1875" b="0">
                          <a:solidFill>
                            <a:srgbClr val="152E38"/>
                          </a:solidFill>
                          <a:latin typeface="Arial"/>
                          <a:ea typeface="Arial"/>
                          <a:cs typeface="Arial"/>
                        </a:rPr>
                        <a:t>Pretrained code representation with a learned class head</a:t>
                      </a:r>
                    </a:p>
                  </a:txBody>
                  <a:tcPr marL="91440" marR="91440" marT="45720" marB="45720">
                    <a:solidFill>
                      <a:srgbClr val="FFFFFF"/>
                    </a:solidFill>
                  </a:tcPr>
                </a:tc>
              </a:tr>
            </a:tbl>
          </a:graphicData>
        </a:graphic>
      </p:graphicFrame>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73baf8e432f14494"/>
          <a:stretch xmlns:a="http://schemas.openxmlformats.org/drawingml/2006/main"/>
        </p:blipFill>
        <p:spPr>
          <a:xfrm xmlns:a="http://schemas.openxmlformats.org/drawingml/2006/main">
            <a:off x="3117152" y="4314825"/>
            <a:ext cx="5957695" cy="80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6C926EA-3DF5-4AD1-B6E4-362BFB6A2DE8}"/>
              </a:ext>
            </a:extLst>
          </p:cNvPr>
          <p:cNvSpPr>
            <a:spLocks xmlns:a="http://schemas.openxmlformats.org/drawingml/2006/main" noGrp="1"/>
          </p:cNvSpPr>
          <p:nvPr/>
        </p:nvSpPr>
        <p:spPr>
          <a:xfrm xmlns:a="http://schemas.openxmlformats.org/drawingml/2006/main">
            <a:off x="571500" y="5248275"/>
            <a:ext cx="11049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0">
                <a:solidFill>
                  <a:srgbClr val="152E38"/>
                </a:solidFill>
                <a:latin typeface="Arial"/>
                <a:ea typeface="Arial"/>
                <a:cs typeface="Arial"/>
              </a:defRPr>
            </a:pPr>
            <a:r>
              <a:rPr sz="1875" b="0">
                <a:solidFill>
                  <a:srgbClr val="152E38"/>
                </a:solidFill>
                <a:latin typeface="Arial"/>
                <a:ea typeface="Arial"/>
                <a:cs typeface="Arial"/>
              </a:rPr>
              <a:t>SVM: x = TF-IDF features, w = learned weights, b = offset.</a:t>
            </a:r>
          </a:p>
          <a:p xmlns:a="http://schemas.openxmlformats.org/drawingml/2006/main">
            <a:pPr>
              <a:defRPr sz="1875" b="0">
                <a:solidFill>
                  <a:srgbClr val="152E38"/>
                </a:solidFill>
                <a:latin typeface="Arial"/>
                <a:ea typeface="Arial"/>
                <a:cs typeface="Arial"/>
              </a:defRPr>
            </a:pPr>
            <a:r>
              <a:rPr sz="1875" b="0">
                <a:solidFill>
                  <a:srgbClr val="152E38"/>
                </a:solidFill>
                <a:latin typeface="Arial"/>
                <a:ea typeface="Arial"/>
                <a:cs typeface="Arial"/>
              </a:rPr>
              <a:t>Train one author against the rest; predict the largest of five scores.</a:t>
            </a:r>
          </a:p>
        </p:txBody>
      </p:sp>
      <p:sp>
        <p:nvSpPr>
          <p:cNvPr id="5" name="">
            <a:extLst xmlns:a="http://schemas.openxmlformats.org/drawingml/2006/main">
              <a:ext uri="{FF2B5EF4-FFF2-40B4-BE49-F238E27FC236}">
                <a16:creationId xmlns:a16="http://schemas.microsoft.com/office/drawing/2014/main" id="{D4AC67B0-8C2D-4F56-A0B0-C46FC63DE428}"/>
              </a:ext>
            </a:extLst>
          </p:cNvPr>
          <p:cNvSpPr>
            <a:spLocks xmlns:a="http://schemas.openxmlformats.org/drawingml/2006/main" noGrp="1"/>
          </p:cNvSpPr>
          <p:nvPr/>
        </p:nvSpPr>
        <p:spPr>
          <a:xfrm xmlns:a="http://schemas.openxmlformats.org/drawingml/2006/main">
            <a:off x="571500" y="6038850"/>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117C83"/>
                </a:solidFill>
                <a:latin typeface="Arial"/>
                <a:ea typeface="Arial"/>
                <a:cs typeface="Arial"/>
              </a:defRPr>
            </a:pPr>
            <a:r>
              <a:rPr sz="1725" b="0">
                <a:solidFill>
                  <a:srgbClr val="117C83"/>
                </a:solidFill>
                <a:latin typeface="Arial"/>
                <a:ea typeface="Arial"/>
                <a:cs typeface="Arial"/>
              </a:rPr>
              <a:t>CodeT5: first 256 tokens, mean pooling, dropout and a five-class head.</a:t>
            </a:r>
          </a:p>
          <a:p xmlns:a="http://schemas.openxmlformats.org/drawingml/2006/main">
            <a:pPr>
              <a:defRPr sz="1725" b="0">
                <a:solidFill>
                  <a:srgbClr val="117C83"/>
                </a:solidFill>
                <a:latin typeface="Arial"/>
                <a:ea typeface="Arial"/>
                <a:cs typeface="Arial"/>
              </a:defRPr>
            </a:pPr>
            <a:r>
              <a:rPr sz="1725" b="0">
                <a:solidFill>
                  <a:srgbClr val="117C83"/>
                </a:solidFill>
                <a:latin typeface="Arial"/>
                <a:ea typeface="Arial"/>
                <a:cs typeface="Arial"/>
              </a:rPr>
              <a:t>Five epochs on A100; validation selected epoch 3. Encoder and head fine-tuned.</a:t>
            </a:r>
          </a:p>
        </p:txBody>
      </p:sp>
    </p:spTree>
    <p:extLst>
      <p:ext uri="{BB962C8B-B14F-4D97-AF65-F5344CB8AC3E}">
        <p14:creationId xmlns:p14="http://schemas.microsoft.com/office/powerpoint/2010/main" val="1116935472"/>
      </p:ext>
    </p:extLst>
  </p:cSld>
</p:sld>
</file>

<file path=ppt/slides/slide4.xml><?xml version="1.0" encoding="utf-8"?>
<p:sld xmlns:p="http://schemas.openxmlformats.org/presentationml/2006/main">
  <p:cSld>
    <p:bg>
      <p:bgPr>
        <a:solidFill xmlns:a="http://schemas.openxmlformats.org/drawingml/2006/main">
          <a:srgbClr val="F7FAF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EC03B84-EE9A-4B63-9250-0D38A6B55A5E}"/>
              </a:ext>
            </a:extLst>
          </p:cNvPr>
          <p:cNvSpPr>
            <a:spLocks xmlns:a="http://schemas.openxmlformats.org/drawingml/2006/main" noGrp="1"/>
          </p:cNvSpPr>
          <p:nvPr/>
        </p:nvSpPr>
        <p:spPr>
          <a:xfrm xmlns:a="http://schemas.openxmlformats.org/drawingml/2006/main">
            <a:off x="571500" y="400050"/>
            <a:ext cx="11049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E38"/>
                </a:solidFill>
                <a:latin typeface="Arial"/>
                <a:ea typeface="Arial"/>
                <a:cs typeface="Arial"/>
              </a:defRPr>
            </a:pPr>
            <a:r>
              <a:rPr sz="3300" b="1">
                <a:solidFill>
                  <a:srgbClr val="152E38"/>
                </a:solidFill>
                <a:latin typeface="Arial"/>
                <a:ea typeface="Arial"/>
                <a:cs typeface="Arial"/>
              </a:rPr>
              <a:t>SVM leads; CodeT5 places second</a:t>
            </a:r>
          </a:p>
        </p:txBody>
      </p:sp>
      <p:graphicFrame>
        <p:nvGraphicFramePr>
          <p:cNvPr id="8" name=""/>
          <p:cNvGraphicFramePr/>
          <p:nvPr/>
        </p:nvGraphicFramePr>
        <p:xfrm>
          <a:off xmlns:a="http://schemas.openxmlformats.org/drawingml/2006/main" x="476250" y="1362075"/>
          <a:ext xmlns:a="http://schemas.openxmlformats.org/drawingml/2006/main" cx="6762750" cy="3095625"/>
        </p:xfrm>
        <a:graphic xmlns:a="http://schemas.openxmlformats.org/drawingml/2006/main">
          <a:graphicData uri="http://schemas.openxmlformats.org/drawingml/2006/table">
            <a:tbl>
              <a:tblPr/>
              <a:tblGrid>
                <a:gridCol w="2476500"/>
                <a:gridCol w="1143000"/>
                <a:gridCol w="1238250"/>
                <a:gridCol w="952500"/>
                <a:gridCol w="952500"/>
              </a:tblGrid>
              <a:tr h="515938">
                <a:tc>
                  <a:txBody>
                    <a:bodyPr>
                      <a:noAutofit/>
                    </a:bodyPr>
                    <a:lstStyle/>
                    <a:p>
                      <a:pPr algn="l"/>
                      <a:r>
                        <a:rPr sz="1650" b="1">
                          <a:solidFill>
                            <a:srgbClr val="FFFFFF"/>
                          </a:solidFill>
                          <a:latin typeface="Arial"/>
                          <a:ea typeface="Arial"/>
                          <a:cs typeface="Arial"/>
                        </a:rPr>
                        <a:t>Model</a:t>
                      </a:r>
                    </a:p>
                  </a:txBody>
                  <a:tcPr marL="91440" marR="91440" marT="45720" marB="45720">
                    <a:solidFill>
                      <a:srgbClr val="152E38"/>
                    </a:solidFill>
                  </a:tcPr>
                </a:tc>
                <a:tc>
                  <a:txBody>
                    <a:bodyPr>
                      <a:noAutofit/>
                    </a:bodyPr>
                    <a:lstStyle/>
                    <a:p>
                      <a:pPr algn="ctr"/>
                      <a:r>
                        <a:rPr sz="1650" b="1">
                          <a:solidFill>
                            <a:srgbClr val="FFFFFF"/>
                          </a:solidFill>
                          <a:latin typeface="Arial"/>
                          <a:ea typeface="Arial"/>
                          <a:cs typeface="Arial"/>
                        </a:rPr>
                        <a:t>Accuracy</a:t>
                      </a:r>
                    </a:p>
                  </a:txBody>
                  <a:tcPr marL="91440" marR="91440" marT="45720" marB="45720">
                    <a:solidFill>
                      <a:srgbClr val="152E38"/>
                    </a:solidFill>
                  </a:tcPr>
                </a:tc>
                <a:tc>
                  <a:txBody>
                    <a:bodyPr>
                      <a:noAutofit/>
                    </a:bodyPr>
                    <a:lstStyle/>
                    <a:p>
                      <a:pPr algn="ctr"/>
                      <a:r>
                        <a:rPr sz="1650" b="1">
                          <a:solidFill>
                            <a:srgbClr val="FFFFFF"/>
                          </a:solidFill>
                          <a:latin typeface="Arial"/>
                          <a:ea typeface="Arial"/>
                          <a:cs typeface="Arial"/>
                        </a:rPr>
                        <a:t>Macro-F1</a:t>
                      </a:r>
                    </a:p>
                  </a:txBody>
                  <a:tcPr marL="91440" marR="91440" marT="45720" marB="45720">
                    <a:solidFill>
                      <a:srgbClr val="152E38"/>
                    </a:solidFill>
                  </a:tcPr>
                </a:tc>
                <a:tc>
                  <a:txBody>
                    <a:bodyPr>
                      <a:noAutofit/>
                    </a:bodyPr>
                    <a:lstStyle/>
                    <a:p>
                      <a:pPr algn="ctr"/>
                      <a:r>
                        <a:rPr sz="1650" b="1">
                          <a:solidFill>
                            <a:srgbClr val="FFFFFF"/>
                          </a:solidFill>
                          <a:latin typeface="Arial"/>
                          <a:ea typeface="Arial"/>
                          <a:cs typeface="Arial"/>
                        </a:rPr>
                        <a:t>Time (s)</a:t>
                      </a:r>
                    </a:p>
                  </a:txBody>
                  <a:tcPr marL="91440" marR="91440" marT="45720" marB="45720">
                    <a:solidFill>
                      <a:srgbClr val="152E38"/>
                    </a:solidFill>
                  </a:tcPr>
                </a:tc>
                <a:tc>
                  <a:txBody>
                    <a:bodyPr>
                      <a:noAutofit/>
                    </a:bodyPr>
                    <a:lstStyle/>
                    <a:p>
                      <a:pPr algn="ctr"/>
                      <a:r>
                        <a:rPr sz="1650" b="1">
                          <a:solidFill>
                            <a:srgbClr val="FFFFFF"/>
                          </a:solidFill>
                          <a:latin typeface="Arial"/>
                          <a:ea typeface="Arial"/>
                          <a:cs typeface="Arial"/>
                        </a:rPr>
                        <a:t>MB</a:t>
                      </a:r>
                    </a:p>
                  </a:txBody>
                  <a:tcPr marL="91440" marR="91440" marT="45720" marB="45720">
                    <a:solidFill>
                      <a:srgbClr val="152E38"/>
                    </a:solidFill>
                  </a:tcPr>
                </a:tc>
              </a:tr>
              <a:tr h="515938">
                <a:tc>
                  <a:txBody>
                    <a:bodyPr>
                      <a:noAutofit/>
                    </a:bodyPr>
                    <a:lstStyle/>
                    <a:p>
                      <a:pPr algn="l"/>
                      <a:r>
                        <a:rPr sz="1725" b="0">
                          <a:solidFill>
                            <a:srgbClr val="152E38"/>
                          </a:solidFill>
                          <a:latin typeface="Arial"/>
                          <a:ea typeface="Arial"/>
                          <a:cs typeface="Arial"/>
                        </a:rPr>
                        <a:t>Naive Bayes</a:t>
                      </a:r>
                    </a:p>
                  </a:txBody>
                  <a:tcPr marL="91440" marR="91440" marT="45720" marB="45720">
                    <a:solidFill>
                      <a:srgbClr val="FFFFFF"/>
                    </a:solidFill>
                  </a:tcPr>
                </a:tc>
                <a:tc>
                  <a:txBody>
                    <a:bodyPr>
                      <a:noAutofit/>
                    </a:bodyPr>
                    <a:lstStyle/>
                    <a:p>
                      <a:pPr algn="ctr"/>
                      <a:r>
                        <a:rPr sz="1725" b="0">
                          <a:solidFill>
                            <a:srgbClr val="152E38"/>
                          </a:solidFill>
                          <a:latin typeface="Arial"/>
                          <a:ea typeface="Arial"/>
                          <a:cs typeface="Arial"/>
                        </a:rPr>
                        <a:t>62.68%</a:t>
                      </a:r>
                    </a:p>
                  </a:txBody>
                  <a:tcPr marL="91440" marR="91440" marT="45720" marB="45720">
                    <a:solidFill>
                      <a:srgbClr val="FFFFFF"/>
                    </a:solidFill>
                  </a:tcPr>
                </a:tc>
                <a:tc>
                  <a:txBody>
                    <a:bodyPr>
                      <a:noAutofit/>
                    </a:bodyPr>
                    <a:lstStyle/>
                    <a:p>
                      <a:pPr algn="ctr"/>
                      <a:r>
                        <a:rPr sz="1725" b="0">
                          <a:solidFill>
                            <a:srgbClr val="152E38"/>
                          </a:solidFill>
                          <a:latin typeface="Arial"/>
                          <a:ea typeface="Arial"/>
                          <a:cs typeface="Arial"/>
                        </a:rPr>
                        <a:t>0.6278</a:t>
                      </a:r>
                    </a:p>
                  </a:txBody>
                  <a:tcPr marL="91440" marR="91440" marT="45720" marB="45720">
                    <a:solidFill>
                      <a:srgbClr val="FFFFFF"/>
                    </a:solidFill>
                  </a:tcPr>
                </a:tc>
                <a:tc>
                  <a:txBody>
                    <a:bodyPr>
                      <a:noAutofit/>
                    </a:bodyPr>
                    <a:lstStyle/>
                    <a:p>
                      <a:pPr algn="ctr"/>
                      <a:r>
                        <a:rPr sz="1725" b="0">
                          <a:solidFill>
                            <a:srgbClr val="152E38"/>
                          </a:solidFill>
                          <a:latin typeface="Arial"/>
                          <a:ea typeface="Arial"/>
                          <a:cs typeface="Arial"/>
                        </a:rPr>
                        <a:t>0.12</a:t>
                      </a:r>
                    </a:p>
                  </a:txBody>
                  <a:tcPr marL="91440" marR="91440" marT="45720" marB="45720">
                    <a:solidFill>
                      <a:srgbClr val="FFFFFF"/>
                    </a:solidFill>
                  </a:tcPr>
                </a:tc>
                <a:tc>
                  <a:txBody>
                    <a:bodyPr>
                      <a:noAutofit/>
                    </a:bodyPr>
                    <a:lstStyle/>
                    <a:p>
                      <a:pPr algn="ctr"/>
                      <a:r>
                        <a:rPr sz="1725" b="0">
                          <a:solidFill>
                            <a:srgbClr val="152E38"/>
                          </a:solidFill>
                          <a:latin typeface="Arial"/>
                          <a:ea typeface="Arial"/>
                          <a:cs typeface="Arial"/>
                        </a:rPr>
                        <a:t>2.898</a:t>
                      </a:r>
                    </a:p>
                  </a:txBody>
                  <a:tcPr marL="91440" marR="91440" marT="45720" marB="45720">
                    <a:solidFill>
                      <a:srgbClr val="FFFFFF"/>
                    </a:solidFill>
                  </a:tcPr>
                </a:tc>
              </a:tr>
              <a:tr h="515938">
                <a:tc>
                  <a:txBody>
                    <a:bodyPr>
                      <a:noAutofit/>
                    </a:bodyPr>
                    <a:lstStyle/>
                    <a:p>
                      <a:pPr algn="l"/>
                      <a:r>
                        <a:rPr sz="1725" b="0">
                          <a:solidFill>
                            <a:srgbClr val="152E38"/>
                          </a:solidFill>
                          <a:latin typeface="Arial"/>
                          <a:ea typeface="Arial"/>
                          <a:cs typeface="Arial"/>
                        </a:rPr>
                        <a:t>Logistic Regression</a:t>
                      </a:r>
                    </a:p>
                  </a:txBody>
                  <a:tcPr marL="91440" marR="91440" marT="45720" marB="45720">
                    <a:solidFill>
                      <a:srgbClr val="FFFFFF"/>
                    </a:solidFill>
                  </a:tcPr>
                </a:tc>
                <a:tc>
                  <a:txBody>
                    <a:bodyPr>
                      <a:noAutofit/>
                    </a:bodyPr>
                    <a:lstStyle/>
                    <a:p>
                      <a:pPr algn="ctr"/>
                      <a:r>
                        <a:rPr sz="1725" b="0">
                          <a:solidFill>
                            <a:srgbClr val="152E38"/>
                          </a:solidFill>
                          <a:latin typeface="Arial"/>
                          <a:ea typeface="Arial"/>
                          <a:cs typeface="Arial"/>
                        </a:rPr>
                        <a:t>76.89%</a:t>
                      </a:r>
                    </a:p>
                  </a:txBody>
                  <a:tcPr marL="91440" marR="91440" marT="45720" marB="45720">
                    <a:solidFill>
                      <a:srgbClr val="FFFFFF"/>
                    </a:solidFill>
                  </a:tcPr>
                </a:tc>
                <a:tc>
                  <a:txBody>
                    <a:bodyPr>
                      <a:noAutofit/>
                    </a:bodyPr>
                    <a:lstStyle/>
                    <a:p>
                      <a:pPr algn="ctr"/>
                      <a:r>
                        <a:rPr sz="1725" b="0">
                          <a:solidFill>
                            <a:srgbClr val="152E38"/>
                          </a:solidFill>
                          <a:latin typeface="Arial"/>
                          <a:ea typeface="Arial"/>
                          <a:cs typeface="Arial"/>
                        </a:rPr>
                        <a:t>0.7704</a:t>
                      </a:r>
                    </a:p>
                  </a:txBody>
                  <a:tcPr marL="91440" marR="91440" marT="45720" marB="45720">
                    <a:solidFill>
                      <a:srgbClr val="FFFFFF"/>
                    </a:solidFill>
                  </a:tcPr>
                </a:tc>
                <a:tc>
                  <a:txBody>
                    <a:bodyPr>
                      <a:noAutofit/>
                    </a:bodyPr>
                    <a:lstStyle/>
                    <a:p>
                      <a:pPr algn="ctr"/>
                      <a:r>
                        <a:rPr sz="1725" b="0">
                          <a:solidFill>
                            <a:srgbClr val="152E38"/>
                          </a:solidFill>
                          <a:latin typeface="Arial"/>
                          <a:ea typeface="Arial"/>
                          <a:cs typeface="Arial"/>
                        </a:rPr>
                        <a:t>15.17</a:t>
                      </a:r>
                    </a:p>
                  </a:txBody>
                  <a:tcPr marL="91440" marR="91440" marT="45720" marB="45720">
                    <a:solidFill>
                      <a:srgbClr val="FFFFFF"/>
                    </a:solidFill>
                  </a:tcPr>
                </a:tc>
                <a:tc>
                  <a:txBody>
                    <a:bodyPr>
                      <a:noAutofit/>
                    </a:bodyPr>
                    <a:lstStyle/>
                    <a:p>
                      <a:pPr algn="ctr"/>
                      <a:r>
                        <a:rPr sz="1725" b="0">
                          <a:solidFill>
                            <a:srgbClr val="152E38"/>
                          </a:solidFill>
                          <a:latin typeface="Arial"/>
                          <a:ea typeface="Arial"/>
                          <a:cs typeface="Arial"/>
                        </a:rPr>
                        <a:t>0.863</a:t>
                      </a:r>
                    </a:p>
                  </a:txBody>
                  <a:tcPr marL="91440" marR="91440" marT="45720" marB="45720">
                    <a:solidFill>
                      <a:srgbClr val="FFFFFF"/>
                    </a:solidFill>
                  </a:tcPr>
                </a:tc>
              </a:tr>
              <a:tr h="515938">
                <a:tc>
                  <a:txBody>
                    <a:bodyPr>
                      <a:noAutofit/>
                    </a:bodyPr>
                    <a:lstStyle/>
                    <a:p>
                      <a:pPr algn="l"/>
                      <a:r>
                        <a:rPr sz="1725" b="1">
                          <a:solidFill>
                            <a:srgbClr val="152E38"/>
                          </a:solidFill>
                          <a:latin typeface="Arial"/>
                          <a:ea typeface="Arial"/>
                          <a:cs typeface="Arial"/>
                        </a:rPr>
                        <a:t>Linear SVM</a:t>
                      </a:r>
                    </a:p>
                  </a:txBody>
                  <a:tcPr marL="91440" marR="91440" marT="45720" marB="45720">
                    <a:solidFill>
                      <a:srgbClr val="E0F0ED"/>
                    </a:solidFill>
                  </a:tcPr>
                </a:tc>
                <a:tc>
                  <a:txBody>
                    <a:bodyPr>
                      <a:noAutofit/>
                    </a:bodyPr>
                    <a:lstStyle/>
                    <a:p>
                      <a:pPr algn="ctr"/>
                      <a:r>
                        <a:rPr sz="1725" b="1">
                          <a:solidFill>
                            <a:srgbClr val="152E38"/>
                          </a:solidFill>
                          <a:latin typeface="Arial"/>
                          <a:ea typeface="Arial"/>
                          <a:cs typeface="Arial"/>
                        </a:rPr>
                        <a:t>79.75%</a:t>
                      </a:r>
                    </a:p>
                  </a:txBody>
                  <a:tcPr marL="91440" marR="91440" marT="45720" marB="45720">
                    <a:solidFill>
                      <a:srgbClr val="E0F0ED"/>
                    </a:solidFill>
                  </a:tcPr>
                </a:tc>
                <a:tc>
                  <a:txBody>
                    <a:bodyPr>
                      <a:noAutofit/>
                    </a:bodyPr>
                    <a:lstStyle/>
                    <a:p>
                      <a:pPr algn="ctr"/>
                      <a:r>
                        <a:rPr sz="1725" b="1">
                          <a:solidFill>
                            <a:srgbClr val="152E38"/>
                          </a:solidFill>
                          <a:latin typeface="Arial"/>
                          <a:ea typeface="Arial"/>
                          <a:cs typeface="Arial"/>
                        </a:rPr>
                        <a:t>0.7970</a:t>
                      </a:r>
                    </a:p>
                  </a:txBody>
                  <a:tcPr marL="91440" marR="91440" marT="45720" marB="45720">
                    <a:solidFill>
                      <a:srgbClr val="E0F0ED"/>
                    </a:solidFill>
                  </a:tcPr>
                </a:tc>
                <a:tc>
                  <a:txBody>
                    <a:bodyPr>
                      <a:noAutofit/>
                    </a:bodyPr>
                    <a:lstStyle/>
                    <a:p>
                      <a:pPr algn="ctr"/>
                      <a:r>
                        <a:rPr sz="1725" b="1">
                          <a:solidFill>
                            <a:srgbClr val="152E38"/>
                          </a:solidFill>
                          <a:latin typeface="Arial"/>
                          <a:ea typeface="Arial"/>
                          <a:cs typeface="Arial"/>
                        </a:rPr>
                        <a:t>5.36</a:t>
                      </a:r>
                    </a:p>
                  </a:txBody>
                  <a:tcPr marL="91440" marR="91440" marT="45720" marB="45720">
                    <a:solidFill>
                      <a:srgbClr val="E0F0ED"/>
                    </a:solidFill>
                  </a:tcPr>
                </a:tc>
                <a:tc>
                  <a:txBody>
                    <a:bodyPr>
                      <a:noAutofit/>
                    </a:bodyPr>
                    <a:lstStyle/>
                    <a:p>
                      <a:pPr algn="ctr"/>
                      <a:r>
                        <a:rPr sz="1725" b="1">
                          <a:solidFill>
                            <a:srgbClr val="152E38"/>
                          </a:solidFill>
                          <a:latin typeface="Arial"/>
                          <a:ea typeface="Arial"/>
                          <a:cs typeface="Arial"/>
                        </a:rPr>
                        <a:t>1.767</a:t>
                      </a:r>
                    </a:p>
                  </a:txBody>
                  <a:tcPr marL="91440" marR="91440" marT="45720" marB="45720">
                    <a:solidFill>
                      <a:srgbClr val="E0F0ED"/>
                    </a:solidFill>
                  </a:tcPr>
                </a:tc>
              </a:tr>
              <a:tr h="515938">
                <a:tc>
                  <a:txBody>
                    <a:bodyPr>
                      <a:noAutofit/>
                    </a:bodyPr>
                    <a:lstStyle/>
                    <a:p>
                      <a:pPr algn="l"/>
                      <a:r>
                        <a:rPr sz="1725" b="0">
                          <a:solidFill>
                            <a:srgbClr val="152E38"/>
                          </a:solidFill>
                          <a:latin typeface="Arial"/>
                          <a:ea typeface="Arial"/>
                          <a:cs typeface="Arial"/>
                        </a:rPr>
                        <a:t>Random Forest</a:t>
                      </a:r>
                    </a:p>
                  </a:txBody>
                  <a:tcPr marL="91440" marR="91440" marT="45720" marB="45720">
                    <a:solidFill>
                      <a:srgbClr val="FFFFFF"/>
                    </a:solidFill>
                  </a:tcPr>
                </a:tc>
                <a:tc>
                  <a:txBody>
                    <a:bodyPr>
                      <a:noAutofit/>
                    </a:bodyPr>
                    <a:lstStyle/>
                    <a:p>
                      <a:pPr algn="ctr"/>
                      <a:r>
                        <a:rPr sz="1725" b="0">
                          <a:solidFill>
                            <a:srgbClr val="152E38"/>
                          </a:solidFill>
                          <a:latin typeface="Arial"/>
                          <a:ea typeface="Arial"/>
                          <a:cs typeface="Arial"/>
                        </a:rPr>
                        <a:t>69.01%</a:t>
                      </a:r>
                    </a:p>
                  </a:txBody>
                  <a:tcPr marL="91440" marR="91440" marT="45720" marB="45720">
                    <a:solidFill>
                      <a:srgbClr val="FFFFFF"/>
                    </a:solidFill>
                  </a:tcPr>
                </a:tc>
                <a:tc>
                  <a:txBody>
                    <a:bodyPr>
                      <a:noAutofit/>
                    </a:bodyPr>
                    <a:lstStyle/>
                    <a:p>
                      <a:pPr algn="ctr"/>
                      <a:r>
                        <a:rPr sz="1725" b="0">
                          <a:solidFill>
                            <a:srgbClr val="152E38"/>
                          </a:solidFill>
                          <a:latin typeface="Arial"/>
                          <a:ea typeface="Arial"/>
                          <a:cs typeface="Arial"/>
                        </a:rPr>
                        <a:t>0.6796</a:t>
                      </a:r>
                    </a:p>
                  </a:txBody>
                  <a:tcPr marL="91440" marR="91440" marT="45720" marB="45720">
                    <a:solidFill>
                      <a:srgbClr val="FFFFFF"/>
                    </a:solidFill>
                  </a:tcPr>
                </a:tc>
                <a:tc>
                  <a:txBody>
                    <a:bodyPr>
                      <a:noAutofit/>
                    </a:bodyPr>
                    <a:lstStyle/>
                    <a:p>
                      <a:pPr algn="ctr"/>
                      <a:r>
                        <a:rPr sz="1725" b="0">
                          <a:solidFill>
                            <a:srgbClr val="152E38"/>
                          </a:solidFill>
                          <a:latin typeface="Arial"/>
                          <a:ea typeface="Arial"/>
                          <a:cs typeface="Arial"/>
                        </a:rPr>
                        <a:t>20.11</a:t>
                      </a:r>
                    </a:p>
                  </a:txBody>
                  <a:tcPr marL="91440" marR="91440" marT="45720" marB="45720">
                    <a:solidFill>
                      <a:srgbClr val="FFFFFF"/>
                    </a:solidFill>
                  </a:tcPr>
                </a:tc>
                <a:tc>
                  <a:txBody>
                    <a:bodyPr>
                      <a:noAutofit/>
                    </a:bodyPr>
                    <a:lstStyle/>
                    <a:p>
                      <a:pPr algn="ctr"/>
                      <a:r>
                        <a:rPr sz="1725" b="0">
                          <a:solidFill>
                            <a:srgbClr val="152E38"/>
                          </a:solidFill>
                          <a:latin typeface="Arial"/>
                          <a:ea typeface="Arial"/>
                          <a:cs typeface="Arial"/>
                        </a:rPr>
                        <a:t>9.935</a:t>
                      </a:r>
                    </a:p>
                  </a:txBody>
                  <a:tcPr marL="91440" marR="91440" marT="45720" marB="45720">
                    <a:solidFill>
                      <a:srgbClr val="FFFFFF"/>
                    </a:solidFill>
                  </a:tcPr>
                </a:tc>
              </a:tr>
              <a:tr h="515938">
                <a:tc>
                  <a:txBody>
                    <a:bodyPr>
                      <a:noAutofit/>
                    </a:bodyPr>
                    <a:lstStyle/>
                    <a:p>
                      <a:pPr algn="l"/>
                      <a:r>
                        <a:rPr sz="1725" b="0">
                          <a:solidFill>
                            <a:srgbClr val="152E38"/>
                          </a:solidFill>
                          <a:latin typeface="Arial"/>
                          <a:ea typeface="Arial"/>
                          <a:cs typeface="Arial"/>
                        </a:rPr>
                        <a:t>CodeT5 encoder</a:t>
                      </a:r>
                    </a:p>
                  </a:txBody>
                  <a:tcPr marL="91440" marR="91440" marT="45720" marB="45720">
                    <a:solidFill>
                      <a:srgbClr val="FFFFFF"/>
                    </a:solidFill>
                  </a:tcPr>
                </a:tc>
                <a:tc>
                  <a:txBody>
                    <a:bodyPr>
                      <a:noAutofit/>
                    </a:bodyPr>
                    <a:lstStyle/>
                    <a:p>
                      <a:pPr algn="ctr"/>
                      <a:r>
                        <a:rPr sz="1725" b="0">
                          <a:solidFill>
                            <a:srgbClr val="152E38"/>
                          </a:solidFill>
                          <a:latin typeface="Arial"/>
                          <a:ea typeface="Arial"/>
                          <a:cs typeface="Arial"/>
                        </a:rPr>
                        <a:t>76.96%</a:t>
                      </a:r>
                    </a:p>
                  </a:txBody>
                  <a:tcPr marL="91440" marR="91440" marT="45720" marB="45720">
                    <a:solidFill>
                      <a:srgbClr val="FFFFFF"/>
                    </a:solidFill>
                  </a:tcPr>
                </a:tc>
                <a:tc>
                  <a:txBody>
                    <a:bodyPr>
                      <a:noAutofit/>
                    </a:bodyPr>
                    <a:lstStyle/>
                    <a:p>
                      <a:pPr algn="ctr"/>
                      <a:r>
                        <a:rPr sz="1725" b="0">
                          <a:solidFill>
                            <a:srgbClr val="152E38"/>
                          </a:solidFill>
                          <a:latin typeface="Arial"/>
                          <a:ea typeface="Arial"/>
                          <a:cs typeface="Arial"/>
                        </a:rPr>
                        <a:t>0.7725</a:t>
                      </a:r>
                    </a:p>
                  </a:txBody>
                  <a:tcPr marL="91440" marR="91440" marT="45720" marB="45720">
                    <a:solidFill>
                      <a:srgbClr val="FFFFFF"/>
                    </a:solidFill>
                  </a:tcPr>
                </a:tc>
                <a:tc>
                  <a:txBody>
                    <a:bodyPr>
                      <a:noAutofit/>
                    </a:bodyPr>
                    <a:lstStyle/>
                    <a:p>
                      <a:pPr algn="ctr"/>
                      <a:r>
                        <a:rPr sz="1725" b="0">
                          <a:solidFill>
                            <a:srgbClr val="152E38"/>
                          </a:solidFill>
                          <a:latin typeface="Arial"/>
                          <a:ea typeface="Arial"/>
                          <a:cs typeface="Arial"/>
                        </a:rPr>
                        <a:t>292*</a:t>
                      </a:r>
                    </a:p>
                  </a:txBody>
                  <a:tcPr marL="91440" marR="91440" marT="45720" marB="45720">
                    <a:solidFill>
                      <a:srgbClr val="FFFFFF"/>
                    </a:solidFill>
                  </a:tcPr>
                </a:tc>
                <a:tc>
                  <a:txBody>
                    <a:bodyPr>
                      <a:noAutofit/>
                    </a:bodyPr>
                    <a:lstStyle/>
                    <a:p>
                      <a:pPr algn="ctr"/>
                      <a:r>
                        <a:rPr sz="1725" b="0">
                          <a:solidFill>
                            <a:srgbClr val="152E38"/>
                          </a:solidFill>
                          <a:latin typeface="Arial"/>
                          <a:ea typeface="Arial"/>
                          <a:cs typeface="Arial"/>
                        </a:rPr>
                        <a:t>438.5*</a:t>
                      </a:r>
                    </a:p>
                  </a:txBody>
                  <a:tcPr marL="91440" marR="91440" marT="45720" marB="45720">
                    <a:solidFill>
                      <a:srgbClr val="FFFFFF"/>
                    </a:solidFill>
                  </a:tcPr>
                </a:tc>
              </a:tr>
            </a:tbl>
          </a:graphicData>
        </a:graphic>
      </p:graphicFrame>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86f8f581dd4940a4"/>
          <a:stretch xmlns:a="http://schemas.openxmlformats.org/drawingml/2006/main"/>
        </p:blipFill>
        <p:spPr>
          <a:xfrm xmlns:a="http://schemas.openxmlformats.org/drawingml/2006/main">
            <a:off x="7410450" y="1228725"/>
            <a:ext cx="4667250" cy="46672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82B65A2-452B-417E-8741-5F8A8018B924}"/>
              </a:ext>
            </a:extLst>
          </p:cNvPr>
          <p:cNvSpPr>
            <a:spLocks xmlns:a="http://schemas.openxmlformats.org/drawingml/2006/main" noGrp="1"/>
          </p:cNvSpPr>
          <p:nvPr/>
        </p:nvSpPr>
        <p:spPr>
          <a:xfrm xmlns:a="http://schemas.openxmlformats.org/drawingml/2006/main">
            <a:off x="571500" y="4676775"/>
            <a:ext cx="666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1">
                <a:solidFill>
                  <a:srgbClr val="117C83"/>
                </a:solidFill>
                <a:latin typeface="Arial"/>
                <a:ea typeface="Arial"/>
                <a:cs typeface="Arial"/>
              </a:defRPr>
            </a:pPr>
            <a:r>
              <a:rPr sz="1800" b="1">
                <a:solidFill>
                  <a:srgbClr val="117C83"/>
                </a:solidFill>
                <a:latin typeface="Arial"/>
                <a:ea typeface="Arial"/>
                <a:cs typeface="Arial"/>
              </a:rPr>
              <a:t>Same 3,872 test programs. SVM validation F1: 0.8062.</a:t>
            </a:r>
          </a:p>
          <a:p xmlns:a="http://schemas.openxmlformats.org/drawingml/2006/main">
            <a:pPr>
              <a:defRPr sz="1800" b="1">
                <a:solidFill>
                  <a:srgbClr val="117C83"/>
                </a:solidFill>
                <a:latin typeface="Arial"/>
                <a:ea typeface="Arial"/>
                <a:cs typeface="Arial"/>
              </a:defRPr>
            </a:pPr>
            <a:r>
              <a:rPr sz="1800" b="1">
                <a:solidFill>
                  <a:srgbClr val="117C83"/>
                </a:solidFill>
                <a:latin typeface="Arial"/>
                <a:ea typeface="Arial"/>
                <a:cs typeface="Arial"/>
              </a:rPr>
              <a:t>SVM exceeds CodeT5 test F1 by 2.45 percentage points.</a:t>
            </a:r>
          </a:p>
        </p:txBody>
      </p:sp>
      <p:sp>
        <p:nvSpPr>
          <p:cNvPr id="5" name="">
            <a:extLst xmlns:a="http://schemas.openxmlformats.org/drawingml/2006/main">
              <a:ext uri="{FF2B5EF4-FFF2-40B4-BE49-F238E27FC236}">
                <a16:creationId xmlns:a16="http://schemas.microsoft.com/office/drawing/2014/main" id="{7BBCF69D-9E94-4231-A62D-C8156D058E9B}"/>
              </a:ext>
            </a:extLst>
          </p:cNvPr>
          <p:cNvSpPr>
            <a:spLocks xmlns:a="http://schemas.openxmlformats.org/drawingml/2006/main" noGrp="1"/>
          </p:cNvSpPr>
          <p:nvPr/>
        </p:nvSpPr>
        <p:spPr>
          <a:xfrm xmlns:a="http://schemas.openxmlformats.org/drawingml/2006/main">
            <a:off x="571500" y="5524500"/>
            <a:ext cx="11049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152E38"/>
                </a:solidFill>
                <a:latin typeface="Arial"/>
                <a:ea typeface="Arial"/>
                <a:cs typeface="Arial"/>
              </a:defRPr>
            </a:pPr>
            <a:r>
              <a:rPr sz="1800" b="0">
                <a:solidFill>
                  <a:srgbClr val="152E38"/>
                </a:solidFill>
                <a:latin typeface="Arial"/>
                <a:ea typeface="Arial"/>
                <a:cs typeface="Arial"/>
              </a:rPr>
              <a:t>Macro-F1 averages five class F1 scores equally.</a:t>
            </a:r>
          </a:p>
          <a:p xmlns:a="http://schemas.openxmlformats.org/drawingml/2006/main">
            <a:pPr>
              <a:defRPr sz="1800" b="0">
                <a:solidFill>
                  <a:srgbClr val="152E38"/>
                </a:solidFill>
                <a:latin typeface="Arial"/>
                <a:ea typeface="Arial"/>
                <a:cs typeface="Arial"/>
              </a:defRPr>
            </a:pPr>
            <a:r>
              <a:rPr sz="1800" b="0">
                <a:solidFill>
                  <a:srgbClr val="152E38"/>
                </a:solidFill>
                <a:latin typeface="Arial"/>
                <a:ea typeface="Arial"/>
                <a:cs typeface="Arial"/>
              </a:rPr>
              <a:t>Matrix: rows = actual, columns = predicted.</a:t>
            </a:r>
          </a:p>
          <a:p xmlns:a="http://schemas.openxmlformats.org/drawingml/2006/main">
            <a:pPr>
              <a:defRPr sz="1800" b="0">
                <a:solidFill>
                  <a:srgbClr val="152E38"/>
                </a:solidFill>
                <a:latin typeface="Arial"/>
                <a:ea typeface="Arial"/>
                <a:cs typeface="Arial"/>
              </a:defRPr>
            </a:pPr>
            <a:r>
              <a:rPr sz="1800" b="0">
                <a:solidFill>
                  <a:srgbClr val="152E38"/>
                </a:solidFill>
                <a:latin typeface="Arial"/>
                <a:ea typeface="Arial"/>
                <a:cs typeface="Arial"/>
              </a:rPr>
              <a:t>Largest error: 199 DeepSeek programs labelled Llama.</a:t>
            </a:r>
          </a:p>
        </p:txBody>
      </p:sp>
      <p:sp>
        <p:nvSpPr>
          <p:cNvPr id="6" name="">
            <a:extLst xmlns:a="http://schemas.openxmlformats.org/drawingml/2006/main">
              <a:ext uri="{FF2B5EF4-FFF2-40B4-BE49-F238E27FC236}">
                <a16:creationId xmlns:a16="http://schemas.microsoft.com/office/drawing/2014/main" id="{39B21E80-7984-4750-B228-0E3D0BC10BCB}"/>
              </a:ext>
            </a:extLst>
          </p:cNvPr>
          <p:cNvSpPr>
            <a:spLocks xmlns:a="http://schemas.openxmlformats.org/drawingml/2006/main" noGrp="1"/>
          </p:cNvSpPr>
          <p:nvPr/>
        </p:nvSpPr>
        <p:spPr>
          <a:xfrm xmlns:a="http://schemas.openxmlformats.org/drawingml/2006/main">
            <a:off x="571500" y="6534150"/>
            <a:ext cx="11049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0636B"/>
                </a:solidFill>
                <a:latin typeface="Arial"/>
                <a:ea typeface="Arial"/>
                <a:cs typeface="Arial"/>
              </a:defRPr>
            </a:pPr>
            <a:r>
              <a:rPr sz="1350" b="0">
                <a:solidFill>
                  <a:srgbClr val="50636B"/>
                </a:solidFill>
                <a:latin typeface="Arial"/>
                <a:ea typeface="Arial"/>
                <a:cs typeface="Arial"/>
              </a:rPr>
              <a:t>*CodeT5: GPU wall time and raw weights. Others: CPU fit time and compressed classifiers.</a:t>
            </a:r>
          </a:p>
        </p:txBody>
      </p:sp>
    </p:spTree>
    <p:extLst>
      <p:ext uri="{BB962C8B-B14F-4D97-AF65-F5344CB8AC3E}">
        <p14:creationId xmlns:p14="http://schemas.microsoft.com/office/powerpoint/2010/main" val="76218528"/>
      </p:ext>
    </p:extLst>
  </p:cSld>
</p:sld>
</file>

<file path=ppt/slides/slide5.xml><?xml version="1.0" encoding="utf-8"?>
<p:sld xmlns:p="http://schemas.openxmlformats.org/presentationml/2006/main">
  <p:cSld>
    <p:bg>
      <p:bgPr>
        <a:solidFill xmlns:a="http://schemas.openxmlformats.org/drawingml/2006/main">
          <a:srgbClr val="F7FAFA"/>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0FDD76E-E9D1-4895-906A-EDB2EA94CF50}"/>
              </a:ext>
            </a:extLst>
          </p:cNvPr>
          <p:cNvSpPr>
            <a:spLocks xmlns:a="http://schemas.openxmlformats.org/drawingml/2006/main" noGrp="1"/>
          </p:cNvSpPr>
          <p:nvPr/>
        </p:nvSpPr>
        <p:spPr>
          <a:xfrm xmlns:a="http://schemas.openxmlformats.org/drawingml/2006/main">
            <a:off x="571500" y="400050"/>
            <a:ext cx="11049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E38"/>
                </a:solidFill>
                <a:latin typeface="Arial"/>
                <a:ea typeface="Arial"/>
                <a:cs typeface="Arial"/>
              </a:defRPr>
            </a:pPr>
            <a:r>
              <a:rPr sz="3300" b="1">
                <a:solidFill>
                  <a:srgbClr val="152E38"/>
                </a:solidFill>
                <a:latin typeface="Arial"/>
                <a:ea typeface="Arial"/>
                <a:cs typeface="Arial"/>
              </a:rPr>
              <a:t>Ablations test the explanation, with mixed evidence</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9054cb99d4e74ea4"/>
          <a:stretch xmlns:a="http://schemas.openxmlformats.org/drawingml/2006/main"/>
        </p:blipFill>
        <p:spPr>
          <a:xfrm xmlns:a="http://schemas.openxmlformats.org/drawingml/2006/main">
            <a:off x="1608044" y="1219200"/>
            <a:ext cx="8975912" cy="2543175"/>
          </a:xfrm>
          <a:prstGeom xmlns:a="http://schemas.openxmlformats.org/drawingml/2006/main" prst="rect">
            <a:avLst/>
          </a:prstGeom>
        </p:spPr>
      </p:pic>
      <p:graphicFrame>
        <p:nvGraphicFramePr>
          <p:cNvPr id="8" name=""/>
          <p:cNvGraphicFramePr/>
          <p:nvPr/>
        </p:nvGraphicFramePr>
        <p:xfrm>
          <a:off xmlns:a="http://schemas.openxmlformats.org/drawingml/2006/main" x="571500" y="3962400"/>
          <a:ext xmlns:a="http://schemas.openxmlformats.org/drawingml/2006/main" cx="11049000" cy="1428750"/>
        </p:xfrm>
        <a:graphic xmlns:a="http://schemas.openxmlformats.org/drawingml/2006/main">
          <a:graphicData uri="http://schemas.openxmlformats.org/drawingml/2006/table">
            <a:tbl>
              <a:tblPr/>
              <a:tblGrid>
                <a:gridCol w="2857500"/>
                <a:gridCol w="3143250"/>
                <a:gridCol w="5048250"/>
              </a:tblGrid>
              <a:tr h="476250">
                <a:tc>
                  <a:txBody>
                    <a:bodyPr>
                      <a:noAutofit/>
                    </a:bodyPr>
                    <a:lstStyle/>
                    <a:p>
                      <a:pPr algn="l"/>
                      <a:r>
                        <a:rPr sz="1650" b="1">
                          <a:solidFill>
                            <a:srgbClr val="FFFFFF"/>
                          </a:solidFill>
                          <a:latin typeface="Arial"/>
                          <a:ea typeface="Arial"/>
                          <a:cs typeface="Arial"/>
                        </a:rPr>
                        <a:t>Change</a:t>
                      </a:r>
                    </a:p>
                  </a:txBody>
                  <a:tcPr marL="91440" marR="91440" marT="45720" marB="45720">
                    <a:solidFill>
                      <a:srgbClr val="152E38"/>
                    </a:solidFill>
                  </a:tcPr>
                </a:tc>
                <a:tc>
                  <a:txBody>
                    <a:bodyPr>
                      <a:noAutofit/>
                    </a:bodyPr>
                    <a:lstStyle/>
                    <a:p>
                      <a:pPr algn="ctr"/>
                      <a:r>
                        <a:rPr sz="1650" b="1">
                          <a:solidFill>
                            <a:srgbClr val="FFFFFF"/>
                          </a:solidFill>
                          <a:latin typeface="Arial"/>
                          <a:ea typeface="Arial"/>
                          <a:cs typeface="Arial"/>
                        </a:rPr>
                        <a:t>Prediction</a:t>
                      </a:r>
                    </a:p>
                  </a:txBody>
                  <a:tcPr marL="91440" marR="91440" marT="45720" marB="45720">
                    <a:solidFill>
                      <a:srgbClr val="152E38"/>
                    </a:solidFill>
                  </a:tcPr>
                </a:tc>
                <a:tc>
                  <a:txBody>
                    <a:bodyPr>
                      <a:noAutofit/>
                    </a:bodyPr>
                    <a:lstStyle/>
                    <a:p>
                      <a:pPr algn="ctr"/>
                      <a:r>
                        <a:rPr sz="1650" b="1">
                          <a:solidFill>
                            <a:srgbClr val="FFFFFF"/>
                          </a:solidFill>
                          <a:latin typeface="Arial"/>
                          <a:ea typeface="Arial"/>
                          <a:cs typeface="Arial"/>
                        </a:rPr>
                        <a:t>Observed SVM–LR validation gap</a:t>
                      </a:r>
                    </a:p>
                  </a:txBody>
                  <a:tcPr marL="91440" marR="91440" marT="45720" marB="45720">
                    <a:solidFill>
                      <a:srgbClr val="152E38"/>
                    </a:solidFill>
                  </a:tcPr>
                </a:tc>
              </a:tr>
              <a:tr h="476250">
                <a:tc>
                  <a:txBody>
                    <a:bodyPr>
                      <a:noAutofit/>
                    </a:bodyPr>
                    <a:lstStyle/>
                    <a:p>
                      <a:pPr algn="l"/>
                      <a:r>
                        <a:rPr sz="1725" b="0">
                          <a:solidFill>
                            <a:srgbClr val="152E38"/>
                          </a:solidFill>
                          <a:latin typeface="Arial"/>
                          <a:ea typeface="Arial"/>
                          <a:cs typeface="Arial"/>
                        </a:rPr>
                        <a:t>Remove comments</a:t>
                      </a:r>
                    </a:p>
                  </a:txBody>
                  <a:tcPr marL="91440" marR="91440" marT="45720" marB="45720">
                    <a:solidFill>
                      <a:srgbClr val="FFFFFF"/>
                    </a:solidFill>
                  </a:tcPr>
                </a:tc>
                <a:tc>
                  <a:txBody>
                    <a:bodyPr>
                      <a:noAutofit/>
                    </a:bodyPr>
                    <a:lstStyle/>
                    <a:p>
                      <a:pPr algn="ctr"/>
                      <a:r>
                        <a:rPr sz="1725" b="0">
                          <a:solidFill>
                            <a:srgbClr val="152E38"/>
                          </a:solidFill>
                          <a:latin typeface="Arial"/>
                          <a:ea typeface="Arial"/>
                          <a:cs typeface="Arial"/>
                        </a:rPr>
                        <a:t>SVM lead should shrink</a:t>
                      </a:r>
                    </a:p>
                  </a:txBody>
                  <a:tcPr marL="91440" marR="91440" marT="45720" marB="45720">
                    <a:solidFill>
                      <a:srgbClr val="FFFFFF"/>
                    </a:solidFill>
                  </a:tcPr>
                </a:tc>
                <a:tc>
                  <a:txBody>
                    <a:bodyPr>
                      <a:noAutofit/>
                    </a:bodyPr>
                    <a:lstStyle/>
                    <a:p>
                      <a:pPr algn="ctr"/>
                      <a:r>
                        <a:rPr sz="1725" b="0">
                          <a:solidFill>
                            <a:srgbClr val="152E38"/>
                          </a:solidFill>
                          <a:latin typeface="Arial"/>
                          <a:ea typeface="Arial"/>
                          <a:cs typeface="Arial"/>
                        </a:rPr>
                        <a:t>1.49 to 3.03 points: prediction failed</a:t>
                      </a:r>
                    </a:p>
                  </a:txBody>
                  <a:tcPr marL="91440" marR="91440" marT="45720" marB="45720">
                    <a:solidFill>
                      <a:srgbClr val="FFFFFF"/>
                    </a:solidFill>
                  </a:tcPr>
                </a:tc>
              </a:tr>
              <a:tr h="476250">
                <a:tc>
                  <a:txBody>
                    <a:bodyPr>
                      <a:noAutofit/>
                    </a:bodyPr>
                    <a:lstStyle/>
                    <a:p>
                      <a:pPr algn="l"/>
                      <a:r>
                        <a:rPr sz="1725" b="0">
                          <a:solidFill>
                            <a:srgbClr val="152E38"/>
                          </a:solidFill>
                          <a:latin typeface="Arial"/>
                          <a:ea typeface="Arial"/>
                          <a:cs typeface="Arial"/>
                        </a:rPr>
                        <a:t>50,000 to 500 features</a:t>
                      </a:r>
                    </a:p>
                  </a:txBody>
                  <a:tcPr marL="91440" marR="91440" marT="45720" marB="45720">
                    <a:solidFill>
                      <a:srgbClr val="FFFFFF"/>
                    </a:solidFill>
                  </a:tcPr>
                </a:tc>
                <a:tc>
                  <a:txBody>
                    <a:bodyPr>
                      <a:noAutofit/>
                    </a:bodyPr>
                    <a:lstStyle/>
                    <a:p>
                      <a:pPr algn="ctr"/>
                      <a:r>
                        <a:rPr sz="1725" b="0">
                          <a:solidFill>
                            <a:srgbClr val="152E38"/>
                          </a:solidFill>
                          <a:latin typeface="Arial"/>
                          <a:ea typeface="Arial"/>
                          <a:cs typeface="Arial"/>
                        </a:rPr>
                        <a:t>SVM lead should shrink</a:t>
                      </a:r>
                    </a:p>
                  </a:txBody>
                  <a:tcPr marL="91440" marR="91440" marT="45720" marB="45720">
                    <a:solidFill>
                      <a:srgbClr val="FFFFFF"/>
                    </a:solidFill>
                  </a:tcPr>
                </a:tc>
                <a:tc>
                  <a:txBody>
                    <a:bodyPr>
                      <a:noAutofit/>
                    </a:bodyPr>
                    <a:lstStyle/>
                    <a:p>
                      <a:pPr algn="ctr"/>
                      <a:r>
                        <a:rPr sz="1725" b="0">
                          <a:solidFill>
                            <a:srgbClr val="152E38"/>
                          </a:solidFill>
                          <a:latin typeface="Arial"/>
                          <a:ea typeface="Arial"/>
                          <a:cs typeface="Arial"/>
                        </a:rPr>
                        <a:t>1.49 to 1.39 points: slight narrowing</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0FA3BFD0-EDD1-43B5-AD76-6E52BDFC8E63}"/>
              </a:ext>
            </a:extLst>
          </p:cNvPr>
          <p:cNvSpPr>
            <a:spLocks xmlns:a="http://schemas.openxmlformats.org/drawingml/2006/main" noGrp="1"/>
          </p:cNvSpPr>
          <p:nvPr/>
        </p:nvSpPr>
        <p:spPr>
          <a:xfrm xmlns:a="http://schemas.openxmlformats.org/drawingml/2006/main">
            <a:off x="571500" y="5610225"/>
            <a:ext cx="1104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1">
                <a:solidFill>
                  <a:srgbClr val="117C83"/>
                </a:solidFill>
                <a:latin typeface="Arial"/>
                <a:ea typeface="Arial"/>
                <a:cs typeface="Arial"/>
              </a:defRPr>
            </a:pPr>
            <a:r>
              <a:rPr sz="2025" b="1">
                <a:solidFill>
                  <a:srgbClr val="117C83"/>
                </a:solidFill>
                <a:latin typeface="Arial"/>
                <a:ea typeface="Arial"/>
                <a:cs typeface="Arial"/>
              </a:rPr>
              <a:t>Both changes lowered all four scores; neither changed their ranking.</a:t>
            </a:r>
          </a:p>
        </p:txBody>
      </p:sp>
      <p:sp>
        <p:nvSpPr>
          <p:cNvPr id="5" name="">
            <a:extLst xmlns:a="http://schemas.openxmlformats.org/drawingml/2006/main">
              <a:ext uri="{FF2B5EF4-FFF2-40B4-BE49-F238E27FC236}">
                <a16:creationId xmlns:a16="http://schemas.microsoft.com/office/drawing/2014/main" id="{A637C79C-FDC1-4816-9F6F-6DE679E875FD}"/>
              </a:ext>
            </a:extLst>
          </p:cNvPr>
          <p:cNvSpPr>
            <a:spLocks xmlns:a="http://schemas.openxmlformats.org/drawingml/2006/main" noGrp="1"/>
          </p:cNvSpPr>
          <p:nvPr/>
        </p:nvSpPr>
        <p:spPr>
          <a:xfrm xmlns:a="http://schemas.openxmlformats.org/drawingml/2006/main">
            <a:off x="571500" y="6086475"/>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152E38"/>
                </a:solidFill>
                <a:latin typeface="Arial"/>
                <a:ea typeface="Arial"/>
                <a:cs typeface="Arial"/>
              </a:defRPr>
            </a:pPr>
            <a:r>
              <a:rPr sz="2025" b="0">
                <a:solidFill>
                  <a:srgbClr val="152E38"/>
                </a:solidFill>
                <a:latin typeface="Arial"/>
                <a:ea typeface="Arial"/>
                <a:cs typeface="Arial"/>
              </a:rPr>
              <a:t>Conclusion: SVM is best under our settings. Rich code patterns help,</a:t>
            </a:r>
          </a:p>
          <a:p xmlns:a="http://schemas.openxmlformats.org/drawingml/2006/main">
            <a:pPr>
              <a:defRPr sz="2025" b="0">
                <a:solidFill>
                  <a:srgbClr val="152E38"/>
                </a:solidFill>
                <a:latin typeface="Arial"/>
                <a:ea typeface="Arial"/>
                <a:cs typeface="Arial"/>
              </a:defRPr>
            </a:pPr>
            <a:r>
              <a:rPr sz="2025" b="0">
                <a:solidFill>
                  <a:srgbClr val="152E38"/>
                </a:solidFill>
                <a:latin typeface="Arial"/>
                <a:ea typeface="Arial"/>
                <a:cs typeface="Arial"/>
              </a:rPr>
              <a:t>but these tests do not conclusively explain its advantage.</a:t>
            </a:r>
          </a:p>
        </p:txBody>
      </p:sp>
    </p:spTree>
    <p:extLst>
      <p:ext uri="{BB962C8B-B14F-4D97-AF65-F5344CB8AC3E}">
        <p14:creationId xmlns:p14="http://schemas.microsoft.com/office/powerpoint/2010/main" val="163254279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2026-09-30T07:00:15.4600000Z</dcterms:created>
  <dcterms:modified xsi:type="dcterms:W3CDTF">2026-09-30T07:00:15.4600000Z</dcterms:modified>
</coreProperties>
</file>