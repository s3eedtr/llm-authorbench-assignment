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eab051812024ecb" /><Relationship Type="http://schemas.openxmlformats.org/officeDocument/2006/relationships/extended-properties" Target="/docProps/app.xml" Id="Raa68b8da4fad4baf" /><Relationship Type="http://schemas.openxmlformats.org/officeDocument/2006/relationships/officeDocument" Target="/ppt/presentation.xml" Id="R5d23e8a5f72c4859" /></Relationships>
</file>

<file path=ppt/presentation.xml><?xml version="1.0" encoding="utf-8"?>
<p:presentation xmlns:p="http://schemas.openxmlformats.org/presentationml/2006/main">
  <p:sldMasterIdLst>
    <p:sldMasterId xmlns:r="http://schemas.openxmlformats.org/officeDocument/2006/relationships" id="2147483648" r:id="Rc92bc92c842a4fd2"/>
  </p:sldMasterIdLst>
  <p:notesMasterIdLst>
    <p:notesMasterId xmlns:r="http://schemas.openxmlformats.org/officeDocument/2006/relationships" r:id="Rcfcb227eb6b74b6a"/>
  </p:notesMasterIdLst>
  <p:sldIdLst>
    <p:sldId xmlns:r="http://schemas.openxmlformats.org/officeDocument/2006/relationships" id="256" r:id="R78644bb3ff0e4368"/>
    <p:sldId xmlns:r="http://schemas.openxmlformats.org/officeDocument/2006/relationships" id="257" r:id="Re243dbb6ef9c47f6"/>
    <p:sldId xmlns:r="http://schemas.openxmlformats.org/officeDocument/2006/relationships" id="258" r:id="Rf4ac539fe7434a48"/>
    <p:sldId xmlns:r="http://schemas.openxmlformats.org/officeDocument/2006/relationships" id="259" r:id="Raa2b3dc05a2b4295"/>
    <p:sldId xmlns:r="http://schemas.openxmlformats.org/officeDocument/2006/relationships" id="260" r:id="R8ef7044fd7d4491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e1fa31ecf7446dc" /><Relationship Type="http://schemas.openxmlformats.org/officeDocument/2006/relationships/slideMaster" Target="/ppt/slideMasters/slideMaster1.xml" Id="Rc92bc92c842a4fd2" /><Relationship Type="http://schemas.openxmlformats.org/officeDocument/2006/relationships/notesMaster" Target="/ppt/notesMasters/notesMaster1.xml" Id="Rcfcb227eb6b74b6a" /><Relationship Type="http://schemas.openxmlformats.org/officeDocument/2006/relationships/presProps" Target="/ppt/presProps.xml" Id="R551653e7c27f44a9" /><Relationship Type="http://schemas.openxmlformats.org/officeDocument/2006/relationships/tableStyles" Target="/ppt/tableStyles.xml" Id="Rd4bdde11789a41df" /><Relationship Type="http://schemas.openxmlformats.org/officeDocument/2006/relationships/slide" Target="/ppt/slides/slide1.xml" Id="R78644bb3ff0e4368" /><Relationship Type="http://schemas.openxmlformats.org/officeDocument/2006/relationships/slide" Target="/ppt/slides/slide2.xml" Id="Re243dbb6ef9c47f6" /><Relationship Type="http://schemas.openxmlformats.org/officeDocument/2006/relationships/slide" Target="/ppt/slides/slide3.xml" Id="Rf4ac539fe7434a48" /><Relationship Type="http://schemas.openxmlformats.org/officeDocument/2006/relationships/slide" Target="/ppt/slides/slide4.xml" Id="Raa2b3dc05a2b4295" /><Relationship Type="http://schemas.openxmlformats.org/officeDocument/2006/relationships/slide" Target="/ppt/slides/slide5.xml" Id="R8ef7044fd7d4491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e361438b77b41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399af7993f949fc" /><Relationship Type="http://schemas.openxmlformats.org/officeDocument/2006/relationships/notesMaster" Target="/ppt/notesMasters/notesMaster1.xml" Id="R93b72af101e743a7" /></Relationships>
</file>

<file path=ppt/notesSlides/_rels/notesSlide2.xml.rels>&#65279;<?xml version="1.0" encoding="utf-8"?><Relationships xmlns="http://schemas.openxmlformats.org/package/2006/relationships"><Relationship Type="http://schemas.openxmlformats.org/officeDocument/2006/relationships/slide" Target="/ppt/slides/slide2.xml" Id="Rf88e05eb5907466e" /><Relationship Type="http://schemas.openxmlformats.org/officeDocument/2006/relationships/notesMaster" Target="/ppt/notesMasters/notesMaster1.xml" Id="R2d25608d278f4cbb" /></Relationships>
</file>

<file path=ppt/notesSlides/_rels/notesSlide3.xml.rels>&#65279;<?xml version="1.0" encoding="utf-8"?><Relationships xmlns="http://schemas.openxmlformats.org/package/2006/relationships"><Relationship Type="http://schemas.openxmlformats.org/officeDocument/2006/relationships/slide" Target="/ppt/slides/slide3.xml" Id="Rfe07d4ebcd2f4b4a" /><Relationship Type="http://schemas.openxmlformats.org/officeDocument/2006/relationships/notesMaster" Target="/ppt/notesMasters/notesMaster1.xml" Id="R96773a102fb34428" /></Relationships>
</file>

<file path=ppt/notesSlides/_rels/notesSlide4.xml.rels>&#65279;<?xml version="1.0" encoding="utf-8"?><Relationships xmlns="http://schemas.openxmlformats.org/package/2006/relationships"><Relationship Type="http://schemas.openxmlformats.org/officeDocument/2006/relationships/slide" Target="/ppt/slides/slide4.xml" Id="R65f4f290fd2548ac" /><Relationship Type="http://schemas.openxmlformats.org/officeDocument/2006/relationships/notesMaster" Target="/ppt/notesMasters/notesMaster1.xml" Id="R80d75d4884fb45b5" /></Relationships>
</file>

<file path=ppt/notesSlides/_rels/notesSlide5.xml.rels>&#65279;<?xml version="1.0" encoding="utf-8"?><Relationships xmlns="http://schemas.openxmlformats.org/package/2006/relationships"><Relationship Type="http://schemas.openxmlformats.org/officeDocument/2006/relationships/slide" Target="/ppt/slides/slide5.xml" Id="R87598e97d9b2458c" /><Relationship Type="http://schemas.openxmlformats.org/officeDocument/2006/relationships/notesMaster" Target="/ppt/notesMasters/notesMaster1.xml" Id="R5e74fcdd7424499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https://github.com/LLMauthorbench/LLMauthorbench ; paper https://arxiv.org/abs/2506.17323 . The authors describe code generation from 300 parameterized C-programming templates, followed by deduplication and compilation filtering. We treat code as text. The five labels are gpt-4.1, deepseek-chat, claude-3.5-haiku, gemini-2.5-flash-preview-05-20 and llama-3.3-70b-instruct. AI assistance was used for code and writing. Research-use licence, dataset claim and member contributions still require group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data/splits.csv, results/split_counts.csv and class_counts.csv. We filter the prior seed-42 split to five labels. Grouping originally normalized prompt parameters, used audited task aliases and merged similar descriptions. Provenance: Git commit 33b42098d3bfdeddd8d94c77326a22fb8847be0a, src/prepare_data.py. There are no official task IDs. Groups can overmerge and unrecognized paraphrases may overlap. Full dataset has eight labels; the selected subset has 20,000 complete, unique source programs. Case retained; sklearn character analysis collapses repeated whitespace.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assignment.py. Same TF-IDF matrices for all four models. Macro-F1 gives each class equal importance. NB alpha=1. LR C=1, lbfgs, max_iter=3000. SVM C=1, dual=auto, max_iter=10000. RF 150 trees, max_depth=40, min_samples_leaf=2, max_features=sqrt, n_jobs=4. No hyperparameter search. Uniform-chance expected accuracy is 20%. Code uses numpy, pandas, scikit-learn and joblib.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results/metrics.csv. Test scores use 3,872 programs. Training timings depend on hardware; vectorizer extraction time and size are stored separately in each experiment features.json. Five labels match the paper, but the split and feature setup differ. These scores do not reproduce the published benchmark. No confidence interval or statistical significance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PLAN.md and results/comment_comparison.csv. Sparse character fragments, including comments, carry class cues. That data-based hypothesis motivates this ablation. Validation SVM-LR gaps: (0.8062140806-0.7913448450)*100=1.4869 and (0.6882900557-0.6580203866)*100=3.0270. The directional prediction failed. All validation and test ranks remain SVM, LR, RF, NB. SVM test Macro-F1 falls by 19.3861 percentage points. This is an exploratory follow-up because earlier eight-class outcomes were known. Do not claim the unique winner explanation was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6caeecd3e9f42c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756b1ba3534d9f" /><Relationship Type="http://schemas.openxmlformats.org/officeDocument/2006/relationships/slideLayout" Target="/ppt/slideLayouts/slideLayout1.xml" Id="R7929973334d5471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929973334d5471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f93b3c546284719" /><Relationship Type="http://schemas.openxmlformats.org/officeDocument/2006/relationships/notesSlide" Target="/ppt/notesSlides/notesSlide1.xml" Id="R7bbbc9be5dfc4a0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cb9947563914efd" /><Relationship Type="http://schemas.openxmlformats.org/officeDocument/2006/relationships/notesSlide" Target="/ppt/notesSlides/notesSlide2.xml" Id="Ra655b4183474437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b87178128c34aa2" /><Relationship Type="http://schemas.openxmlformats.org/officeDocument/2006/relationships/notesSlide" Target="/ppt/notesSlides/notesSlide3.xml" Id="Rf4023552fd8a4b8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d72449b792448c1" /><Relationship Type="http://schemas.openxmlformats.org/officeDocument/2006/relationships/notesSlide" Target="/ppt/notesSlides/notesSlide4.xml" Id="Rcaff8eb40a3a44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7b57461ba864b58" /><Relationship Type="http://schemas.openxmlformats.org/officeDocument/2006/relationships/notesSlide" Target="/ppt/notesSlides/notesSlide5.xml" Id="R26ce38f9413f4834" /></Relationships>
</file>

<file path=ppt/slides/slide1.xml><?xml version="1.0" encoding="utf-8"?>
<p:sld xmlns:p="http://schemas.openxmlformats.org/presentationml/2006/main">
  <p:cSld>
    <p:bg>
      <p:bgPr>
        <a:solidFill xmlns:a="http://schemas.openxmlformats.org/drawingml/2006/main">
          <a:srgbClr val="F7FA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ED4B5F9-CABD-470B-87AF-51CEACFE3178}"/>
              </a:ext>
            </a:extLst>
          </p:cNvPr>
          <p:cNvSpPr>
            <a:spLocks xmlns:a="http://schemas.openxmlformats.org/drawingml/2006/main" noGrp="1"/>
          </p:cNvSpPr>
          <p:nvPr/>
        </p:nvSpPr>
        <p:spPr>
          <a:xfrm xmlns:a="http://schemas.openxmlformats.org/drawingml/2006/main">
            <a:off x="571500" y="4000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E38"/>
                </a:solidFill>
                <a:latin typeface="Arial"/>
                <a:ea typeface="Arial"/>
                <a:cs typeface="Arial"/>
              </a:defRPr>
            </a:pPr>
            <a:r>
              <a:rPr sz="3300" b="1">
                <a:solidFill>
                  <a:srgbClr val="152E38"/>
                </a:solidFill>
                <a:latin typeface="Arial"/>
                <a:ea typeface="Arial"/>
                <a:cs typeface="Arial"/>
              </a:rPr>
              <a:t>LLM code authorship: five classes</a:t>
            </a:r>
          </a:p>
        </p:txBody>
      </p:sp>
      <p:sp>
        <p:nvSpPr>
          <p:cNvPr id="2" name="">
            <a:extLst xmlns:a="http://schemas.openxmlformats.org/drawingml/2006/main">
              <a:ext uri="{FF2B5EF4-FFF2-40B4-BE49-F238E27FC236}">
                <a16:creationId xmlns:a16="http://schemas.microsoft.com/office/drawing/2014/main" id="{A16C2B94-FE61-493F-8EC3-25487B5E2ED5}"/>
              </a:ext>
            </a:extLst>
          </p:cNvPr>
          <p:cNvSpPr>
            <a:spLocks xmlns:a="http://schemas.openxmlformats.org/drawingml/2006/main" noGrp="1"/>
          </p:cNvSpPr>
          <p:nvPr/>
        </p:nvSpPr>
        <p:spPr>
          <a:xfrm xmlns:a="http://schemas.openxmlformats.org/drawingml/2006/main">
            <a:off x="571500" y="1476375"/>
            <a:ext cx="1104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000" b="1">
                <a:solidFill>
                  <a:srgbClr val="117C83"/>
                </a:solidFill>
                <a:latin typeface="Arial"/>
                <a:ea typeface="Arial"/>
                <a:cs typeface="Arial"/>
              </a:defRPr>
            </a:pPr>
            <a:r>
              <a:rPr sz="3000" b="1">
                <a:solidFill>
                  <a:srgbClr val="117C83"/>
                </a:solidFill>
                <a:latin typeface="Arial"/>
                <a:ea typeface="Arial"/>
                <a:cs typeface="Arial"/>
              </a:rPr>
              <a:t>Which LLM wrote this C program?</a:t>
            </a:r>
          </a:p>
        </p:txBody>
      </p:sp>
      <p:sp>
        <p:nvSpPr>
          <p:cNvPr id="3" name="">
            <a:extLst xmlns:a="http://schemas.openxmlformats.org/drawingml/2006/main">
              <a:ext uri="{FF2B5EF4-FFF2-40B4-BE49-F238E27FC236}">
                <a16:creationId xmlns:a16="http://schemas.microsoft.com/office/drawing/2014/main" id="{413CC072-5E24-4134-B0D6-B72B58A11F03}"/>
              </a:ext>
            </a:extLst>
          </p:cNvPr>
          <p:cNvSpPr>
            <a:spLocks xmlns:a="http://schemas.openxmlformats.org/drawingml/2006/main" noGrp="1"/>
          </p:cNvSpPr>
          <p:nvPr/>
        </p:nvSpPr>
        <p:spPr>
          <a:xfrm xmlns:a="http://schemas.openxmlformats.org/drawingml/2006/main">
            <a:off x="571500" y="2543175"/>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0">
                <a:solidFill>
                  <a:srgbClr val="152E38"/>
                </a:solidFill>
                <a:latin typeface="Arial"/>
                <a:ea typeface="Arial"/>
                <a:cs typeface="Arial"/>
              </a:defRPr>
            </a:pPr>
            <a:r>
              <a:rPr sz="2400" b="0">
                <a:solidFill>
                  <a:srgbClr val="152E38"/>
                </a:solidFill>
                <a:latin typeface="Arial"/>
                <a:ea typeface="Arial"/>
                <a:cs typeface="Arial"/>
              </a:rPr>
              <a:t>20,000 programs from LLM-AuthorBench</a:t>
            </a:r>
          </a:p>
          <a:p xmlns:a="http://schemas.openxmlformats.org/drawingml/2006/main">
            <a:pPr>
              <a:defRPr sz="2400" b="0">
                <a:solidFill>
                  <a:srgbClr val="152E38"/>
                </a:solidFill>
                <a:latin typeface="Arial"/>
                <a:ea typeface="Arial"/>
                <a:cs typeface="Arial"/>
              </a:defRPr>
            </a:pPr>
            <a:r>
              <a:rPr sz="2400" b="0">
                <a:solidFill>
                  <a:srgbClr val="152E38"/>
                </a:solidFill>
                <a:latin typeface="Arial"/>
                <a:ea typeface="Arial"/>
                <a:cs typeface="Arial"/>
              </a:rPr>
              <a:t>Five classes with 4,000 programs each</a:t>
            </a:r>
          </a:p>
        </p:txBody>
      </p:sp>
      <p:sp>
        <p:nvSpPr>
          <p:cNvPr id="4" name="">
            <a:extLst xmlns:a="http://schemas.openxmlformats.org/drawingml/2006/main">
              <a:ext uri="{FF2B5EF4-FFF2-40B4-BE49-F238E27FC236}">
                <a16:creationId xmlns:a16="http://schemas.microsoft.com/office/drawing/2014/main" id="{1EEA52E8-CB08-4680-AED1-6C1092364C41}"/>
              </a:ext>
            </a:extLst>
          </p:cNvPr>
          <p:cNvSpPr>
            <a:spLocks xmlns:a="http://schemas.openxmlformats.org/drawingml/2006/main" noGrp="1"/>
          </p:cNvSpPr>
          <p:nvPr/>
        </p:nvSpPr>
        <p:spPr>
          <a:xfrm xmlns:a="http://schemas.openxmlformats.org/drawingml/2006/main">
            <a:off x="571500" y="383857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0">
                <a:solidFill>
                  <a:srgbClr val="152E38"/>
                </a:solidFill>
                <a:latin typeface="Arial"/>
                <a:ea typeface="Arial"/>
                <a:cs typeface="Arial"/>
              </a:defRPr>
            </a:pPr>
            <a:r>
              <a:rPr sz="2250" b="0">
                <a:solidFill>
                  <a:srgbClr val="152E38"/>
                </a:solidFill>
                <a:latin typeface="Arial"/>
                <a:ea typeface="Arial"/>
                <a:cs typeface="Arial"/>
              </a:rPr>
              <a:t>Our topic: attributing LLM-generated code.</a:t>
            </a:r>
          </a:p>
          <a:p xmlns:a="http://schemas.openxmlformats.org/drawingml/2006/main">
            <a:pPr>
              <a:defRPr sz="2250" b="0">
                <a:solidFill>
                  <a:srgbClr val="152E38"/>
                </a:solidFill>
                <a:latin typeface="Arial"/>
                <a:ea typeface="Arial"/>
                <a:cs typeface="Arial"/>
              </a:defRPr>
            </a:pPr>
            <a:r>
              <a:rPr sz="2250" b="0">
                <a:solidFill>
                  <a:srgbClr val="152E38"/>
                </a:solidFill>
                <a:latin typeface="Arial"/>
                <a:ea typeface="Arial"/>
                <a:cs typeface="Arial"/>
              </a:rPr>
              <a:t>We compare four standard classifiers using source text.</a:t>
            </a:r>
          </a:p>
        </p:txBody>
      </p:sp>
      <p:sp>
        <p:nvSpPr>
          <p:cNvPr id="5" name="">
            <a:extLst xmlns:a="http://schemas.openxmlformats.org/drawingml/2006/main">
              <a:ext uri="{FF2B5EF4-FFF2-40B4-BE49-F238E27FC236}">
                <a16:creationId xmlns:a16="http://schemas.microsoft.com/office/drawing/2014/main" id="{A3ADA2A6-6891-49B3-A3A2-9543AEAA86DA}"/>
              </a:ext>
            </a:extLst>
          </p:cNvPr>
          <p:cNvSpPr>
            <a:spLocks xmlns:a="http://schemas.openxmlformats.org/drawingml/2006/main" noGrp="1"/>
          </p:cNvSpPr>
          <p:nvPr/>
        </p:nvSpPr>
        <p:spPr>
          <a:xfrm xmlns:a="http://schemas.openxmlformats.org/drawingml/2006/main">
            <a:off x="571500" y="5286375"/>
            <a:ext cx="1114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17C83"/>
                </a:solidFill>
                <a:latin typeface="Arial"/>
                <a:ea typeface="Arial"/>
                <a:cs typeface="Arial"/>
              </a:defRPr>
            </a:pPr>
            <a:r>
              <a:rPr sz="1800" b="0">
                <a:solidFill>
                  <a:srgbClr val="117C83"/>
                </a:solidFill>
                <a:latin typeface="Arial"/>
                <a:ea typeface="Arial"/>
                <a:cs typeface="Arial"/>
              </a:rPr>
              <a:t>https://github.com/S3eeDTR/LLM-AuthorBench-Assignment</a:t>
            </a:r>
          </a:p>
        </p:txBody>
      </p:sp>
      <p:sp>
        <p:nvSpPr>
          <p:cNvPr id="6" name="">
            <a:extLst xmlns:a="http://schemas.openxmlformats.org/drawingml/2006/main">
              <a:ext uri="{FF2B5EF4-FFF2-40B4-BE49-F238E27FC236}">
                <a16:creationId xmlns:a16="http://schemas.microsoft.com/office/drawing/2014/main" id="{A05F94D3-671E-4152-B90F-66B84FAFAD12}"/>
              </a:ext>
            </a:extLst>
          </p:cNvPr>
          <p:cNvSpPr>
            <a:spLocks xmlns:a="http://schemas.openxmlformats.org/drawingml/2006/main" noGrp="1"/>
          </p:cNvSpPr>
          <p:nvPr/>
        </p:nvSpPr>
        <p:spPr>
          <a:xfrm xmlns:a="http://schemas.openxmlformats.org/drawingml/2006/main">
            <a:off x="571500" y="5819775"/>
            <a:ext cx="1104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52E38"/>
                </a:solidFill>
                <a:latin typeface="Arial"/>
                <a:ea typeface="Arial"/>
                <a:cs typeface="Arial"/>
              </a:defRPr>
            </a:pPr>
            <a:r>
              <a:rPr sz="1800" b="0">
                <a:solidFill>
                  <a:srgbClr val="152E38"/>
                </a:solidFill>
                <a:latin typeface="Arial"/>
                <a:ea typeface="Arial"/>
                <a:cs typeface="Arial"/>
              </a:rPr>
              <a:t>Source: github.com/LLMauthorbench/LLMauthorbench</a:t>
            </a:r>
          </a:p>
        </p:txBody>
      </p:sp>
    </p:spTree>
    <p:extLst>
      <p:ext uri="{BB962C8B-B14F-4D97-AF65-F5344CB8AC3E}">
        <p14:creationId xmlns:p14="http://schemas.microsoft.com/office/powerpoint/2010/main" val="261691003"/>
      </p:ext>
    </p:extLst>
  </p:cSld>
</p:sld>
</file>

<file path=ppt/slides/slide2.xml><?xml version="1.0" encoding="utf-8"?>
<p:sld xmlns:p="http://schemas.openxmlformats.org/presentationml/2006/main">
  <p:cSld>
    <p:bg>
      <p:bgPr>
        <a:solidFill xmlns:a="http://schemas.openxmlformats.org/drawingml/2006/main">
          <a:srgbClr val="F7FA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91D4839-C300-4FC0-87CE-A5A652C8B449}"/>
              </a:ext>
            </a:extLst>
          </p:cNvPr>
          <p:cNvSpPr>
            <a:spLocks xmlns:a="http://schemas.openxmlformats.org/drawingml/2006/main" noGrp="1"/>
          </p:cNvSpPr>
          <p:nvPr/>
        </p:nvSpPr>
        <p:spPr>
          <a:xfrm xmlns:a="http://schemas.openxmlformats.org/drawingml/2006/main">
            <a:off x="571500" y="4000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E38"/>
                </a:solidFill>
                <a:latin typeface="Arial"/>
                <a:ea typeface="Arial"/>
                <a:cs typeface="Arial"/>
              </a:defRPr>
            </a:pPr>
            <a:r>
              <a:rPr sz="3300" b="1">
                <a:solidFill>
                  <a:srgbClr val="152E38"/>
                </a:solidFill>
                <a:latin typeface="Arial"/>
                <a:ea typeface="Arial"/>
                <a:cs typeface="Arial"/>
              </a:rPr>
              <a:t>Data preparation</a:t>
            </a:r>
          </a:p>
        </p:txBody>
      </p:sp>
      <p:graphicFrame>
        <p:nvGraphicFramePr>
          <p:cNvPr id="8" name=""/>
          <p:cNvGraphicFramePr/>
          <p:nvPr/>
        </p:nvGraphicFramePr>
        <p:xfrm>
          <a:off xmlns:a="http://schemas.openxmlformats.org/drawingml/2006/main" x="571500" y="1495425"/>
          <a:ext xmlns:a="http://schemas.openxmlformats.org/drawingml/2006/main" cx="5810250" cy="2714625"/>
        </p:xfrm>
        <a:graphic xmlns:a="http://schemas.openxmlformats.org/drawingml/2006/main">
          <a:graphicData uri="http://schemas.openxmlformats.org/drawingml/2006/table">
            <a:tbl>
              <a:tblPr/>
              <a:tblGrid>
                <a:gridCol w="2476500"/>
                <a:gridCol w="1714500"/>
                <a:gridCol w="1619250"/>
              </a:tblGrid>
              <a:tr h="678656">
                <a:tc>
                  <a:txBody>
                    <a:bodyPr>
                      <a:noAutofit/>
                    </a:bodyPr>
                    <a:lstStyle/>
                    <a:p>
                      <a:pPr algn="l"/>
                      <a:r>
                        <a:rPr sz="1875" b="1">
                          <a:solidFill>
                            <a:srgbClr val="FFFFFF"/>
                          </a:solidFill>
                          <a:latin typeface="Arial"/>
                          <a:ea typeface="Arial"/>
                          <a:cs typeface="Arial"/>
                        </a:rPr>
                        <a:t>Split</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Programs</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Task groups</a:t>
                      </a:r>
                    </a:p>
                  </a:txBody>
                  <a:tcPr marL="91440" marR="91440" marT="45720" marB="45720">
                    <a:solidFill>
                      <a:srgbClr val="152E38"/>
                    </a:solidFill>
                  </a:tcPr>
                </a:tc>
              </a:tr>
              <a:tr h="678656">
                <a:tc>
                  <a:txBody>
                    <a:bodyPr>
                      <a:noAutofit/>
                    </a:bodyPr>
                    <a:lstStyle/>
                    <a:p>
                      <a:pPr algn="l"/>
                      <a:r>
                        <a:rPr sz="1950" b="0">
                          <a:solidFill>
                            <a:srgbClr val="152E38"/>
                          </a:solidFill>
                          <a:latin typeface="Arial"/>
                          <a:ea typeface="Arial"/>
                          <a:cs typeface="Arial"/>
                        </a:rPr>
                        <a:t>Training</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13,150</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181</a:t>
                      </a:r>
                    </a:p>
                  </a:txBody>
                  <a:tcPr marL="91440" marR="91440" marT="45720" marB="45720">
                    <a:solidFill>
                      <a:srgbClr val="FFFFFF"/>
                    </a:solidFill>
                  </a:tcPr>
                </a:tc>
              </a:tr>
              <a:tr h="678656">
                <a:tc>
                  <a:txBody>
                    <a:bodyPr>
                      <a:noAutofit/>
                    </a:bodyPr>
                    <a:lstStyle/>
                    <a:p>
                      <a:pPr algn="l"/>
                      <a:r>
                        <a:rPr sz="1950" b="0">
                          <a:solidFill>
                            <a:srgbClr val="152E38"/>
                          </a:solidFill>
                          <a:latin typeface="Arial"/>
                          <a:ea typeface="Arial"/>
                          <a:cs typeface="Arial"/>
                        </a:rPr>
                        <a:t>Validation</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2,978</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38</a:t>
                      </a:r>
                    </a:p>
                  </a:txBody>
                  <a:tcPr marL="91440" marR="91440" marT="45720" marB="45720">
                    <a:solidFill>
                      <a:srgbClr val="FFFFFF"/>
                    </a:solidFill>
                  </a:tcPr>
                </a:tc>
              </a:tr>
              <a:tr h="678656">
                <a:tc>
                  <a:txBody>
                    <a:bodyPr>
                      <a:noAutofit/>
                    </a:bodyPr>
                    <a:lstStyle/>
                    <a:p>
                      <a:pPr algn="l"/>
                      <a:r>
                        <a:rPr sz="1950" b="0">
                          <a:solidFill>
                            <a:srgbClr val="152E38"/>
                          </a:solidFill>
                          <a:latin typeface="Arial"/>
                          <a:ea typeface="Arial"/>
                          <a:cs typeface="Arial"/>
                        </a:rPr>
                        <a:t>Test</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3,872</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40</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4E31430A-6884-44A4-94F1-8B4E6B6FBF2F}"/>
              </a:ext>
            </a:extLst>
          </p:cNvPr>
          <p:cNvSpPr>
            <a:spLocks xmlns:a="http://schemas.openxmlformats.org/drawingml/2006/main" noGrp="1"/>
          </p:cNvSpPr>
          <p:nvPr/>
        </p:nvSpPr>
        <p:spPr>
          <a:xfrm xmlns:a="http://schemas.openxmlformats.org/drawingml/2006/main">
            <a:off x="6858000" y="1666875"/>
            <a:ext cx="4857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50,000 character TF-IDF features</a:t>
            </a:r>
          </a:p>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Three to five characters per pattern</a:t>
            </a:r>
          </a:p>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Fit using training code only</a:t>
            </a:r>
          </a:p>
        </p:txBody>
      </p:sp>
      <p:sp>
        <p:nvSpPr>
          <p:cNvPr id="4" name="">
            <a:extLst xmlns:a="http://schemas.openxmlformats.org/drawingml/2006/main">
              <a:ext uri="{FF2B5EF4-FFF2-40B4-BE49-F238E27FC236}">
                <a16:creationId xmlns:a16="http://schemas.microsoft.com/office/drawing/2014/main" id="{CFD1288F-E3BC-4450-8AE6-019AD8AC2A3B}"/>
              </a:ext>
            </a:extLst>
          </p:cNvPr>
          <p:cNvSpPr>
            <a:spLocks xmlns:a="http://schemas.openxmlformats.org/drawingml/2006/main" noGrp="1"/>
          </p:cNvSpPr>
          <p:nvPr/>
        </p:nvSpPr>
        <p:spPr>
          <a:xfrm xmlns:a="http://schemas.openxmlformats.org/drawingml/2006/main">
            <a:off x="6858000" y="3333750"/>
            <a:ext cx="4762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0 empty programs</a:t>
            </a:r>
          </a:p>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0 exact source duplicates</a:t>
            </a:r>
          </a:p>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Five labels in every split</a:t>
            </a:r>
          </a:p>
        </p:txBody>
      </p:sp>
      <p:sp>
        <p:nvSpPr>
          <p:cNvPr id="5" name="">
            <a:extLst xmlns:a="http://schemas.openxmlformats.org/drawingml/2006/main">
              <a:ext uri="{FF2B5EF4-FFF2-40B4-BE49-F238E27FC236}">
                <a16:creationId xmlns:a16="http://schemas.microsoft.com/office/drawing/2014/main" id="{B75AA978-4EA3-43BE-9BB5-20F8F84C32CC}"/>
              </a:ext>
            </a:extLst>
          </p:cNvPr>
          <p:cNvSpPr>
            <a:spLocks xmlns:a="http://schemas.openxmlformats.org/drawingml/2006/main" noGrp="1"/>
          </p:cNvSpPr>
          <p:nvPr/>
        </p:nvSpPr>
        <p:spPr>
          <a:xfrm xmlns:a="http://schemas.openxmlformats.org/drawingml/2006/main">
            <a:off x="571500" y="4762500"/>
            <a:ext cx="10953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Saved groups keep related prompt variants together.</a:t>
            </a:r>
          </a:p>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No shared group, exact prompt or source hash across splits.</a:t>
            </a:r>
          </a:p>
        </p:txBody>
      </p:sp>
      <p:sp>
        <p:nvSpPr>
          <p:cNvPr id="6" name="">
            <a:extLst xmlns:a="http://schemas.openxmlformats.org/drawingml/2006/main">
              <a:ext uri="{FF2B5EF4-FFF2-40B4-BE49-F238E27FC236}">
                <a16:creationId xmlns:a16="http://schemas.microsoft.com/office/drawing/2014/main" id="{F3C8E690-5541-4551-9E7F-DF2C41F4772D}"/>
              </a:ext>
            </a:extLst>
          </p:cNvPr>
          <p:cNvSpPr>
            <a:spLocks xmlns:a="http://schemas.openxmlformats.org/drawingml/2006/main" noGrp="1"/>
          </p:cNvSpPr>
          <p:nvPr/>
        </p:nvSpPr>
        <p:spPr>
          <a:xfrm xmlns:a="http://schemas.openxmlformats.org/drawingml/2006/main">
            <a:off x="571500" y="5972175"/>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50636B"/>
                </a:solidFill>
                <a:latin typeface="Arial"/>
                <a:ea typeface="Arial"/>
                <a:cs typeface="Arial"/>
              </a:defRPr>
            </a:pPr>
            <a:r>
              <a:rPr sz="1875" b="0">
                <a:solidFill>
                  <a:srgbClr val="50636B"/>
                </a:solidFill>
                <a:latin typeface="Arial"/>
                <a:ea typeface="Arial"/>
                <a:cs typeface="Arial"/>
              </a:rPr>
              <a:t>Groups are inferred. Some semantic overlap may remain.</a:t>
            </a:r>
          </a:p>
        </p:txBody>
      </p:sp>
    </p:spTree>
    <p:extLst>
      <p:ext uri="{BB962C8B-B14F-4D97-AF65-F5344CB8AC3E}">
        <p14:creationId xmlns:p14="http://schemas.microsoft.com/office/powerpoint/2010/main" val="966741975"/>
      </p:ext>
    </p:extLst>
  </p:cSld>
</p:sld>
</file>

<file path=ppt/slides/slide3.xml><?xml version="1.0" encoding="utf-8"?>
<p:sld xmlns:p="http://schemas.openxmlformats.org/presentationml/2006/main">
  <p:cSld>
    <p:bg>
      <p:bgPr>
        <a:solidFill xmlns:a="http://schemas.openxmlformats.org/drawingml/2006/main">
          <a:srgbClr val="F7FA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B78EFA3-99A5-43B2-91DD-9F0F730274F0}"/>
              </a:ext>
            </a:extLst>
          </p:cNvPr>
          <p:cNvSpPr>
            <a:spLocks xmlns:a="http://schemas.openxmlformats.org/drawingml/2006/main" noGrp="1"/>
          </p:cNvSpPr>
          <p:nvPr/>
        </p:nvSpPr>
        <p:spPr>
          <a:xfrm xmlns:a="http://schemas.openxmlformats.org/drawingml/2006/main">
            <a:off x="571500" y="4000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E38"/>
                </a:solidFill>
                <a:latin typeface="Arial"/>
                <a:ea typeface="Arial"/>
                <a:cs typeface="Arial"/>
              </a:defRPr>
            </a:pPr>
            <a:r>
              <a:rPr sz="3300" b="1">
                <a:solidFill>
                  <a:srgbClr val="152E38"/>
                </a:solidFill>
                <a:latin typeface="Arial"/>
                <a:ea typeface="Arial"/>
                <a:cs typeface="Arial"/>
              </a:rPr>
              <a:t>Experiment 1: original code</a:t>
            </a:r>
          </a:p>
        </p:txBody>
      </p:sp>
      <p:sp>
        <p:nvSpPr>
          <p:cNvPr id="2" name="">
            <a:extLst xmlns:a="http://schemas.openxmlformats.org/drawingml/2006/main">
              <a:ext uri="{FF2B5EF4-FFF2-40B4-BE49-F238E27FC236}">
                <a16:creationId xmlns:a16="http://schemas.microsoft.com/office/drawing/2014/main" id="{0E7415B0-65BC-4F52-A03F-B9DEB50FFA6F}"/>
              </a:ext>
            </a:extLst>
          </p:cNvPr>
          <p:cNvSpPr>
            <a:spLocks xmlns:a="http://schemas.openxmlformats.org/drawingml/2006/main" noGrp="1"/>
          </p:cNvSpPr>
          <p:nvPr/>
        </p:nvSpPr>
        <p:spPr>
          <a:xfrm xmlns:a="http://schemas.openxmlformats.org/drawingml/2006/main">
            <a:off x="571500" y="14287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117C83"/>
                </a:solidFill>
                <a:latin typeface="Arial"/>
                <a:ea typeface="Arial"/>
                <a:cs typeface="Arial"/>
              </a:defRPr>
            </a:pPr>
            <a:r>
              <a:rPr sz="2250" b="1">
                <a:solidFill>
                  <a:srgbClr val="117C83"/>
                </a:solidFill>
                <a:latin typeface="Arial"/>
                <a:ea typeface="Arial"/>
                <a:cs typeface="Arial"/>
              </a:rPr>
              <a:t>Four models use the same training, validation and test data</a:t>
            </a:r>
          </a:p>
        </p:txBody>
      </p:sp>
      <p:sp>
        <p:nvSpPr>
          <p:cNvPr id="3" name="">
            <a:extLst xmlns:a="http://schemas.openxmlformats.org/drawingml/2006/main">
              <a:ext uri="{FF2B5EF4-FFF2-40B4-BE49-F238E27FC236}">
                <a16:creationId xmlns:a16="http://schemas.microsoft.com/office/drawing/2014/main" id="{776FDAC4-8700-4F74-B3AE-D1034E897F91}"/>
              </a:ext>
            </a:extLst>
          </p:cNvPr>
          <p:cNvSpPr>
            <a:spLocks xmlns:a="http://schemas.openxmlformats.org/drawingml/2006/main" noGrp="1"/>
          </p:cNvSpPr>
          <p:nvPr/>
        </p:nvSpPr>
        <p:spPr>
          <a:xfrm xmlns:a="http://schemas.openxmlformats.org/drawingml/2006/main">
            <a:off x="571500" y="2428875"/>
            <a:ext cx="4143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152E38"/>
                </a:solidFill>
                <a:latin typeface="Arial"/>
                <a:ea typeface="Arial"/>
                <a:cs typeface="Arial"/>
              </a:defRPr>
            </a:pPr>
            <a:r>
              <a:rPr sz="2250" b="1">
                <a:solidFill>
                  <a:srgbClr val="152E38"/>
                </a:solidFill>
                <a:latin typeface="Arial"/>
                <a:ea typeface="Arial"/>
                <a:cs typeface="Arial"/>
              </a:rPr>
              <a:t>Naive Bayes</a:t>
            </a:r>
          </a:p>
        </p:txBody>
      </p:sp>
      <p:sp>
        <p:nvSpPr>
          <p:cNvPr id="4" name="">
            <a:extLst xmlns:a="http://schemas.openxmlformats.org/drawingml/2006/main">
              <a:ext uri="{FF2B5EF4-FFF2-40B4-BE49-F238E27FC236}">
                <a16:creationId xmlns:a16="http://schemas.microsoft.com/office/drawing/2014/main" id="{2FD95940-6778-4ECF-A17D-5C5F2C42246D}"/>
              </a:ext>
            </a:extLst>
          </p:cNvPr>
          <p:cNvSpPr>
            <a:spLocks xmlns:a="http://schemas.openxmlformats.org/drawingml/2006/main" noGrp="1"/>
          </p:cNvSpPr>
          <p:nvPr/>
        </p:nvSpPr>
        <p:spPr>
          <a:xfrm xmlns:a="http://schemas.openxmlformats.org/drawingml/2006/main">
            <a:off x="5238750" y="2428875"/>
            <a:ext cx="609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Simple baseline</a:t>
            </a:r>
          </a:p>
        </p:txBody>
      </p:sp>
      <p:sp>
        <p:nvSpPr>
          <p:cNvPr id="5" name="">
            <a:extLst xmlns:a="http://schemas.openxmlformats.org/drawingml/2006/main">
              <a:ext uri="{FF2B5EF4-FFF2-40B4-BE49-F238E27FC236}">
                <a16:creationId xmlns:a16="http://schemas.microsoft.com/office/drawing/2014/main" id="{A9554DBF-AF6D-4F29-B86C-607744E609E3}"/>
              </a:ext>
            </a:extLst>
          </p:cNvPr>
          <p:cNvSpPr>
            <a:spLocks xmlns:a="http://schemas.openxmlformats.org/drawingml/2006/main" noGrp="1"/>
          </p:cNvSpPr>
          <p:nvPr/>
        </p:nvSpPr>
        <p:spPr>
          <a:xfrm xmlns:a="http://schemas.openxmlformats.org/drawingml/2006/main">
            <a:off x="571500" y="3076575"/>
            <a:ext cx="4143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152E38"/>
                </a:solidFill>
                <a:latin typeface="Arial"/>
                <a:ea typeface="Arial"/>
                <a:cs typeface="Arial"/>
              </a:defRPr>
            </a:pPr>
            <a:r>
              <a:rPr sz="2250" b="1">
                <a:solidFill>
                  <a:srgbClr val="152E38"/>
                </a:solidFill>
                <a:latin typeface="Arial"/>
                <a:ea typeface="Arial"/>
                <a:cs typeface="Arial"/>
              </a:rPr>
              <a:t>Logistic Regression</a:t>
            </a:r>
          </a:p>
        </p:txBody>
      </p:sp>
      <p:sp>
        <p:nvSpPr>
          <p:cNvPr id="6" name="">
            <a:extLst xmlns:a="http://schemas.openxmlformats.org/drawingml/2006/main">
              <a:ext uri="{FF2B5EF4-FFF2-40B4-BE49-F238E27FC236}">
                <a16:creationId xmlns:a16="http://schemas.microsoft.com/office/drawing/2014/main" id="{FDF99ABF-8BB1-405C-8325-C91CAB0AE1F4}"/>
              </a:ext>
            </a:extLst>
          </p:cNvPr>
          <p:cNvSpPr>
            <a:spLocks xmlns:a="http://schemas.openxmlformats.org/drawingml/2006/main" noGrp="1"/>
          </p:cNvSpPr>
          <p:nvPr/>
        </p:nvSpPr>
        <p:spPr>
          <a:xfrm xmlns:a="http://schemas.openxmlformats.org/drawingml/2006/main">
            <a:off x="5238750" y="3076575"/>
            <a:ext cx="609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Linear classifier</a:t>
            </a:r>
          </a:p>
        </p:txBody>
      </p:sp>
      <p:sp>
        <p:nvSpPr>
          <p:cNvPr id="7" name="">
            <a:extLst xmlns:a="http://schemas.openxmlformats.org/drawingml/2006/main">
              <a:ext uri="{FF2B5EF4-FFF2-40B4-BE49-F238E27FC236}">
                <a16:creationId xmlns:a16="http://schemas.microsoft.com/office/drawing/2014/main" id="{E34066BC-9D35-48E6-A46C-192617D0B553}"/>
              </a:ext>
            </a:extLst>
          </p:cNvPr>
          <p:cNvSpPr>
            <a:spLocks xmlns:a="http://schemas.openxmlformats.org/drawingml/2006/main" noGrp="1"/>
          </p:cNvSpPr>
          <p:nvPr/>
        </p:nvSpPr>
        <p:spPr>
          <a:xfrm xmlns:a="http://schemas.openxmlformats.org/drawingml/2006/main">
            <a:off x="571500" y="3724275"/>
            <a:ext cx="4143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152E38"/>
                </a:solidFill>
                <a:latin typeface="Arial"/>
                <a:ea typeface="Arial"/>
                <a:cs typeface="Arial"/>
              </a:defRPr>
            </a:pPr>
            <a:r>
              <a:rPr sz="2250" b="1">
                <a:solidFill>
                  <a:srgbClr val="152E38"/>
                </a:solidFill>
                <a:latin typeface="Arial"/>
                <a:ea typeface="Arial"/>
                <a:cs typeface="Arial"/>
              </a:rPr>
              <a:t>Linear SVM</a:t>
            </a:r>
          </a:p>
        </p:txBody>
      </p:sp>
      <p:sp>
        <p:nvSpPr>
          <p:cNvPr id="8" name="">
            <a:extLst xmlns:a="http://schemas.openxmlformats.org/drawingml/2006/main">
              <a:ext uri="{FF2B5EF4-FFF2-40B4-BE49-F238E27FC236}">
                <a16:creationId xmlns:a16="http://schemas.microsoft.com/office/drawing/2014/main" id="{D502F80C-6F16-4F94-8096-3F162D62A73B}"/>
              </a:ext>
            </a:extLst>
          </p:cNvPr>
          <p:cNvSpPr>
            <a:spLocks xmlns:a="http://schemas.openxmlformats.org/drawingml/2006/main" noGrp="1"/>
          </p:cNvSpPr>
          <p:nvPr/>
        </p:nvSpPr>
        <p:spPr>
          <a:xfrm xmlns:a="http://schemas.openxmlformats.org/drawingml/2006/main">
            <a:off x="5238750" y="3724275"/>
            <a:ext cx="609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Linear margin classifier</a:t>
            </a:r>
          </a:p>
        </p:txBody>
      </p:sp>
      <p:sp>
        <p:nvSpPr>
          <p:cNvPr id="9" name="">
            <a:extLst xmlns:a="http://schemas.openxmlformats.org/drawingml/2006/main">
              <a:ext uri="{FF2B5EF4-FFF2-40B4-BE49-F238E27FC236}">
                <a16:creationId xmlns:a16="http://schemas.microsoft.com/office/drawing/2014/main" id="{540D0862-D477-4A3F-9C1A-7E23ED356637}"/>
              </a:ext>
            </a:extLst>
          </p:cNvPr>
          <p:cNvSpPr>
            <a:spLocks xmlns:a="http://schemas.openxmlformats.org/drawingml/2006/main" noGrp="1"/>
          </p:cNvSpPr>
          <p:nvPr/>
        </p:nvSpPr>
        <p:spPr>
          <a:xfrm xmlns:a="http://schemas.openxmlformats.org/drawingml/2006/main">
            <a:off x="571500" y="4371975"/>
            <a:ext cx="4143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152E38"/>
                </a:solidFill>
                <a:latin typeface="Arial"/>
                <a:ea typeface="Arial"/>
                <a:cs typeface="Arial"/>
              </a:defRPr>
            </a:pPr>
            <a:r>
              <a:rPr sz="2250" b="1">
                <a:solidFill>
                  <a:srgbClr val="152E38"/>
                </a:solidFill>
                <a:latin typeface="Arial"/>
                <a:ea typeface="Arial"/>
                <a:cs typeface="Arial"/>
              </a:rPr>
              <a:t>Random Forest</a:t>
            </a:r>
          </a:p>
        </p:txBody>
      </p:sp>
      <p:sp>
        <p:nvSpPr>
          <p:cNvPr id="10" name="">
            <a:extLst xmlns:a="http://schemas.openxmlformats.org/drawingml/2006/main">
              <a:ext uri="{FF2B5EF4-FFF2-40B4-BE49-F238E27FC236}">
                <a16:creationId xmlns:a16="http://schemas.microsoft.com/office/drawing/2014/main" id="{B46295B3-B47C-4442-B86E-EFCA0F58E495}"/>
              </a:ext>
            </a:extLst>
          </p:cNvPr>
          <p:cNvSpPr>
            <a:spLocks xmlns:a="http://schemas.openxmlformats.org/drawingml/2006/main" noGrp="1"/>
          </p:cNvSpPr>
          <p:nvPr/>
        </p:nvSpPr>
        <p:spPr>
          <a:xfrm xmlns:a="http://schemas.openxmlformats.org/drawingml/2006/main">
            <a:off x="5238750" y="4371975"/>
            <a:ext cx="609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Tree ensemble</a:t>
            </a:r>
          </a:p>
        </p:txBody>
      </p:sp>
      <p:sp>
        <p:nvSpPr>
          <p:cNvPr id="11" name="">
            <a:extLst xmlns:a="http://schemas.openxmlformats.org/drawingml/2006/main">
              <a:ext uri="{FF2B5EF4-FFF2-40B4-BE49-F238E27FC236}">
                <a16:creationId xmlns:a16="http://schemas.microsoft.com/office/drawing/2014/main" id="{3D7B5CD4-1BD1-4A71-A971-7320EC09CCED}"/>
              </a:ext>
            </a:extLst>
          </p:cNvPr>
          <p:cNvSpPr>
            <a:spLocks xmlns:a="http://schemas.openxmlformats.org/drawingml/2006/main" noGrp="1"/>
          </p:cNvSpPr>
          <p:nvPr/>
        </p:nvSpPr>
        <p:spPr>
          <a:xfrm xmlns:a="http://schemas.openxmlformats.org/drawingml/2006/main">
            <a:off x="571500" y="5429250"/>
            <a:ext cx="1095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Keep comments and identifiers. Seed 42 where supported.</a:t>
            </a:r>
          </a:p>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Select the model with the highest validation Macro-F1.</a:t>
            </a:r>
          </a:p>
        </p:txBody>
      </p:sp>
    </p:spTree>
    <p:extLst>
      <p:ext uri="{BB962C8B-B14F-4D97-AF65-F5344CB8AC3E}">
        <p14:creationId xmlns:p14="http://schemas.microsoft.com/office/powerpoint/2010/main" val="2098475925"/>
      </p:ext>
    </p:extLst>
  </p:cSld>
</p:sld>
</file>

<file path=ppt/slides/slide4.xml><?xml version="1.0" encoding="utf-8"?>
<p:sld xmlns:p="http://schemas.openxmlformats.org/presentationml/2006/main">
  <p:cSld>
    <p:bg>
      <p:bgPr>
        <a:solidFill xmlns:a="http://schemas.openxmlformats.org/drawingml/2006/main">
          <a:srgbClr val="F7FAF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673AD92-8990-4E92-B4E5-C4539C7B164E}"/>
              </a:ext>
            </a:extLst>
          </p:cNvPr>
          <p:cNvSpPr>
            <a:spLocks xmlns:a="http://schemas.openxmlformats.org/drawingml/2006/main" noGrp="1"/>
          </p:cNvSpPr>
          <p:nvPr/>
        </p:nvSpPr>
        <p:spPr>
          <a:xfrm xmlns:a="http://schemas.openxmlformats.org/drawingml/2006/main">
            <a:off x="571500" y="4000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E38"/>
                </a:solidFill>
                <a:latin typeface="Arial"/>
                <a:ea typeface="Arial"/>
                <a:cs typeface="Arial"/>
              </a:defRPr>
            </a:pPr>
            <a:r>
              <a:rPr sz="3300" b="1">
                <a:solidFill>
                  <a:srgbClr val="152E38"/>
                </a:solidFill>
                <a:latin typeface="Arial"/>
                <a:ea typeface="Arial"/>
                <a:cs typeface="Arial"/>
              </a:rPr>
              <a:t>Experiment 1: results</a:t>
            </a:r>
          </a:p>
        </p:txBody>
      </p:sp>
      <p:graphicFrame>
        <p:nvGraphicFramePr>
          <p:cNvPr id="6" name=""/>
          <p:cNvGraphicFramePr/>
          <p:nvPr/>
        </p:nvGraphicFramePr>
        <p:xfrm>
          <a:off xmlns:a="http://schemas.openxmlformats.org/drawingml/2006/main" x="571500" y="1657350"/>
          <a:ext xmlns:a="http://schemas.openxmlformats.org/drawingml/2006/main" cx="11049000" cy="2905125"/>
        </p:xfrm>
        <a:graphic xmlns:a="http://schemas.openxmlformats.org/drawingml/2006/main">
          <a:graphicData uri="http://schemas.openxmlformats.org/drawingml/2006/table">
            <a:tbl>
              <a:tblPr/>
              <a:tblGrid>
                <a:gridCol w="3619500"/>
                <a:gridCol w="1809750"/>
                <a:gridCol w="1809750"/>
                <a:gridCol w="1809750"/>
                <a:gridCol w="2000250"/>
              </a:tblGrid>
              <a:tr h="581025">
                <a:tc>
                  <a:txBody>
                    <a:bodyPr>
                      <a:noAutofit/>
                    </a:bodyPr>
                    <a:lstStyle/>
                    <a:p>
                      <a:pPr algn="l"/>
                      <a:r>
                        <a:rPr sz="1875" b="1">
                          <a:solidFill>
                            <a:srgbClr val="FFFFFF"/>
                          </a:solidFill>
                          <a:latin typeface="Arial"/>
                          <a:ea typeface="Arial"/>
                          <a:cs typeface="Arial"/>
                        </a:rPr>
                        <a:t>Model</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Accuracy</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Macro-F1</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Fit (s)</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Size (MB)</a:t>
                      </a:r>
                    </a:p>
                  </a:txBody>
                  <a:tcPr marL="91440" marR="91440" marT="45720" marB="45720">
                    <a:solidFill>
                      <a:srgbClr val="152E38"/>
                    </a:solidFill>
                  </a:tcPr>
                </a:tc>
              </a:tr>
              <a:tr h="581025">
                <a:tc>
                  <a:txBody>
                    <a:bodyPr>
                      <a:noAutofit/>
                    </a:bodyPr>
                    <a:lstStyle/>
                    <a:p>
                      <a:pPr algn="l"/>
                      <a:r>
                        <a:rPr sz="1950" b="0">
                          <a:solidFill>
                            <a:srgbClr val="152E38"/>
                          </a:solidFill>
                          <a:latin typeface="Arial"/>
                          <a:ea typeface="Arial"/>
                          <a:cs typeface="Arial"/>
                        </a:rPr>
                        <a:t>Naive Bayes</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62.68%</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0.6278</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0.12</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2.898</a:t>
                      </a:r>
                    </a:p>
                  </a:txBody>
                  <a:tcPr marL="91440" marR="91440" marT="45720" marB="45720">
                    <a:solidFill>
                      <a:srgbClr val="FFFFFF"/>
                    </a:solidFill>
                  </a:tcPr>
                </a:tc>
              </a:tr>
              <a:tr h="581025">
                <a:tc>
                  <a:txBody>
                    <a:bodyPr>
                      <a:noAutofit/>
                    </a:bodyPr>
                    <a:lstStyle/>
                    <a:p>
                      <a:pPr algn="l"/>
                      <a:r>
                        <a:rPr sz="1950" b="0">
                          <a:solidFill>
                            <a:srgbClr val="152E38"/>
                          </a:solidFill>
                          <a:latin typeface="Arial"/>
                          <a:ea typeface="Arial"/>
                          <a:cs typeface="Arial"/>
                        </a:rPr>
                        <a:t>Logistic Regression</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76.89%</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0.7704</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15.17</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0.863</a:t>
                      </a:r>
                    </a:p>
                  </a:txBody>
                  <a:tcPr marL="91440" marR="91440" marT="45720" marB="45720">
                    <a:solidFill>
                      <a:srgbClr val="FFFFFF"/>
                    </a:solidFill>
                  </a:tcPr>
                </a:tc>
              </a:tr>
              <a:tr h="581025">
                <a:tc>
                  <a:txBody>
                    <a:bodyPr>
                      <a:noAutofit/>
                    </a:bodyPr>
                    <a:lstStyle/>
                    <a:p>
                      <a:pPr algn="l"/>
                      <a:r>
                        <a:rPr sz="1950" b="1">
                          <a:solidFill>
                            <a:srgbClr val="152E38"/>
                          </a:solidFill>
                          <a:latin typeface="Arial"/>
                          <a:ea typeface="Arial"/>
                          <a:cs typeface="Arial"/>
                        </a:rPr>
                        <a:t>Linear SVM</a:t>
                      </a:r>
                    </a:p>
                  </a:txBody>
                  <a:tcPr marL="91440" marR="91440" marT="45720" marB="45720">
                    <a:solidFill>
                      <a:srgbClr val="E0F0ED"/>
                    </a:solidFill>
                  </a:tcPr>
                </a:tc>
                <a:tc>
                  <a:txBody>
                    <a:bodyPr>
                      <a:noAutofit/>
                    </a:bodyPr>
                    <a:lstStyle/>
                    <a:p>
                      <a:pPr algn="ctr"/>
                      <a:r>
                        <a:rPr sz="1950" b="1">
                          <a:solidFill>
                            <a:srgbClr val="152E38"/>
                          </a:solidFill>
                          <a:latin typeface="Arial"/>
                          <a:ea typeface="Arial"/>
                          <a:cs typeface="Arial"/>
                        </a:rPr>
                        <a:t>79.75%</a:t>
                      </a:r>
                    </a:p>
                  </a:txBody>
                  <a:tcPr marL="91440" marR="91440" marT="45720" marB="45720">
                    <a:solidFill>
                      <a:srgbClr val="E0F0ED"/>
                    </a:solidFill>
                  </a:tcPr>
                </a:tc>
                <a:tc>
                  <a:txBody>
                    <a:bodyPr>
                      <a:noAutofit/>
                    </a:bodyPr>
                    <a:lstStyle/>
                    <a:p>
                      <a:pPr algn="ctr"/>
                      <a:r>
                        <a:rPr sz="1950" b="1">
                          <a:solidFill>
                            <a:srgbClr val="152E38"/>
                          </a:solidFill>
                          <a:latin typeface="Arial"/>
                          <a:ea typeface="Arial"/>
                          <a:cs typeface="Arial"/>
                        </a:rPr>
                        <a:t>0.7970</a:t>
                      </a:r>
                    </a:p>
                  </a:txBody>
                  <a:tcPr marL="91440" marR="91440" marT="45720" marB="45720">
                    <a:solidFill>
                      <a:srgbClr val="E0F0ED"/>
                    </a:solidFill>
                  </a:tcPr>
                </a:tc>
                <a:tc>
                  <a:txBody>
                    <a:bodyPr>
                      <a:noAutofit/>
                    </a:bodyPr>
                    <a:lstStyle/>
                    <a:p>
                      <a:pPr algn="ctr"/>
                      <a:r>
                        <a:rPr sz="1950" b="1">
                          <a:solidFill>
                            <a:srgbClr val="152E38"/>
                          </a:solidFill>
                          <a:latin typeface="Arial"/>
                          <a:ea typeface="Arial"/>
                          <a:cs typeface="Arial"/>
                        </a:rPr>
                        <a:t>5.36</a:t>
                      </a:r>
                    </a:p>
                  </a:txBody>
                  <a:tcPr marL="91440" marR="91440" marT="45720" marB="45720">
                    <a:solidFill>
                      <a:srgbClr val="E0F0ED"/>
                    </a:solidFill>
                  </a:tcPr>
                </a:tc>
                <a:tc>
                  <a:txBody>
                    <a:bodyPr>
                      <a:noAutofit/>
                    </a:bodyPr>
                    <a:lstStyle/>
                    <a:p>
                      <a:pPr algn="ctr"/>
                      <a:r>
                        <a:rPr sz="1950" b="1">
                          <a:solidFill>
                            <a:srgbClr val="152E38"/>
                          </a:solidFill>
                          <a:latin typeface="Arial"/>
                          <a:ea typeface="Arial"/>
                          <a:cs typeface="Arial"/>
                        </a:rPr>
                        <a:t>1.767</a:t>
                      </a:r>
                    </a:p>
                  </a:txBody>
                  <a:tcPr marL="91440" marR="91440" marT="45720" marB="45720">
                    <a:solidFill>
                      <a:srgbClr val="E0F0ED"/>
                    </a:solidFill>
                  </a:tcPr>
                </a:tc>
              </a:tr>
              <a:tr h="581025">
                <a:tc>
                  <a:txBody>
                    <a:bodyPr>
                      <a:noAutofit/>
                    </a:bodyPr>
                    <a:lstStyle/>
                    <a:p>
                      <a:pPr algn="l"/>
                      <a:r>
                        <a:rPr sz="1950" b="0">
                          <a:solidFill>
                            <a:srgbClr val="152E38"/>
                          </a:solidFill>
                          <a:latin typeface="Arial"/>
                          <a:ea typeface="Arial"/>
                          <a:cs typeface="Arial"/>
                        </a:rPr>
                        <a:t>Random Forest</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69.01%</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0.6796</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20.11</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9.935</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B1CF8E93-30A1-4A4D-824F-D6AE8D478E0C}"/>
              </a:ext>
            </a:extLst>
          </p:cNvPr>
          <p:cNvSpPr>
            <a:spLocks xmlns:a="http://schemas.openxmlformats.org/drawingml/2006/main" noGrp="1"/>
          </p:cNvSpPr>
          <p:nvPr/>
        </p:nvSpPr>
        <p:spPr>
          <a:xfrm xmlns:a="http://schemas.openxmlformats.org/drawingml/2006/main">
            <a:off x="571500" y="501015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117C83"/>
                </a:solidFill>
                <a:latin typeface="Arial"/>
                <a:ea typeface="Arial"/>
                <a:cs typeface="Arial"/>
              </a:defRPr>
            </a:pPr>
            <a:r>
              <a:rPr sz="2250" b="1">
                <a:solidFill>
                  <a:srgbClr val="117C83"/>
                </a:solidFill>
                <a:latin typeface="Arial"/>
                <a:ea typeface="Arial"/>
                <a:cs typeface="Arial"/>
              </a:rPr>
              <a:t>Linear SVM leads on validation and test.</a:t>
            </a:r>
          </a:p>
          <a:p xmlns:a="http://schemas.openxmlformats.org/drawingml/2006/main">
            <a:pPr>
              <a:defRPr sz="2250" b="1">
                <a:solidFill>
                  <a:srgbClr val="117C83"/>
                </a:solidFill>
                <a:latin typeface="Arial"/>
                <a:ea typeface="Arial"/>
                <a:cs typeface="Arial"/>
              </a:defRPr>
            </a:pPr>
            <a:r>
              <a:rPr sz="2250" b="1">
                <a:solidFill>
                  <a:srgbClr val="117C83"/>
                </a:solidFill>
                <a:latin typeface="Arial"/>
                <a:ea typeface="Arial"/>
                <a:cs typeface="Arial"/>
              </a:rPr>
              <a:t>Validation Macro-F1: 0.8062</a:t>
            </a:r>
          </a:p>
        </p:txBody>
      </p:sp>
      <p:sp>
        <p:nvSpPr>
          <p:cNvPr id="4" name="">
            <a:extLst xmlns:a="http://schemas.openxmlformats.org/drawingml/2006/main">
              <a:ext uri="{FF2B5EF4-FFF2-40B4-BE49-F238E27FC236}">
                <a16:creationId xmlns:a16="http://schemas.microsoft.com/office/drawing/2014/main" id="{DD47A220-EFF2-4C78-AE86-59CC0D4C55EF}"/>
              </a:ext>
            </a:extLst>
          </p:cNvPr>
          <p:cNvSpPr>
            <a:spLocks xmlns:a="http://schemas.openxmlformats.org/drawingml/2006/main" noGrp="1"/>
          </p:cNvSpPr>
          <p:nvPr/>
        </p:nvSpPr>
        <p:spPr>
          <a:xfrm xmlns:a="http://schemas.openxmlformats.org/drawingml/2006/main">
            <a:off x="571500" y="6124575"/>
            <a:ext cx="1104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50636B"/>
                </a:solidFill>
                <a:latin typeface="Arial"/>
                <a:ea typeface="Arial"/>
                <a:cs typeface="Arial"/>
              </a:defRPr>
            </a:pPr>
            <a:r>
              <a:rPr sz="1800" b="0">
                <a:solidFill>
                  <a:srgbClr val="50636B"/>
                </a:solidFill>
                <a:latin typeface="Arial"/>
                <a:ea typeface="Arial"/>
                <a:cs typeface="Arial"/>
              </a:rPr>
              <a:t>Single-run times exclude TF-IDF. Size is the compressed classifier.</a:t>
            </a:r>
          </a:p>
        </p:txBody>
      </p:sp>
    </p:spTree>
    <p:extLst>
      <p:ext uri="{BB962C8B-B14F-4D97-AF65-F5344CB8AC3E}">
        <p14:creationId xmlns:p14="http://schemas.microsoft.com/office/powerpoint/2010/main" val="652522180"/>
      </p:ext>
    </p:extLst>
  </p:cSld>
</p:sld>
</file>

<file path=ppt/slides/slide5.xml><?xml version="1.0" encoding="utf-8"?>
<p:sld xmlns:p="http://schemas.openxmlformats.org/presentationml/2006/main">
  <p:cSld>
    <p:bg>
      <p:bgPr>
        <a:solidFill xmlns:a="http://schemas.openxmlformats.org/drawingml/2006/main">
          <a:srgbClr val="F7FAF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642B19D-08AC-4868-9559-E3AC65789305}"/>
              </a:ext>
            </a:extLst>
          </p:cNvPr>
          <p:cNvSpPr>
            <a:spLocks xmlns:a="http://schemas.openxmlformats.org/drawingml/2006/main" noGrp="1"/>
          </p:cNvSpPr>
          <p:nvPr/>
        </p:nvSpPr>
        <p:spPr>
          <a:xfrm xmlns:a="http://schemas.openxmlformats.org/drawingml/2006/main">
            <a:off x="571500" y="40005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52E38"/>
                </a:solidFill>
                <a:latin typeface="Arial"/>
                <a:ea typeface="Arial"/>
                <a:cs typeface="Arial"/>
              </a:defRPr>
            </a:pPr>
            <a:r>
              <a:rPr sz="3300" b="1">
                <a:solidFill>
                  <a:srgbClr val="152E38"/>
                </a:solidFill>
                <a:latin typeface="Arial"/>
                <a:ea typeface="Arial"/>
                <a:cs typeface="Arial"/>
              </a:rPr>
              <a:t>Experiment 2: remove comments</a:t>
            </a:r>
          </a:p>
        </p:txBody>
      </p:sp>
      <p:graphicFrame>
        <p:nvGraphicFramePr>
          <p:cNvPr id="6" name=""/>
          <p:cNvGraphicFramePr/>
          <p:nvPr/>
        </p:nvGraphicFramePr>
        <p:xfrm>
          <a:off xmlns:a="http://schemas.openxmlformats.org/drawingml/2006/main" x="571500" y="1476375"/>
          <a:ext xmlns:a="http://schemas.openxmlformats.org/drawingml/2006/main" cx="11049000" cy="2714625"/>
        </p:xfrm>
        <a:graphic xmlns:a="http://schemas.openxmlformats.org/drawingml/2006/main">
          <a:graphicData uri="http://schemas.openxmlformats.org/drawingml/2006/table">
            <a:tbl>
              <a:tblPr/>
              <a:tblGrid>
                <a:gridCol w="3905250"/>
                <a:gridCol w="2381250"/>
                <a:gridCol w="2762250"/>
                <a:gridCol w="2000250"/>
              </a:tblGrid>
              <a:tr h="542925">
                <a:tc>
                  <a:txBody>
                    <a:bodyPr>
                      <a:noAutofit/>
                    </a:bodyPr>
                    <a:lstStyle/>
                    <a:p>
                      <a:pPr algn="l"/>
                      <a:r>
                        <a:rPr sz="1875" b="1">
                          <a:solidFill>
                            <a:srgbClr val="FFFFFF"/>
                          </a:solidFill>
                          <a:latin typeface="Arial"/>
                          <a:ea typeface="Arial"/>
                          <a:cs typeface="Arial"/>
                        </a:rPr>
                        <a:t>Validation F1</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Original</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No comments</a:t>
                      </a:r>
                    </a:p>
                  </a:txBody>
                  <a:tcPr marL="91440" marR="91440" marT="45720" marB="45720">
                    <a:solidFill>
                      <a:srgbClr val="152E38"/>
                    </a:solidFill>
                  </a:tcPr>
                </a:tc>
                <a:tc>
                  <a:txBody>
                    <a:bodyPr>
                      <a:noAutofit/>
                    </a:bodyPr>
                    <a:lstStyle/>
                    <a:p>
                      <a:pPr algn="ctr"/>
                      <a:r>
                        <a:rPr sz="1875" b="1">
                          <a:solidFill>
                            <a:srgbClr val="FFFFFF"/>
                          </a:solidFill>
                          <a:latin typeface="Arial"/>
                          <a:ea typeface="Arial"/>
                          <a:cs typeface="Arial"/>
                        </a:rPr>
                        <a:t>Rank</a:t>
                      </a:r>
                    </a:p>
                  </a:txBody>
                  <a:tcPr marL="91440" marR="91440" marT="45720" marB="45720">
                    <a:solidFill>
                      <a:srgbClr val="152E38"/>
                    </a:solidFill>
                  </a:tcPr>
                </a:tc>
              </a:tr>
              <a:tr h="542925">
                <a:tc>
                  <a:txBody>
                    <a:bodyPr>
                      <a:noAutofit/>
                    </a:bodyPr>
                    <a:lstStyle/>
                    <a:p>
                      <a:pPr algn="l"/>
                      <a:r>
                        <a:rPr sz="1950" b="1">
                          <a:solidFill>
                            <a:srgbClr val="152E38"/>
                          </a:solidFill>
                          <a:latin typeface="Arial"/>
                          <a:ea typeface="Arial"/>
                          <a:cs typeface="Arial"/>
                        </a:rPr>
                        <a:t>Linear SVM</a:t>
                      </a:r>
                    </a:p>
                  </a:txBody>
                  <a:tcPr marL="91440" marR="91440" marT="45720" marB="45720">
                    <a:solidFill>
                      <a:srgbClr val="E0F0ED"/>
                    </a:solidFill>
                  </a:tcPr>
                </a:tc>
                <a:tc>
                  <a:txBody>
                    <a:bodyPr>
                      <a:noAutofit/>
                    </a:bodyPr>
                    <a:lstStyle/>
                    <a:p>
                      <a:pPr algn="ctr"/>
                      <a:r>
                        <a:rPr sz="1950" b="1">
                          <a:solidFill>
                            <a:srgbClr val="152E38"/>
                          </a:solidFill>
                          <a:latin typeface="Arial"/>
                          <a:ea typeface="Arial"/>
                          <a:cs typeface="Arial"/>
                        </a:rPr>
                        <a:t>0.8062</a:t>
                      </a:r>
                    </a:p>
                  </a:txBody>
                  <a:tcPr marL="91440" marR="91440" marT="45720" marB="45720">
                    <a:solidFill>
                      <a:srgbClr val="E0F0ED"/>
                    </a:solidFill>
                  </a:tcPr>
                </a:tc>
                <a:tc>
                  <a:txBody>
                    <a:bodyPr>
                      <a:noAutofit/>
                    </a:bodyPr>
                    <a:lstStyle/>
                    <a:p>
                      <a:pPr algn="ctr"/>
                      <a:r>
                        <a:rPr sz="1950" b="1">
                          <a:solidFill>
                            <a:srgbClr val="152E38"/>
                          </a:solidFill>
                          <a:latin typeface="Arial"/>
                          <a:ea typeface="Arial"/>
                          <a:cs typeface="Arial"/>
                        </a:rPr>
                        <a:t>0.6883</a:t>
                      </a:r>
                    </a:p>
                  </a:txBody>
                  <a:tcPr marL="91440" marR="91440" marT="45720" marB="45720">
                    <a:solidFill>
                      <a:srgbClr val="E0F0ED"/>
                    </a:solidFill>
                  </a:tcPr>
                </a:tc>
                <a:tc>
                  <a:txBody>
                    <a:bodyPr>
                      <a:noAutofit/>
                    </a:bodyPr>
                    <a:lstStyle/>
                    <a:p>
                      <a:pPr algn="ctr"/>
                      <a:r>
                        <a:rPr sz="1950" b="1">
                          <a:solidFill>
                            <a:srgbClr val="152E38"/>
                          </a:solidFill>
                          <a:latin typeface="Arial"/>
                          <a:ea typeface="Arial"/>
                          <a:cs typeface="Arial"/>
                        </a:rPr>
                        <a:t>1 to 1</a:t>
                      </a:r>
                    </a:p>
                  </a:txBody>
                  <a:tcPr marL="91440" marR="91440" marT="45720" marB="45720">
                    <a:solidFill>
                      <a:srgbClr val="E0F0ED"/>
                    </a:solidFill>
                  </a:tcPr>
                </a:tc>
              </a:tr>
              <a:tr h="542925">
                <a:tc>
                  <a:txBody>
                    <a:bodyPr>
                      <a:noAutofit/>
                    </a:bodyPr>
                    <a:lstStyle/>
                    <a:p>
                      <a:pPr algn="l"/>
                      <a:r>
                        <a:rPr sz="1950" b="0">
                          <a:solidFill>
                            <a:srgbClr val="152E38"/>
                          </a:solidFill>
                          <a:latin typeface="Arial"/>
                          <a:ea typeface="Arial"/>
                          <a:cs typeface="Arial"/>
                        </a:rPr>
                        <a:t>Logistic Regression</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0.7913</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0.6580</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2 to 2</a:t>
                      </a:r>
                    </a:p>
                  </a:txBody>
                  <a:tcPr marL="91440" marR="91440" marT="45720" marB="45720">
                    <a:solidFill>
                      <a:srgbClr val="FFFFFF"/>
                    </a:solidFill>
                  </a:tcPr>
                </a:tc>
              </a:tr>
              <a:tr h="542925">
                <a:tc>
                  <a:txBody>
                    <a:bodyPr>
                      <a:noAutofit/>
                    </a:bodyPr>
                    <a:lstStyle/>
                    <a:p>
                      <a:pPr algn="l"/>
                      <a:r>
                        <a:rPr sz="1950" b="0">
                          <a:solidFill>
                            <a:srgbClr val="152E38"/>
                          </a:solidFill>
                          <a:latin typeface="Arial"/>
                          <a:ea typeface="Arial"/>
                          <a:cs typeface="Arial"/>
                        </a:rPr>
                        <a:t>Random Forest</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0.7609</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0.6453</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3 to 3</a:t>
                      </a:r>
                    </a:p>
                  </a:txBody>
                  <a:tcPr marL="91440" marR="91440" marT="45720" marB="45720">
                    <a:solidFill>
                      <a:srgbClr val="FFFFFF"/>
                    </a:solidFill>
                  </a:tcPr>
                </a:tc>
              </a:tr>
              <a:tr h="542925">
                <a:tc>
                  <a:txBody>
                    <a:bodyPr>
                      <a:noAutofit/>
                    </a:bodyPr>
                    <a:lstStyle/>
                    <a:p>
                      <a:pPr algn="l"/>
                      <a:r>
                        <a:rPr sz="1950" b="0">
                          <a:solidFill>
                            <a:srgbClr val="152E38"/>
                          </a:solidFill>
                          <a:latin typeface="Arial"/>
                          <a:ea typeface="Arial"/>
                          <a:cs typeface="Arial"/>
                        </a:rPr>
                        <a:t>Naive Bayes</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0.6903</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0.5287</a:t>
                      </a:r>
                    </a:p>
                  </a:txBody>
                  <a:tcPr marL="91440" marR="91440" marT="45720" marB="45720">
                    <a:solidFill>
                      <a:srgbClr val="FFFFFF"/>
                    </a:solidFill>
                  </a:tcPr>
                </a:tc>
                <a:tc>
                  <a:txBody>
                    <a:bodyPr>
                      <a:noAutofit/>
                    </a:bodyPr>
                    <a:lstStyle/>
                    <a:p>
                      <a:pPr algn="ctr"/>
                      <a:r>
                        <a:rPr sz="1950" b="0">
                          <a:solidFill>
                            <a:srgbClr val="152E38"/>
                          </a:solidFill>
                          <a:latin typeface="Arial"/>
                          <a:ea typeface="Arial"/>
                          <a:cs typeface="Arial"/>
                        </a:rPr>
                        <a:t>4 to 4</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6A18D446-33B9-42B9-B75A-830DB9B0C79F}"/>
              </a:ext>
            </a:extLst>
          </p:cNvPr>
          <p:cNvSpPr>
            <a:spLocks xmlns:a="http://schemas.openxmlformats.org/drawingml/2006/main" noGrp="1"/>
          </p:cNvSpPr>
          <p:nvPr/>
        </p:nvSpPr>
        <p:spPr>
          <a:xfrm xmlns:a="http://schemas.openxmlformats.org/drawingml/2006/main">
            <a:off x="571500" y="4524375"/>
            <a:ext cx="1104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Prediction: removing comment cues would narrow SVM's lead over LR.</a:t>
            </a:r>
          </a:p>
          <a:p xmlns:a="http://schemas.openxmlformats.org/drawingml/2006/main">
            <a:pPr>
              <a:defRPr sz="2100" b="0">
                <a:solidFill>
                  <a:srgbClr val="152E38"/>
                </a:solidFill>
                <a:latin typeface="Arial"/>
                <a:ea typeface="Arial"/>
                <a:cs typeface="Arial"/>
              </a:defRPr>
            </a:pPr>
            <a:r>
              <a:rPr sz="2100" b="0">
                <a:solidFill>
                  <a:srgbClr val="152E38"/>
                </a:solidFill>
                <a:latin typeface="Arial"/>
                <a:ea typeface="Arial"/>
                <a:cs typeface="Arial"/>
              </a:rPr>
              <a:t>Observed validation gap: 1.49 to 3.03 percentage points.</a:t>
            </a:r>
          </a:p>
        </p:txBody>
      </p:sp>
      <p:sp>
        <p:nvSpPr>
          <p:cNvPr id="4" name="">
            <a:extLst xmlns:a="http://schemas.openxmlformats.org/drawingml/2006/main">
              <a:ext uri="{FF2B5EF4-FFF2-40B4-BE49-F238E27FC236}">
                <a16:creationId xmlns:a16="http://schemas.microsoft.com/office/drawing/2014/main" id="{85EB0D7D-6C2A-49E1-B6CE-350B53E15710}"/>
              </a:ext>
            </a:extLst>
          </p:cNvPr>
          <p:cNvSpPr>
            <a:spLocks xmlns:a="http://schemas.openxmlformats.org/drawingml/2006/main" noGrp="1"/>
          </p:cNvSpPr>
          <p:nvPr/>
        </p:nvSpPr>
        <p:spPr>
          <a:xfrm xmlns:a="http://schemas.openxmlformats.org/drawingml/2006/main">
            <a:off x="571500" y="55721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117C83"/>
                </a:solidFill>
                <a:latin typeface="Arial"/>
                <a:ea typeface="Arial"/>
                <a:cs typeface="Arial"/>
              </a:defRPr>
            </a:pPr>
            <a:r>
              <a:rPr sz="2100" b="1">
                <a:solidFill>
                  <a:srgbClr val="117C83"/>
                </a:solidFill>
                <a:latin typeface="Arial"/>
                <a:ea typeface="Arial"/>
                <a:cs typeface="Arial"/>
              </a:rPr>
              <a:t>All models lose F1. Rankings stay the same.</a:t>
            </a:r>
          </a:p>
          <a:p xmlns:a="http://schemas.openxmlformats.org/drawingml/2006/main">
            <a:pPr>
              <a:defRPr sz="2100" b="1">
                <a:solidFill>
                  <a:srgbClr val="117C83"/>
                </a:solidFill>
                <a:latin typeface="Arial"/>
                <a:ea typeface="Arial"/>
                <a:cs typeface="Arial"/>
              </a:defRPr>
            </a:pPr>
            <a:r>
              <a:rPr sz="2100" b="1">
                <a:solidFill>
                  <a:srgbClr val="117C83"/>
                </a:solidFill>
                <a:latin typeface="Arial"/>
                <a:ea typeface="Arial"/>
                <a:cs typeface="Arial"/>
              </a:rPr>
              <a:t>Comments help attribution, but do not explain why SVM wins.</a:t>
            </a:r>
          </a:p>
        </p:txBody>
      </p:sp>
    </p:spTree>
    <p:extLst>
      <p:ext uri="{BB962C8B-B14F-4D97-AF65-F5344CB8AC3E}">
        <p14:creationId xmlns:p14="http://schemas.microsoft.com/office/powerpoint/2010/main" val="8196628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2026-09-29T06:44:39.2830000Z</dcterms:created>
  <dcterms:modified xsi:type="dcterms:W3CDTF">2026-09-29T06:44:39.2830000Z</dcterms:modified>
</coreProperties>
</file>