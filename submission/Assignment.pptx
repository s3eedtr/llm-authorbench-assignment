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docProps/core.xml" ContentType="application/vnd.openxmlformats-package.core-properties+xml"/>
  <Override PartName="/docProps/app.xml" ContentType="application/vnd.openxmlformats-officedocument.extended-properties+xml"/>
  <Override PartName="/ppt/slides/slide7.xml" ContentType="application/vnd.openxmlformats-officedocument.presentationml.slide+xml"/>
  <Override PartName="/ppt/notesSlides/notesSlide7.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61" r:id="rId2"/>
    <p:sldId id="256" r:id="rId3"/>
    <p:sldId id="257" r:id="rId4"/>
    <p:sldId id="258" r:id="rId5"/>
    <p:sldId id="259" r:id="rId6"/>
    <p:sldId id="260" r:id="rId7"/>
    <p:sldId id="262"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55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 Id="rId13"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500 features</c:v>
                </c:pt>
              </c:strCache>
            </c:strRef>
          </c:tx>
          <c:spPr>
            <a:solidFill>
              <a:srgbClr val="9FB0B7"/>
            </a:solidFill>
            <a:effectLst/>
          </c:spPr>
          <c:invertIfNegative val="0"/>
          <c:dLbls>
            <c:numFmt formatCode="0.0000" sourceLinked="0"/>
            <c:spPr>
              <a:noFill/>
              <a:ln>
                <a:noFill/>
              </a:ln>
              <a:effectLst/>
            </c:spPr>
            <c:txPr>
              <a:bodyPr/>
              <a:lstStyle/>
              <a:p>
                <a:pPr>
                  <a:defRPr sz="900" b="0" i="0" u="none" strike="noStrike">
                    <a:solidFill>
                      <a:srgbClr val="152E38"/>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Naive Bayes</c:v>
                </c:pt>
                <c:pt idx="1">
                  <c:v>Random Forest</c:v>
                </c:pt>
                <c:pt idx="2">
                  <c:v>Logistic Regression</c:v>
                </c:pt>
                <c:pt idx="3">
                  <c:v>Linear SVM</c:v>
                </c:pt>
              </c:strCache>
            </c:strRef>
          </c:cat>
          <c:val>
            <c:numRef>
              <c:f>Sheet1!$B$2:$B$5</c:f>
              <c:numCache>
                <c:formatCode>General</c:formatCode>
                <c:ptCount val="4"/>
                <c:pt idx="0">
                  <c:v>0.5214</c:v>
                </c:pt>
                <c:pt idx="1">
                  <c:v>0.6614</c:v>
                </c:pt>
                <c:pt idx="2">
                  <c:v>0.7197</c:v>
                </c:pt>
                <c:pt idx="3">
                  <c:v>0.7336</c:v>
                </c:pt>
              </c:numCache>
            </c:numRef>
          </c:val>
          <c:extLst>
            <c:ext xmlns:c16="http://schemas.microsoft.com/office/drawing/2014/chart" uri="{C3380CC4-5D6E-409C-BE32-E72D297353CC}">
              <c16:uniqueId val="{00000000-5848-417E-B5E9-3A78D37B8D1A}"/>
            </c:ext>
          </c:extLst>
        </c:ser>
        <c:ser>
          <c:idx val="1"/>
          <c:order val="1"/>
          <c:tx>
            <c:strRef>
              <c:f>Sheet1!$C$1</c:f>
              <c:strCache>
                <c:ptCount val="1"/>
                <c:pt idx="0">
                  <c:v>Comments removed</c:v>
                </c:pt>
              </c:strCache>
            </c:strRef>
          </c:tx>
          <c:spPr>
            <a:solidFill>
              <a:srgbClr val="F2A541"/>
            </a:solidFill>
            <a:effectLst/>
          </c:spPr>
          <c:invertIfNegative val="0"/>
          <c:dLbls>
            <c:numFmt formatCode="0.0000" sourceLinked="0"/>
            <c:spPr>
              <a:noFill/>
              <a:ln>
                <a:noFill/>
              </a:ln>
              <a:effectLst/>
            </c:spPr>
            <c:txPr>
              <a:bodyPr/>
              <a:lstStyle/>
              <a:p>
                <a:pPr>
                  <a:defRPr sz="900" b="0" i="0" u="none" strike="noStrike">
                    <a:solidFill>
                      <a:srgbClr val="152E38"/>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Naive Bayes</c:v>
                </c:pt>
                <c:pt idx="1">
                  <c:v>Random Forest</c:v>
                </c:pt>
                <c:pt idx="2">
                  <c:v>Logistic Regression</c:v>
                </c:pt>
                <c:pt idx="3">
                  <c:v>Linear SVM</c:v>
                </c:pt>
              </c:strCache>
            </c:strRef>
          </c:cat>
          <c:val>
            <c:numRef>
              <c:f>Sheet1!$C$2:$C$5</c:f>
              <c:numCache>
                <c:formatCode>General</c:formatCode>
                <c:ptCount val="4"/>
                <c:pt idx="0">
                  <c:v>0.5287</c:v>
                </c:pt>
                <c:pt idx="1">
                  <c:v>0.6453</c:v>
                </c:pt>
                <c:pt idx="2">
                  <c:v>0.658</c:v>
                </c:pt>
                <c:pt idx="3">
                  <c:v>0.6883</c:v>
                </c:pt>
              </c:numCache>
            </c:numRef>
          </c:val>
          <c:extLst>
            <c:ext xmlns:c16="http://schemas.microsoft.com/office/drawing/2014/chart" uri="{C3380CC4-5D6E-409C-BE32-E72D297353CC}">
              <c16:uniqueId val="{00000001-5848-417E-B5E9-3A78D37B8D1A}"/>
            </c:ext>
          </c:extLst>
        </c:ser>
        <c:ser>
          <c:idx val="2"/>
          <c:order val="2"/>
          <c:tx>
            <c:strRef>
              <c:f>Sheet1!$D$1</c:f>
              <c:strCache>
                <c:ptCount val="1"/>
                <c:pt idx="0">
                  <c:v>Original (50,000 features)</c:v>
                </c:pt>
              </c:strCache>
            </c:strRef>
          </c:tx>
          <c:spPr>
            <a:solidFill>
              <a:srgbClr val="117C83"/>
            </a:solidFill>
            <a:effectLst/>
          </c:spPr>
          <c:invertIfNegative val="0"/>
          <c:dLbls>
            <c:numFmt formatCode="0.0000" sourceLinked="0"/>
            <c:spPr>
              <a:noFill/>
              <a:ln>
                <a:noFill/>
              </a:ln>
              <a:effectLst/>
            </c:spPr>
            <c:txPr>
              <a:bodyPr/>
              <a:lstStyle/>
              <a:p>
                <a:pPr>
                  <a:defRPr sz="900" b="0" i="0" u="none" strike="noStrike">
                    <a:solidFill>
                      <a:srgbClr val="152E38"/>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Naive Bayes</c:v>
                </c:pt>
                <c:pt idx="1">
                  <c:v>Random Forest</c:v>
                </c:pt>
                <c:pt idx="2">
                  <c:v>Logistic Regression</c:v>
                </c:pt>
                <c:pt idx="3">
                  <c:v>Linear SVM</c:v>
                </c:pt>
              </c:strCache>
            </c:strRef>
          </c:cat>
          <c:val>
            <c:numRef>
              <c:f>Sheet1!$D$2:$D$5</c:f>
              <c:numCache>
                <c:formatCode>General</c:formatCode>
                <c:ptCount val="4"/>
                <c:pt idx="0">
                  <c:v>0.6903</c:v>
                </c:pt>
                <c:pt idx="1">
                  <c:v>0.7609</c:v>
                </c:pt>
                <c:pt idx="2">
                  <c:v>0.7913</c:v>
                </c:pt>
                <c:pt idx="3">
                  <c:v>0.8062</c:v>
                </c:pt>
              </c:numCache>
            </c:numRef>
          </c:val>
          <c:extLst>
            <c:ext xmlns:c16="http://schemas.microsoft.com/office/drawing/2014/chart" uri="{C3380CC4-5D6E-409C-BE32-E72D297353CC}">
              <c16:uniqueId val="{00000002-5848-417E-B5E9-3A78D37B8D1A}"/>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52E38"/>
                </a:solidFill>
                <a:latin typeface="Arial"/>
              </a:defRPr>
            </a:pPr>
            <a:endParaRPr lang="en-US"/>
          </a:p>
        </c:txPr>
        <c:crossAx val="2094734552"/>
        <c:crosses val="autoZero"/>
        <c:auto val="1"/>
        <c:lblAlgn val="ctr"/>
        <c:lblOffset val="100"/>
        <c:noMultiLvlLbl val="1"/>
      </c:catAx>
      <c:valAx>
        <c:axId val="2094734552"/>
        <c:scaling>
          <c:orientation val="minMax"/>
          <c:max val="1"/>
          <c:min val="0"/>
        </c:scaling>
        <c:delete val="0"/>
        <c:axPos val="b"/>
        <c:majorGridlines>
          <c:spPr>
            <a:ln w="9525" cap="flat">
              <a:solidFill>
                <a:srgbClr val="D6E1E4"/>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0636B"/>
                </a:solidFill>
                <a:latin typeface="Arial"/>
              </a:defRPr>
            </a:pPr>
            <a:endParaRPr lang="en-US"/>
          </a:p>
        </c:txPr>
        <c:crossAx val="2094734554"/>
        <c:crosses val="autoZero"/>
        <c:crossBetween val="between"/>
        <c:majorUnit val="0.2"/>
      </c:valAx>
      <c:spPr>
        <a:noFill/>
        <a:ln>
          <a:noFill/>
        </a:ln>
        <a:effectLst/>
      </c:spPr>
    </c:plotArea>
    <c:legend>
      <c:legendPos val="b"/>
      <c:overlay val="0"/>
      <c:txPr>
        <a:bodyPr/>
        <a:lstStyle/>
        <a:p>
          <a:pPr>
            <a:defRPr sz="1100">
              <a:solidFill>
                <a:srgbClr val="152E38"/>
              </a:solidFill>
              <a:latin typeface="Arial"/>
              <a:cs typeface="Arial"/>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9438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1FAA1E-3BFC-C351-11AE-282F8759F2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37D330-FCE7-AA54-9CD2-D573A0F7FC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3E90CA-A9EB-31E6-37F7-C98B418BA351}"/>
              </a:ext>
            </a:extLst>
          </p:cNvPr>
          <p:cNvSpPr>
            <a:spLocks noGrp="1"/>
          </p:cNvSpPr>
          <p:nvPr>
            <p:ph type="body" idx="1"/>
          </p:nvPr>
        </p:nvSpPr>
        <p:spPr/>
        <p:txBody>
          <a:bodyPr/>
          <a:lstStyle/>
          <a:p>
            <a:r>
              <a:rPr lang="en-US" dirty="0"/>
              <a:t>Opening explanation: We study attribution, meaning identifying the generating model from its C source code. The inputs are code strings and the targets are known LLM labels. We do not execute the programs or classify human authorship. LLM means Large Language Model. The full dataset has 32,000 examples and eight authors; we use the five labels from the paper's main setting. Balanced classes provide a 20% uniform-chance reference, while Naive Bayes is our trained baseline. The dataset is useful because it directly matches the question, fixes the programming language and provides comments and character patterns to investigate. Model versions, prompts and task content still limit generalization. Instructor approval was confirmed by email. Sources: https://github.com/LLMauthorbench/LLMauthorbench and https://arxiv.org/abs/2506.17323 . The original authors describe 300 parameterized C-programming templates followed by deduplication and compilation filtering. Our grouped split differs from the paper; this is not reproduction of its scores. AI assisted with implementation, figures and explanations. Transition: next explain how we keep the comparison fair.</a:t>
            </a:r>
          </a:p>
        </p:txBody>
      </p:sp>
      <p:sp>
        <p:nvSpPr>
          <p:cNvPr id="4" name="Slide Number Placeholder 3">
            <a:extLst>
              <a:ext uri="{FF2B5EF4-FFF2-40B4-BE49-F238E27FC236}">
                <a16:creationId xmlns:a16="http://schemas.microsoft.com/office/drawing/2014/main" id="{2724BEB8-74A8-EE3D-9D5E-979F6BFD86D2}"/>
              </a:ext>
            </a:extLst>
          </p:cNvPr>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31057556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explanation: We study attribution, meaning identifying the generating model from its C source code. The inputs are code strings and the targets are known LLM labels. We do not execute the programs or classify human authorship. LLM means Large Language Model. The full dataset has 32,000 examples and eight authors; we use the five labels from the paper's main setting. Balanced classes provide a 20% uniform-chance reference, while Naive Bayes is our trained baseline. The dataset is useful because it directly matches the question, fixes the programming language and provides comments and character patterns to investigate. Model versions, prompts and task content still limit generalization. Instructor approval was confirmed by email. Sources: https://github.com/LLMauthorbench/LLMauthorbench and https://arxiv.org/abs/2506.17323 . The original authors describe 300 parameterized C-programming templates followed by deduplication and compilation filtering. Our grouped split differs from the paper; this is not reproduction of its scores. AI assisted with implementation, figures and explanations. Transition: next explain how we keep the comparison fair.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three roles: training learns parameters, validation chooses the original winner and CodeT5 checkpoint, test estimates held-out performance. Counts are 13,150/2,978/3,872; task-family counts are 181/38/40. Families differ in size, so a roughly 70/15/15 group assignment does not produce the same sample proportions. The saved split is reused by all models. Related prompt variants such as sorting 10 or 12 values can produce similar code; inferred grouping tries to prevent task memorization across splits, but cannot eliminate every semantic overlap. Exact source hashes and prompts are checked. TF-IDF expands to Term Frequency–Inverse Document Frequency. A term is a character pattern, a document is one program. TF uses 1+ln(count) for present patterns; IDF uses 1+ln((1+N)/(1+df)); weights are multiplied then normalized to Euclidean length 1. N is the training count and df the number of training programs containing the pattern. Training-only fitting prevents vocabulary/IDF leakage. Case is preserved, while the character analyzer collapses repeated whitespace. 500 features means fewer columns, not fewer examples. CodeT5 instead uses its pretrained tokenizer and first 256 tokens; its representation is different, but the split is identical. Sources: assignment.py, data/splits.csv, results/class_counts.csv, results/split_counts.csv.</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rationale: Naive Bayes combines class-specific feature evidence under conditional independence; overlapping character patterns violate this assumption, but it is a useful fast baseline. Logistic Regression learns linear class scores with a probability loss. SVM is also linear but uses a margin objective, testing whether the training criterion matters. Random Forest combines 150 trees and can learn nonlinear interactions. Fixed settings: NB alpha=1; LR C=1, lbfgs, max_iter=3000; SVM C=1, dual=auto, max_iter=10000; RF max_depth=40, min_samples_leaf=2, sqrt feature sampling. Shared classical features and seed 42, with no grid search. Read the displayed equation: w transpose x means multiply each feature by its weight and sum. Add intercept b to obtain a score for class k. Argmax chooses the largest score. Scores are not probabilities. Toy example: x=[0.6,0.8], w=[2,-1], b=0.1 gives 0.5. Training minimizes one half of (sum of squared weights plus b squared) plus C times the sum of squared max(0, 1-y_i(w transpose x_i+b)). Label y is +1 for one author, -1 for the rest. C=1 balances regularization and margin violations; intercept is regularized because intercept_scaling=1. A signed score of 0.6 gives loss 0.16; at least 1 gives zero loss. CodeT5 uses Salesforce/codet5-base encoder, masked mean of token vectors, dropout 0.1 and linear head, with cross-entropy loss. AdamW learning rate 2e-5, weight decay 0.01, batch 16. All five epochs completed, best validation F1 0.799756 at epoch 3; loss kept falling while validation declined afterwards. This is our adaptation, not the paper implementation. Sources: assignment.py, supplied CodeT5 settings/history, https://scikit-learn.org/stable/modules/generated/sklearn.svm.LinearSVC.html and https://huggingface.co/Salesforce/codet5-base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accuracy and F1 separately: accuracy counts all correct predictions, while Macro-F1 averages class F1 values equally. Precision is TP/(TP+FP), recall is TP/(TP+FN), F1 is 2PR/(P+R). SVM has 3,088 correct of 3,872. For DeepSeek, TP=462, predicted DeepSeek total=692 and actual DeepSeek total=771, so precision=0.6676, recall=0.5992 and F1=0.6316. Gemini is easier for this model, with F1=0.9524. The 199 DeepSeek-to-Llama errors indicate recurring confusion, not its cause. SVM was selected by validation Macro-F1 0.8062. CodeT5 best validation score is 0.7998 and test score 0.7725; do not confuse validation with test. The test F1 gap is 100*(0.7970261-0.7725136)=2.45125 percentage points. CodeT5 is slightly above LR, but no statistical significance is established. Its pretrained representation, truncation and optimization differ, so its ranking does not prove SVM universally superior. Classical fit seconds exclude TF-IDF and saving; CodeT5 291.706 seconds includes validation/saving on A100 40GB. CodeT5 raw state dictionary is 438,494,134 bytes; classical files use compression and exclude the vectorizer. These sizes/times are not controlled efficiency comparisons. Sources: results/metrics.csv, saved SVM confusion matrix, user-supplied codet5_results (1).zip and best_model (1).pt. All CodeT5 test IDs, labels, counts and metrics were verified.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explanation before discussing the result: we hypothesized that comment patterns and many distributed character patterns particularly supported SVM relative to Logistic Regression. Removing comments refits TF-IDF on comment-free training code, with the same samples and model settings. Scores fell, but the validation gap grew from 1.4869 to 3.0270 percentage points, contradicting the predicted narrowing. Feature restriction keeps original code and comments, choosing the 500 most frequent patterns from training data rather than using labels to pick them. The gap fell to 1.3882 points, a narrowing of only 0.0987 points. That is weak directional evidence; all validation and test ranks stayed unchanged. We used one preset feature limit, not a sweep for a favorable result. These are exploratory follow-ups because prior outcomes were known. Restricting features also changes normalization and the forest sqrt candidate-feature count, so it is not a clean isolation of one mechanism. Adding CodeT5 expands the comparison but does not repair a failed ablation prediction. The honest conclusion is that SVM works best in our measured setup, and a richer representation helps all models, while the unique cause of SVM advantage remains unresolved. No confidence intervals or significance tests were established. Limit generalization to these authors, C code, prompt conditions and inferred groups. Sources: results/comment_comparison.csv, results/feature_comparison.csv and results/feature_interpretation.md.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verified 4 October 2026. The dataset is from LLM-AuthorBench. Our neural experiment uses Salesforce/codet5-base, not an exact reproduction of the authors’ CodeT5-Authorship model. https://arxiv.org/abs/2506.17323</a:t>
            </a:r>
          </a:p>
          <a:p xmlns:a="http://schemas.openxmlformats.org/drawingml/2006/main">
            <a:r>
              <a:t>https://github.com/LLMauthorbench/LLMauthorbench</a:t>
            </a:r>
          </a:p>
          <a:p xmlns:a="http://schemas.openxmlformats.org/drawingml/2006/main">
            <a:r>
              <a:t>https://aclanthology.org/2021.emnlp-main.685/</a:t>
            </a:r>
          </a:p>
          <a:p xmlns:a="http://schemas.openxmlformats.org/drawingml/2006/main">
            <a:r>
              <a:t>https://jmlr.org/papers/v12/pedregosa11a.html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hyperlink" Target="https://github.com/S3eeDTR/LLM-AuthorBench-Assignment"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hyperlink" Target="https://github.com/S3eeDTR/LLM-AuthorBench-Assignment" TargetMode="Externa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hyperlink" Target="https://arxiv.org/abs/2506.17323" TargetMode="External"/><Relationship Id="rId4" Type="http://schemas.openxmlformats.org/officeDocument/2006/relationships/hyperlink" Target="https://github.com/LLMauthorbench/LLMauthorbench" TargetMode="External"/><Relationship Id="rId5" Type="http://schemas.openxmlformats.org/officeDocument/2006/relationships/hyperlink" Target="https://aclanthology.org/2021.emnlp-main.685/" TargetMode="External"/><Relationship Id="rId6" Type="http://schemas.openxmlformats.org/officeDocument/2006/relationships/hyperlink" Target="https://jmlr.org/papers/v12/pedregosa11a.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7A97AE-2D36-2FB7-96B8-946EAEFABA61}"/>
            </a:ext>
          </a:extLst>
        </p:cNvPr>
        <p:cNvGrpSpPr/>
        <p:nvPr/>
      </p:nvGrpSpPr>
      <p:grpSpPr>
        <a:xfrm>
          <a:off x="0" y="0"/>
          <a:ext cx="0" cy="0"/>
          <a:chOff x="0" y="0"/>
          <a:chExt cx="0" cy="0"/>
        </a:xfrm>
      </p:grpSpPr>
      <p:pic>
        <p:nvPicPr>
          <p:cNvPr id="36" name="Picture 35" descr="United Arab Emirates University (UAEU) | UAE's National University">
            <a:extLst>
              <a:ext uri="{FF2B5EF4-FFF2-40B4-BE49-F238E27FC236}">
                <a16:creationId xmlns:a16="http://schemas.microsoft.com/office/drawing/2014/main" id="{D611A971-BB7D-24B6-1A22-7EFFAE5D1198}"/>
              </a:ext>
            </a:extLst>
          </p:cNvPr>
          <p:cNvPicPr>
            <a:picLocks noChangeAspect="1"/>
          </p:cNvPicPr>
          <p:nvPr/>
        </p:nvPicPr>
        <p:blipFill>
          <a:blip r:embed="rId3"/>
          <a:stretch>
            <a:fillRect/>
          </a:stretch>
        </p:blipFill>
        <p:spPr>
          <a:xfrm>
            <a:off x="9658330" y="413539"/>
            <a:ext cx="2533670" cy="1330177"/>
          </a:xfrm>
          <a:prstGeom prst="rect">
            <a:avLst/>
          </a:prstGeom>
        </p:spPr>
      </p:pic>
      <p:sp>
        <p:nvSpPr>
          <p:cNvPr id="100" name="">
            <a:extLst>
              <a:ext uri="{FF2B5EF4-FFF2-40B4-BE49-F238E27FC236}">
                <a16:creationId xmlns:a16="http://schemas.microsoft.com/office/drawing/2014/main" id="{56E0C335-00B1-4838-933E-52035591950D}"/>
              </a:ext>
            </a:extLst>
          </p:cNvPr>
          <p:cNvSpPr>
            <a:spLocks noGrp="1"/>
          </p:cNvSpPr>
          <p:nvPr/>
        </p:nvSpPr>
        <p:spPr>
          <a:xfrm>
            <a:off x="666750" y="1743075"/>
            <a:ext cx="10477500" cy="361950"/>
          </a:xfrm>
          <a:prstGeom prst="rect">
            <a:avLst/>
          </a:prstGeom>
          <a:noFill/>
          <a:ln w="0">
            <a:noFill/>
          </a:ln>
        </p:spPr>
        <p:txBody>
          <a:bodyPr>
            <a:noAutofit/>
          </a:bodyPr>
          <a:lstStyle/>
          <a:p>
            <a:pPr>
              <a:defRPr sz="1875" b="1">
                <a:solidFill>
                  <a:srgbClr val="147D85"/>
                </a:solidFill>
                <a:latin typeface="Arial"/>
                <a:ea typeface="Arial"/>
                <a:cs typeface="Arial"/>
              </a:defRPr>
            </a:pPr>
            <a:r>
              <a:rPr sz="1875" b="1">
                <a:solidFill>
                  <a:srgbClr val="147D85"/>
                </a:solidFill>
                <a:latin typeface="Arial"/>
                <a:ea typeface="Arial"/>
                <a:cs typeface="Arial"/>
              </a:rPr>
              <a:t>CSBP711  |  Advanced Artificial Intelligence</a:t>
            </a:r>
          </a:p>
        </p:txBody>
      </p:sp>
      <p:sp>
        <p:nvSpPr>
          <p:cNvPr id="101" name="">
            <a:extLst>
              <a:ext uri="{FF2B5EF4-FFF2-40B4-BE49-F238E27FC236}">
                <a16:creationId xmlns:a16="http://schemas.microsoft.com/office/drawing/2014/main" id="{E1FE5F77-A164-42A3-B7D7-B8F27E200112}"/>
              </a:ext>
            </a:extLst>
          </p:cNvPr>
          <p:cNvSpPr>
            <a:spLocks noGrp="1"/>
          </p:cNvSpPr>
          <p:nvPr/>
        </p:nvSpPr>
        <p:spPr>
          <a:xfrm>
            <a:off x="666750" y="2381250"/>
            <a:ext cx="10810875" cy="762000"/>
          </a:xfrm>
          <a:prstGeom prst="rect">
            <a:avLst/>
          </a:prstGeom>
          <a:noFill/>
          <a:ln w="0">
            <a:noFill/>
          </a:ln>
        </p:spPr>
        <p:txBody>
          <a:bodyPr>
            <a:noAutofit/>
          </a:bodyPr>
          <a:lstStyle/>
          <a:p>
            <a:pPr>
              <a:defRPr sz="3675" b="1">
                <a:solidFill>
                  <a:srgbClr val="17343E"/>
                </a:solidFill>
                <a:latin typeface="Arial"/>
                <a:ea typeface="Arial"/>
                <a:cs typeface="Arial"/>
              </a:defRPr>
            </a:pPr>
            <a:r>
              <a:rPr sz="3675" b="1">
                <a:solidFill>
                  <a:srgbClr val="17343E"/>
                </a:solidFill>
                <a:latin typeface="Arial"/>
                <a:ea typeface="Arial"/>
                <a:cs typeface="Arial"/>
              </a:rPr>
              <a:t>Which LLM wrote this C program?</a:t>
            </a:r>
          </a:p>
        </p:txBody>
      </p:sp>
      <p:sp>
        <p:nvSpPr>
          <p:cNvPr id="102" name="">
            <a:extLst>
              <a:ext uri="{FF2B5EF4-FFF2-40B4-BE49-F238E27FC236}">
                <a16:creationId xmlns:a16="http://schemas.microsoft.com/office/drawing/2014/main" id="{D47E9B90-EDEA-4B4F-9BF4-D6943EDE7A7E}"/>
              </a:ext>
            </a:extLst>
          </p:cNvPr>
          <p:cNvSpPr>
            <a:spLocks noGrp="1"/>
          </p:cNvSpPr>
          <p:nvPr/>
        </p:nvSpPr>
        <p:spPr>
          <a:xfrm>
            <a:off x="666750" y="3190875"/>
            <a:ext cx="10810875" cy="419100"/>
          </a:xfrm>
          <a:prstGeom prst="rect">
            <a:avLst/>
          </a:prstGeom>
          <a:noFill/>
          <a:ln w="0">
            <a:noFill/>
          </a:ln>
        </p:spPr>
        <p:txBody>
          <a:bodyPr>
            <a:noAutofit/>
          </a:bodyPr>
          <a:lstStyle/>
          <a:p>
            <a:pPr>
              <a:defRPr sz="2100" b="0">
                <a:solidFill>
                  <a:srgbClr val="17343E"/>
                </a:solidFill>
                <a:latin typeface="Arial"/>
                <a:ea typeface="Arial"/>
                <a:cs typeface="Arial"/>
              </a:defRPr>
            </a:pPr>
            <a:r>
              <a:rPr sz="2100" b="0">
                <a:solidFill>
                  <a:srgbClr val="17343E"/>
                </a:solidFill>
                <a:latin typeface="Arial"/>
                <a:ea typeface="Arial"/>
                <a:cs typeface="Arial"/>
              </a:rPr>
              <a:t>LLM-AuthorBench: five-class authorship classification</a:t>
            </a:r>
          </a:p>
        </p:txBody>
      </p:sp>
      <p:sp>
        <p:nvSpPr>
          <p:cNvPr id="103" name="">
            <a:extLst>
              <a:ext uri="{FF2B5EF4-FFF2-40B4-BE49-F238E27FC236}">
                <a16:creationId xmlns:a16="http://schemas.microsoft.com/office/drawing/2014/main" id="{B5439299-0563-4F3F-B0D5-8DF96AA0E344}"/>
              </a:ext>
            </a:extLst>
          </p:cNvPr>
          <p:cNvSpPr>
            <a:spLocks noGrp="1"/>
          </p:cNvSpPr>
          <p:nvPr/>
        </p:nvSpPr>
        <p:spPr>
          <a:xfrm>
            <a:off x="666750" y="3857625"/>
            <a:ext cx="10477500" cy="342900"/>
          </a:xfrm>
          <a:prstGeom prst="rect">
            <a:avLst/>
          </a:prstGeom>
          <a:noFill/>
          <a:ln w="0">
            <a:noFill/>
          </a:ln>
        </p:spPr>
        <p:txBody>
          <a:bodyPr>
            <a:noAutofit/>
          </a:bodyPr>
          <a:lstStyle/>
          <a:p>
            <a:pPr>
              <a:defRPr sz="1725" b="1">
                <a:solidFill>
                  <a:srgbClr val="147D85"/>
                </a:solidFill>
                <a:latin typeface="Arial"/>
                <a:ea typeface="Arial"/>
                <a:cs typeface="Arial"/>
              </a:defRPr>
            </a:pPr>
            <a:r>
              <a:rPr sz="1725" b="1">
                <a:solidFill>
                  <a:srgbClr val="147D85"/>
                </a:solidFill>
                <a:latin typeface="Arial"/>
                <a:ea typeface="Arial"/>
                <a:cs typeface="Arial"/>
              </a:rPr>
              <a:t>Presented by</a:t>
            </a:r>
          </a:p>
        </p:txBody>
      </p:sp>
      <p:sp>
        <p:nvSpPr>
          <p:cNvPr id="104" name="">
            <a:extLst>
              <a:ext uri="{FF2B5EF4-FFF2-40B4-BE49-F238E27FC236}">
                <a16:creationId xmlns:a16="http://schemas.microsoft.com/office/drawing/2014/main" id="{002D2C72-7142-477A-B708-703DD8273A84}"/>
              </a:ext>
            </a:extLst>
          </p:cNvPr>
          <p:cNvSpPr>
            <a:spLocks noGrp="1"/>
          </p:cNvSpPr>
          <p:nvPr/>
        </p:nvSpPr>
        <p:spPr>
          <a:xfrm>
            <a:off x="666750" y="4267200"/>
            <a:ext cx="10477500" cy="1066800"/>
          </a:xfrm>
          <a:prstGeom prst="rect">
            <a:avLst/>
          </a:prstGeom>
          <a:noFill/>
          <a:ln w="0">
            <a:noFill/>
          </a:ln>
        </p:spPr>
        <p:txBody>
          <a:bodyPr>
            <a:noAutofit/>
          </a:bodyPr>
          <a:lstStyle/>
          <a:p>
            <a:pPr>
              <a:defRPr sz="2025" b="0">
                <a:solidFill>
                  <a:srgbClr val="17343E"/>
                </a:solidFill>
                <a:latin typeface="Arial"/>
                <a:ea typeface="Arial"/>
                <a:cs typeface="Arial"/>
              </a:defRPr>
            </a:pPr>
            <a:r>
              <a:rPr sz="2025" b="0">
                <a:solidFill>
                  <a:srgbClr val="17343E"/>
                </a:solidFill>
                <a:latin typeface="Arial"/>
                <a:ea typeface="Arial"/>
                <a:cs typeface="Arial"/>
              </a:rPr>
              <a:t>Saeed Alshehhi  ·  Khalifa Alblooshi  ·  Maitha Alblooshi</a:t>
            </a:r>
          </a:p>
          <a:p>
            <a:pPr>
              <a:defRPr sz="2025" b="0">
                <a:solidFill>
                  <a:srgbClr val="17343E"/>
                </a:solidFill>
                <a:latin typeface="Arial"/>
                <a:ea typeface="Arial"/>
                <a:cs typeface="Arial"/>
              </a:defRPr>
            </a:pPr>
            <a:r>
              <a:rPr sz="2025" b="0">
                <a:solidFill>
                  <a:srgbClr val="17343E"/>
                </a:solidFill>
                <a:latin typeface="Arial"/>
                <a:ea typeface="Arial"/>
                <a:cs typeface="Arial"/>
              </a:rPr>
              <a:t>Fatima Alnuaimi  ·  Fatima Alsadi</a:t>
            </a:r>
          </a:p>
        </p:txBody>
      </p:sp>
      <p:sp>
        <p:nvSpPr>
          <p:cNvPr id="105" name="">
            <a:extLst>
              <a:ext uri="{FF2B5EF4-FFF2-40B4-BE49-F238E27FC236}">
                <a16:creationId xmlns:a16="http://schemas.microsoft.com/office/drawing/2014/main" id="{95AFB312-E4A6-43B6-A8AA-60E4FA5FCE38}"/>
              </a:ext>
            </a:extLst>
          </p:cNvPr>
          <p:cNvSpPr>
            <a:spLocks noGrp="1"/>
          </p:cNvSpPr>
          <p:nvPr/>
        </p:nvSpPr>
        <p:spPr>
          <a:xfrm>
            <a:off x="666750" y="5695950"/>
            <a:ext cx="10477500" cy="333375"/>
          </a:xfrm>
          <a:prstGeom prst="rect">
            <a:avLst/>
          </a:prstGeom>
          <a:noFill/>
          <a:ln w="0">
            <a:noFill/>
          </a:ln>
        </p:spPr>
        <p:txBody>
          <a:bodyPr>
            <a:noAutofit/>
          </a:bodyPr>
          <a:lstStyle/>
          <a:p>
            <a:pPr>
              <a:defRPr sz="1725" b="0">
                <a:solidFill>
                  <a:srgbClr val="17343E"/>
                </a:solidFill>
                <a:latin typeface="Arial"/>
                <a:ea typeface="Arial"/>
                <a:cs typeface="Arial"/>
              </a:defRPr>
            </a:pPr>
            <a:r>
              <a:rPr sz="1725" b="0">
                <a:solidFill>
                  <a:srgbClr val="17343E"/>
                </a:solidFill>
                <a:latin typeface="Arial"/>
                <a:ea typeface="Arial"/>
                <a:cs typeface="Arial"/>
              </a:rPr>
              <a:t>4 October 2026</a:t>
            </a:r>
          </a:p>
        </p:txBody>
      </p:sp>
      <p:sp>
        <p:nvSpPr>
          <p:cNvPr id="106" name="">
            <a:extLst>
              <a:ext uri="{FF2B5EF4-FFF2-40B4-BE49-F238E27FC236}">
                <a16:creationId xmlns:a16="http://schemas.microsoft.com/office/drawing/2014/main" id="{47B0A580-FA38-4064-AD61-854C0104B551}"/>
              </a:ext>
            </a:extLst>
          </p:cNvPr>
          <p:cNvSpPr>
            <a:spLocks noGrp="1"/>
          </p:cNvSpPr>
          <p:nvPr/>
        </p:nvSpPr>
        <p:spPr>
          <a:xfrm>
            <a:off x="666750" y="6191250"/>
            <a:ext cx="10953750" cy="323850"/>
          </a:xfrm>
          <a:prstGeom prst="rect">
            <a:avLst/>
          </a:prstGeom>
          <a:noFill/>
          <a:ln w="0">
            <a:noFill/>
          </a:ln>
        </p:spPr>
        <p:txBody>
          <a:bodyPr>
            <a:noAutofit/>
          </a:bodyPr>
          <a:lstStyle/>
          <a:p>
            <a:pPr>
              <a:defRPr sz="1650" b="0">
                <a:solidFill>
                  <a:srgbClr val="147D85"/>
                </a:solidFill>
                <a:latin typeface="Arial"/>
                <a:ea typeface="Arial"/>
                <a:cs typeface="Arial"/>
              </a:defRPr>
            </a:pPr>
            <a:r>
              <a:rPr sz="1650" b="0">
                <a:solidFill>
                  <a:srgbClr val="147D85"/>
                </a:solidFill>
                <a:latin typeface="Arial"/>
                <a:ea typeface="Arial"/>
                <a:cs typeface="Arial"/>
                <a:hlinkClick r:id="rId4"/>
              </a:rPr>
              <a:t>github.com/S3eeDTR/LLM-AuthorBench-Assignment</a:t>
            </a:r>
          </a:p>
        </p:txBody>
      </p:sp>
    </p:spTree>
    <p:extLst>
      <p:ext uri="{BB962C8B-B14F-4D97-AF65-F5344CB8AC3E}">
        <p14:creationId xmlns:p14="http://schemas.microsoft.com/office/powerpoint/2010/main" val="5326353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152E38"/>
        </a:solidFill>
        <a:effectLst/>
      </p:bgPr>
    </p:bg>
    <p:spTree>
      <p:nvGrpSpPr>
        <p:cNvPr id="1" name=""/>
        <p:cNvGrpSpPr/>
        <p:nvPr/>
      </p:nvGrpSpPr>
      <p:grpSpPr>
        <a:xfrm>
          <a:off x="0" y="0"/>
          <a:ext cx="0" cy="0"/>
          <a:chOff x="0" y="0"/>
          <a:chExt cx="0" cy="0"/>
        </a:xfrm>
      </p:grpSpPr>
      <p:sp>
        <p:nvSpPr>
          <p:cNvPr id="4" name="Text 2"/>
          <p:cNvSpPr txBox="1"/>
          <p:nvPr/>
        </p:nvSpPr>
        <p:spPr>
          <a:xfrm>
            <a:off x="640080" y="1032237"/>
            <a:ext cx="6766560" cy="685800"/>
          </a:xfrm>
          <a:prstGeom prst="rect">
            <a:avLst/>
          </a:prstGeom>
          <a:noFill/>
          <a:ln/>
        </p:spPr>
        <p:txBody>
          <a:bodyPr wrap="square" lIns="0" tIns="0" rIns="0" bIns="0" rtlCol="0" anchor="t"/>
          <a:lstStyle/>
          <a:p>
            <a:pPr marL="0" indent="0">
              <a:buNone/>
            </a:pPr>
            <a:r>
              <a:rPr lang="en-US" sz="1700" dirty="0">
                <a:solidFill>
                  <a:srgbClr val="CFE3E6"/>
                </a:solidFill>
                <a:latin typeface="Arial" pitchFamily="34" charset="0"/>
                <a:ea typeface="Arial" pitchFamily="34" charset="-122"/>
                <a:cs typeface="Arial" pitchFamily="34" charset="-120"/>
              </a:rPr>
              <a:t>We compare four classical models and a pretrained CodeT5 encoder. The goal is a fair comparison and an evidence-based explanation.</a:t>
            </a:r>
            <a:endParaRPr lang="en-US" sz="1700" dirty="0"/>
          </a:p>
        </p:txBody>
      </p:sp>
      <p:sp>
        <p:nvSpPr>
          <p:cNvPr id="5" name="Text 3"/>
          <p:cNvSpPr txBox="1"/>
          <p:nvPr/>
        </p:nvSpPr>
        <p:spPr>
          <a:xfrm>
            <a:off x="640080" y="1992357"/>
            <a:ext cx="2468880" cy="731520"/>
          </a:xfrm>
          <a:prstGeom prst="rect">
            <a:avLst/>
          </a:prstGeom>
          <a:noFill/>
          <a:ln/>
        </p:spPr>
        <p:txBody>
          <a:bodyPr wrap="square" lIns="0" tIns="0" rIns="0" bIns="0" rtlCol="0" anchor="ctr"/>
          <a:lstStyle/>
          <a:p>
            <a:pPr marL="0" indent="0">
              <a:buNone/>
            </a:pPr>
            <a:r>
              <a:rPr lang="en-US" sz="4800" b="1" dirty="0">
                <a:solidFill>
                  <a:srgbClr val="7FD1C7"/>
                </a:solidFill>
                <a:latin typeface="Arial" pitchFamily="34" charset="0"/>
                <a:ea typeface="Arial" pitchFamily="34" charset="-122"/>
                <a:cs typeface="Arial" pitchFamily="34" charset="-120"/>
              </a:rPr>
              <a:t>20,000</a:t>
            </a:r>
            <a:endParaRPr lang="en-US" sz="4800" dirty="0"/>
          </a:p>
        </p:txBody>
      </p:sp>
      <p:sp>
        <p:nvSpPr>
          <p:cNvPr id="6" name="Text 4"/>
          <p:cNvSpPr txBox="1"/>
          <p:nvPr/>
        </p:nvSpPr>
        <p:spPr>
          <a:xfrm>
            <a:off x="640080" y="2751309"/>
            <a:ext cx="2468880" cy="274320"/>
          </a:xfrm>
          <a:prstGeom prst="rect">
            <a:avLst/>
          </a:prstGeom>
          <a:noFill/>
          <a:ln/>
        </p:spPr>
        <p:txBody>
          <a:bodyPr wrap="square" lIns="0" tIns="0" rIns="0" bIns="0" rtlCol="0" anchor="t"/>
          <a:lstStyle/>
          <a:p>
            <a:pPr marL="0" indent="0">
              <a:buNone/>
            </a:pPr>
            <a:r>
              <a:rPr lang="en-US" sz="1400" dirty="0">
                <a:solidFill>
                  <a:srgbClr val="FFFFFF"/>
                </a:solidFill>
                <a:latin typeface="Arial" pitchFamily="34" charset="0"/>
                <a:ea typeface="Arial" pitchFamily="34" charset="-122"/>
                <a:cs typeface="Arial" pitchFamily="34" charset="-120"/>
              </a:rPr>
              <a:t>C programs</a:t>
            </a:r>
            <a:endParaRPr lang="en-US" sz="1400" dirty="0"/>
          </a:p>
        </p:txBody>
      </p:sp>
      <p:sp>
        <p:nvSpPr>
          <p:cNvPr id="7" name="Text 5"/>
          <p:cNvSpPr txBox="1"/>
          <p:nvPr/>
        </p:nvSpPr>
        <p:spPr>
          <a:xfrm>
            <a:off x="3291840" y="1992357"/>
            <a:ext cx="1463040" cy="731520"/>
          </a:xfrm>
          <a:prstGeom prst="rect">
            <a:avLst/>
          </a:prstGeom>
          <a:noFill/>
          <a:ln/>
        </p:spPr>
        <p:txBody>
          <a:bodyPr wrap="square" lIns="0" tIns="0" rIns="0" bIns="0" rtlCol="0" anchor="ctr"/>
          <a:lstStyle/>
          <a:p>
            <a:pPr marL="0" indent="0">
              <a:buNone/>
            </a:pPr>
            <a:r>
              <a:rPr lang="en-US" sz="4800" b="1" dirty="0">
                <a:solidFill>
                  <a:srgbClr val="7FD1C7"/>
                </a:solidFill>
                <a:latin typeface="Arial" pitchFamily="34" charset="0"/>
                <a:ea typeface="Arial" pitchFamily="34" charset="-122"/>
                <a:cs typeface="Arial" pitchFamily="34" charset="-120"/>
              </a:rPr>
              <a:t>5</a:t>
            </a:r>
            <a:endParaRPr lang="en-US" sz="4800" dirty="0"/>
          </a:p>
        </p:txBody>
      </p:sp>
      <p:sp>
        <p:nvSpPr>
          <p:cNvPr id="8" name="Text 6"/>
          <p:cNvSpPr txBox="1"/>
          <p:nvPr/>
        </p:nvSpPr>
        <p:spPr>
          <a:xfrm>
            <a:off x="3291840" y="2751309"/>
            <a:ext cx="1463040" cy="274320"/>
          </a:xfrm>
          <a:prstGeom prst="rect">
            <a:avLst/>
          </a:prstGeom>
          <a:noFill/>
          <a:ln/>
        </p:spPr>
        <p:txBody>
          <a:bodyPr wrap="square" lIns="0" tIns="0" rIns="0" bIns="0" rtlCol="0" anchor="t"/>
          <a:lstStyle/>
          <a:p>
            <a:pPr marL="0" indent="0">
              <a:buNone/>
            </a:pPr>
            <a:r>
              <a:rPr lang="en-US" sz="1400" dirty="0">
                <a:solidFill>
                  <a:srgbClr val="FFFFFF"/>
                </a:solidFill>
                <a:latin typeface="Arial" pitchFamily="34" charset="0"/>
                <a:ea typeface="Arial" pitchFamily="34" charset="-122"/>
                <a:cs typeface="Arial" pitchFamily="34" charset="-120"/>
              </a:rPr>
              <a:t>LLM authors</a:t>
            </a:r>
            <a:endParaRPr lang="en-US" sz="1400" dirty="0"/>
          </a:p>
        </p:txBody>
      </p:sp>
      <p:sp>
        <p:nvSpPr>
          <p:cNvPr id="9" name="Text 7"/>
          <p:cNvSpPr txBox="1"/>
          <p:nvPr/>
        </p:nvSpPr>
        <p:spPr>
          <a:xfrm>
            <a:off x="4937760" y="1992357"/>
            <a:ext cx="2377440" cy="731520"/>
          </a:xfrm>
          <a:prstGeom prst="rect">
            <a:avLst/>
          </a:prstGeom>
          <a:noFill/>
          <a:ln/>
        </p:spPr>
        <p:txBody>
          <a:bodyPr wrap="square" lIns="0" tIns="0" rIns="0" bIns="0" rtlCol="0" anchor="ctr"/>
          <a:lstStyle/>
          <a:p>
            <a:pPr marL="0" indent="0">
              <a:buNone/>
            </a:pPr>
            <a:r>
              <a:rPr lang="en-US" sz="4800" b="1" dirty="0">
                <a:solidFill>
                  <a:srgbClr val="7FD1C7"/>
                </a:solidFill>
                <a:latin typeface="Arial" pitchFamily="34" charset="0"/>
                <a:ea typeface="Arial" pitchFamily="34" charset="-122"/>
                <a:cs typeface="Arial" pitchFamily="34" charset="-120"/>
              </a:rPr>
              <a:t>4,000</a:t>
            </a:r>
            <a:endParaRPr lang="en-US" sz="4800" dirty="0"/>
          </a:p>
        </p:txBody>
      </p:sp>
      <p:sp>
        <p:nvSpPr>
          <p:cNvPr id="10" name="Text 8"/>
          <p:cNvSpPr txBox="1"/>
          <p:nvPr/>
        </p:nvSpPr>
        <p:spPr>
          <a:xfrm>
            <a:off x="4937760" y="2751309"/>
            <a:ext cx="2377440" cy="274320"/>
          </a:xfrm>
          <a:prstGeom prst="rect">
            <a:avLst/>
          </a:prstGeom>
          <a:noFill/>
          <a:ln/>
        </p:spPr>
        <p:txBody>
          <a:bodyPr wrap="square" lIns="0" tIns="0" rIns="0" bIns="0" rtlCol="0" anchor="t"/>
          <a:lstStyle/>
          <a:p>
            <a:pPr marL="0" indent="0">
              <a:buNone/>
            </a:pPr>
            <a:r>
              <a:rPr lang="en-US" sz="1400" dirty="0">
                <a:solidFill>
                  <a:srgbClr val="FFFFFF"/>
                </a:solidFill>
                <a:latin typeface="Arial" pitchFamily="34" charset="0"/>
                <a:ea typeface="Arial" pitchFamily="34" charset="-122"/>
                <a:cs typeface="Arial" pitchFamily="34" charset="-120"/>
              </a:rPr>
              <a:t>examples per author</a:t>
            </a:r>
            <a:endParaRPr lang="en-US" sz="1400" dirty="0"/>
          </a:p>
        </p:txBody>
      </p:sp>
      <p:sp>
        <p:nvSpPr>
          <p:cNvPr id="11" name="Text 9"/>
          <p:cNvSpPr txBox="1"/>
          <p:nvPr/>
        </p:nvSpPr>
        <p:spPr>
          <a:xfrm>
            <a:off x="640080" y="3363957"/>
            <a:ext cx="5486400" cy="274320"/>
          </a:xfrm>
          <a:prstGeom prst="rect">
            <a:avLst/>
          </a:prstGeom>
          <a:noFill/>
          <a:ln/>
        </p:spPr>
        <p:txBody>
          <a:bodyPr wrap="square" lIns="0" tIns="0" rIns="0" bIns="0" rtlCol="0" anchor="t"/>
          <a:lstStyle/>
          <a:p>
            <a:pPr marL="0" indent="0">
              <a:buNone/>
            </a:pPr>
            <a:r>
              <a:rPr lang="en-US" sz="1100" b="1" kern="0" spc="200" dirty="0">
                <a:solidFill>
                  <a:srgbClr val="7FD1C7"/>
                </a:solidFill>
                <a:latin typeface="Arial" pitchFamily="34" charset="0"/>
                <a:ea typeface="Arial" pitchFamily="34" charset="-122"/>
                <a:cs typeface="Arial" pitchFamily="34" charset="-120"/>
              </a:rPr>
              <a:t>THE FIVE AUTHORS</a:t>
            </a:r>
            <a:endParaRPr lang="en-US" sz="1100" dirty="0"/>
          </a:p>
        </p:txBody>
      </p:sp>
      <p:sp>
        <p:nvSpPr>
          <p:cNvPr id="12" name="Text 10"/>
          <p:cNvSpPr/>
          <p:nvPr/>
        </p:nvSpPr>
        <p:spPr>
          <a:xfrm>
            <a:off x="640080" y="3683997"/>
            <a:ext cx="1828800" cy="365760"/>
          </a:xfrm>
          <a:prstGeom prst="roundRect">
            <a:avLst>
              <a:gd name="adj" fmla="val 50000"/>
            </a:avLst>
          </a:prstGeom>
          <a:solidFill>
            <a:srgbClr val="1F3F4B"/>
          </a:solidFill>
          <a:ln w="12700">
            <a:solidFill>
              <a:srgbClr val="117C83"/>
            </a:solidFill>
          </a:ln>
        </p:spPr>
        <p:txBody>
          <a:bodyPr wrap="square" lIns="0" tIns="0" rIns="0" bIns="0" rtlCol="0" anchor="ctr"/>
          <a:lstStyle/>
          <a:p>
            <a:pPr marL="0" indent="0" algn="ctr">
              <a:buNone/>
            </a:pPr>
            <a:r>
              <a:rPr lang="en-US" sz="1300" dirty="0">
                <a:solidFill>
                  <a:srgbClr val="FFFFFF"/>
                </a:solidFill>
                <a:latin typeface="Arial" pitchFamily="34" charset="0"/>
                <a:ea typeface="Arial" pitchFamily="34" charset="-122"/>
                <a:cs typeface="Arial" pitchFamily="34" charset="-120"/>
              </a:rPr>
              <a:t>Claude 3.5 Haiku</a:t>
            </a:r>
            <a:endParaRPr lang="en-US" sz="1300" dirty="0"/>
          </a:p>
        </p:txBody>
      </p:sp>
      <p:sp>
        <p:nvSpPr>
          <p:cNvPr id="13" name="Text 11"/>
          <p:cNvSpPr/>
          <p:nvPr/>
        </p:nvSpPr>
        <p:spPr>
          <a:xfrm>
            <a:off x="2651760" y="3683997"/>
            <a:ext cx="1600200" cy="365760"/>
          </a:xfrm>
          <a:prstGeom prst="roundRect">
            <a:avLst>
              <a:gd name="adj" fmla="val 50000"/>
            </a:avLst>
          </a:prstGeom>
          <a:solidFill>
            <a:srgbClr val="1F3F4B"/>
          </a:solidFill>
          <a:ln w="12700">
            <a:solidFill>
              <a:srgbClr val="117C83"/>
            </a:solidFill>
          </a:ln>
        </p:spPr>
        <p:txBody>
          <a:bodyPr wrap="square" lIns="0" tIns="0" rIns="0" bIns="0" rtlCol="0" anchor="ctr"/>
          <a:lstStyle/>
          <a:p>
            <a:pPr marL="0" indent="0" algn="ctr">
              <a:buNone/>
            </a:pPr>
            <a:r>
              <a:rPr lang="en-US" sz="1300" dirty="0">
                <a:solidFill>
                  <a:srgbClr val="FFFFFF"/>
                </a:solidFill>
                <a:latin typeface="Arial" pitchFamily="34" charset="0"/>
                <a:ea typeface="Arial" pitchFamily="34" charset="-122"/>
                <a:cs typeface="Arial" pitchFamily="34" charset="-120"/>
              </a:rPr>
              <a:t>DeepSeek Chat</a:t>
            </a:r>
            <a:endParaRPr lang="en-US" sz="1300" dirty="0"/>
          </a:p>
        </p:txBody>
      </p:sp>
      <p:sp>
        <p:nvSpPr>
          <p:cNvPr id="14" name="Text 12"/>
          <p:cNvSpPr/>
          <p:nvPr/>
        </p:nvSpPr>
        <p:spPr>
          <a:xfrm>
            <a:off x="4434840" y="3683997"/>
            <a:ext cx="2514600" cy="365760"/>
          </a:xfrm>
          <a:prstGeom prst="roundRect">
            <a:avLst>
              <a:gd name="adj" fmla="val 50000"/>
            </a:avLst>
          </a:prstGeom>
          <a:solidFill>
            <a:srgbClr val="1F3F4B"/>
          </a:solidFill>
          <a:ln w="12700">
            <a:solidFill>
              <a:srgbClr val="117C83"/>
            </a:solidFill>
          </a:ln>
        </p:spPr>
        <p:txBody>
          <a:bodyPr wrap="square" lIns="0" tIns="0" rIns="0" bIns="0" rtlCol="0" anchor="ctr"/>
          <a:lstStyle/>
          <a:p>
            <a:pPr marL="0" indent="0" algn="ctr">
              <a:buNone/>
            </a:pPr>
            <a:r>
              <a:rPr lang="en-US" sz="1300" dirty="0">
                <a:solidFill>
                  <a:srgbClr val="FFFFFF"/>
                </a:solidFill>
                <a:latin typeface="Arial" pitchFamily="34" charset="0"/>
                <a:ea typeface="Arial" pitchFamily="34" charset="-122"/>
                <a:cs typeface="Arial" pitchFamily="34" charset="-120"/>
              </a:rPr>
              <a:t>Gemini 2.5 Flash Preview</a:t>
            </a:r>
            <a:endParaRPr lang="en-US" sz="1300" dirty="0"/>
          </a:p>
        </p:txBody>
      </p:sp>
      <p:sp>
        <p:nvSpPr>
          <p:cNvPr id="15" name="Text 13"/>
          <p:cNvSpPr/>
          <p:nvPr/>
        </p:nvSpPr>
        <p:spPr>
          <a:xfrm>
            <a:off x="640080" y="4159485"/>
            <a:ext cx="1051560" cy="365760"/>
          </a:xfrm>
          <a:prstGeom prst="roundRect">
            <a:avLst>
              <a:gd name="adj" fmla="val 50000"/>
            </a:avLst>
          </a:prstGeom>
          <a:solidFill>
            <a:srgbClr val="1F3F4B"/>
          </a:solidFill>
          <a:ln w="12700">
            <a:solidFill>
              <a:srgbClr val="117C83"/>
            </a:solidFill>
          </a:ln>
        </p:spPr>
        <p:txBody>
          <a:bodyPr wrap="square" lIns="0" tIns="0" rIns="0" bIns="0" rtlCol="0" anchor="ctr"/>
          <a:lstStyle/>
          <a:p>
            <a:pPr marL="0" indent="0" algn="ctr">
              <a:buNone/>
            </a:pPr>
            <a:r>
              <a:rPr lang="en-US" sz="1300" dirty="0">
                <a:solidFill>
                  <a:srgbClr val="FFFFFF"/>
                </a:solidFill>
                <a:latin typeface="Arial" pitchFamily="34" charset="0"/>
                <a:ea typeface="Arial" pitchFamily="34" charset="-122"/>
                <a:cs typeface="Arial" pitchFamily="34" charset="-120"/>
              </a:rPr>
              <a:t>GPT-4.1</a:t>
            </a:r>
            <a:endParaRPr lang="en-US" sz="1300" dirty="0"/>
          </a:p>
        </p:txBody>
      </p:sp>
      <p:sp>
        <p:nvSpPr>
          <p:cNvPr id="16" name="Text 14"/>
          <p:cNvSpPr/>
          <p:nvPr/>
        </p:nvSpPr>
        <p:spPr>
          <a:xfrm>
            <a:off x="1874520" y="4159485"/>
            <a:ext cx="2331720" cy="365760"/>
          </a:xfrm>
          <a:prstGeom prst="roundRect">
            <a:avLst>
              <a:gd name="adj" fmla="val 50000"/>
            </a:avLst>
          </a:prstGeom>
          <a:solidFill>
            <a:srgbClr val="1F3F4B"/>
          </a:solidFill>
          <a:ln w="12700">
            <a:solidFill>
              <a:srgbClr val="117C83"/>
            </a:solidFill>
          </a:ln>
        </p:spPr>
        <p:txBody>
          <a:bodyPr wrap="square" lIns="0" tIns="0" rIns="0" bIns="0" rtlCol="0" anchor="ctr"/>
          <a:lstStyle/>
          <a:p>
            <a:pPr marL="0" indent="0" algn="ctr">
              <a:buNone/>
            </a:pPr>
            <a:r>
              <a:rPr lang="en-US" sz="1300" dirty="0">
                <a:solidFill>
                  <a:srgbClr val="FFFFFF"/>
                </a:solidFill>
                <a:latin typeface="Arial" pitchFamily="34" charset="0"/>
                <a:ea typeface="Arial" pitchFamily="34" charset="-122"/>
                <a:cs typeface="Arial" pitchFamily="34" charset="-120"/>
              </a:rPr>
              <a:t>Llama 3.3 70B Instruct</a:t>
            </a:r>
            <a:endParaRPr lang="en-US" sz="1300" dirty="0"/>
          </a:p>
        </p:txBody>
      </p:sp>
      <p:sp>
        <p:nvSpPr>
          <p:cNvPr id="17" name="Shape 15"/>
          <p:cNvSpPr/>
          <p:nvPr/>
        </p:nvSpPr>
        <p:spPr>
          <a:xfrm>
            <a:off x="7863840" y="1946637"/>
            <a:ext cx="3867912" cy="2606040"/>
          </a:xfrm>
          <a:prstGeom prst="roundRect">
            <a:avLst>
              <a:gd name="adj" fmla="val 2807"/>
            </a:avLst>
          </a:prstGeom>
          <a:solidFill>
            <a:srgbClr val="1F3F4B"/>
          </a:solidFill>
          <a:ln w="12700">
            <a:solidFill>
              <a:srgbClr val="1F3F4B"/>
            </a:solidFill>
            <a:prstDash val="solid"/>
          </a:ln>
        </p:spPr>
        <p:txBody>
          <a:bodyPr/>
          <a:lstStyle/>
          <a:p>
            <a:endParaRPr lang="en-US"/>
          </a:p>
        </p:txBody>
      </p:sp>
      <p:sp>
        <p:nvSpPr>
          <p:cNvPr id="18" name="Text 16"/>
          <p:cNvSpPr txBox="1"/>
          <p:nvPr/>
        </p:nvSpPr>
        <p:spPr>
          <a:xfrm>
            <a:off x="8138160" y="2129517"/>
            <a:ext cx="3383280" cy="365760"/>
          </a:xfrm>
          <a:prstGeom prst="rect">
            <a:avLst/>
          </a:prstGeom>
          <a:noFill/>
          <a:ln/>
        </p:spPr>
        <p:txBody>
          <a:bodyPr wrap="square" lIns="0" tIns="0" rIns="0" bIns="0" rtlCol="0" anchor="t"/>
          <a:lstStyle/>
          <a:p>
            <a:pPr marL="0" indent="0">
              <a:buNone/>
            </a:pPr>
            <a:r>
              <a:rPr lang="en-US" sz="2000" b="1" dirty="0">
                <a:solidFill>
                  <a:srgbClr val="FFFFFF"/>
                </a:solidFill>
                <a:latin typeface="Arial" pitchFamily="34" charset="0"/>
                <a:ea typeface="Arial" pitchFamily="34" charset="-122"/>
                <a:cs typeface="Arial" pitchFamily="34" charset="-120"/>
              </a:rPr>
              <a:t>Why this dataset?</a:t>
            </a:r>
            <a:endParaRPr lang="en-US" sz="2000" dirty="0"/>
          </a:p>
        </p:txBody>
      </p:sp>
      <p:sp>
        <p:nvSpPr>
          <p:cNvPr id="19" name="Shape 17"/>
          <p:cNvSpPr/>
          <p:nvPr/>
        </p:nvSpPr>
        <p:spPr>
          <a:xfrm>
            <a:off x="8138160" y="2678157"/>
            <a:ext cx="329184" cy="329184"/>
          </a:xfrm>
          <a:prstGeom prst="ellipse">
            <a:avLst/>
          </a:prstGeom>
          <a:solidFill>
            <a:srgbClr val="117C83"/>
          </a:solidFill>
          <a:ln w="12700">
            <a:solidFill>
              <a:srgbClr val="117C83"/>
            </a:solidFill>
            <a:prstDash val="solid"/>
          </a:ln>
        </p:spPr>
        <p:txBody>
          <a:bodyPr/>
          <a:lstStyle/>
          <a:p>
            <a:endParaRPr lang="en-US"/>
          </a:p>
        </p:txBody>
      </p:sp>
      <p:pic>
        <p:nvPicPr>
          <p:cNvPr id="20" name="Image 0" descr="preencoded.png"/>
          <p:cNvPicPr>
            <a:picLocks noChangeAspect="1"/>
          </p:cNvPicPr>
          <p:nvPr/>
        </p:nvPicPr>
        <p:blipFill>
          <a:blip r:embed="rId3"/>
          <a:stretch>
            <a:fillRect/>
          </a:stretch>
        </p:blipFill>
        <p:spPr>
          <a:xfrm>
            <a:off x="8223748" y="2763745"/>
            <a:ext cx="158008" cy="158008"/>
          </a:xfrm>
          <a:prstGeom prst="rect">
            <a:avLst/>
          </a:prstGeom>
        </p:spPr>
      </p:pic>
      <p:sp>
        <p:nvSpPr>
          <p:cNvPr id="21" name="Text 18"/>
          <p:cNvSpPr txBox="1"/>
          <p:nvPr/>
        </p:nvSpPr>
        <p:spPr>
          <a:xfrm>
            <a:off x="8595360" y="2678157"/>
            <a:ext cx="3017520" cy="329184"/>
          </a:xfrm>
          <a:prstGeom prst="rect">
            <a:avLst/>
          </a:prstGeom>
          <a:noFill/>
          <a:ln/>
        </p:spPr>
        <p:txBody>
          <a:bodyPr wrap="square" lIns="0" tIns="0" rIns="0" bIns="0" rtlCol="0" anchor="ctr"/>
          <a:lstStyle/>
          <a:p>
            <a:pPr marL="0" indent="0">
              <a:buNone/>
            </a:pPr>
            <a:r>
              <a:rPr lang="en-US" sz="1350" dirty="0">
                <a:solidFill>
                  <a:srgbClr val="FFFFFF"/>
                </a:solidFill>
                <a:latin typeface="Arial" pitchFamily="34" charset="0"/>
                <a:ea typeface="Arial" pitchFamily="34" charset="-122"/>
                <a:cs typeface="Arial" pitchFamily="34" charset="-120"/>
              </a:rPr>
              <a:t>Known labels for supervised learning</a:t>
            </a:r>
            <a:endParaRPr lang="en-US" sz="1350" dirty="0"/>
          </a:p>
        </p:txBody>
      </p:sp>
      <p:sp>
        <p:nvSpPr>
          <p:cNvPr id="22" name="Shape 19"/>
          <p:cNvSpPr/>
          <p:nvPr/>
        </p:nvSpPr>
        <p:spPr>
          <a:xfrm>
            <a:off x="8138160" y="3117069"/>
            <a:ext cx="329184" cy="329184"/>
          </a:xfrm>
          <a:prstGeom prst="ellipse">
            <a:avLst/>
          </a:prstGeom>
          <a:solidFill>
            <a:srgbClr val="117C83"/>
          </a:solidFill>
          <a:ln w="12700">
            <a:solidFill>
              <a:srgbClr val="117C83"/>
            </a:solidFill>
            <a:prstDash val="solid"/>
          </a:ln>
        </p:spPr>
        <p:txBody>
          <a:bodyPr/>
          <a:lstStyle/>
          <a:p>
            <a:endParaRPr lang="en-US"/>
          </a:p>
        </p:txBody>
      </p:sp>
      <p:pic>
        <p:nvPicPr>
          <p:cNvPr id="23" name="Image 1" descr="preencoded.png"/>
          <p:cNvPicPr>
            <a:picLocks noChangeAspect="1"/>
          </p:cNvPicPr>
          <p:nvPr/>
        </p:nvPicPr>
        <p:blipFill>
          <a:blip r:embed="rId4"/>
          <a:stretch>
            <a:fillRect/>
          </a:stretch>
        </p:blipFill>
        <p:spPr>
          <a:xfrm>
            <a:off x="8223748" y="3202657"/>
            <a:ext cx="158008" cy="158008"/>
          </a:xfrm>
          <a:prstGeom prst="rect">
            <a:avLst/>
          </a:prstGeom>
        </p:spPr>
      </p:pic>
      <p:sp>
        <p:nvSpPr>
          <p:cNvPr id="24" name="Text 20"/>
          <p:cNvSpPr txBox="1"/>
          <p:nvPr/>
        </p:nvSpPr>
        <p:spPr>
          <a:xfrm>
            <a:off x="8595360" y="3117069"/>
            <a:ext cx="3017520" cy="329184"/>
          </a:xfrm>
          <a:prstGeom prst="rect">
            <a:avLst/>
          </a:prstGeom>
          <a:noFill/>
          <a:ln/>
        </p:spPr>
        <p:txBody>
          <a:bodyPr wrap="square" lIns="0" tIns="0" rIns="0" bIns="0" rtlCol="0" anchor="ctr"/>
          <a:lstStyle/>
          <a:p>
            <a:pPr marL="0" indent="0">
              <a:buNone/>
            </a:pPr>
            <a:r>
              <a:rPr lang="en-US" sz="1350" dirty="0">
                <a:solidFill>
                  <a:srgbClr val="FFFFFF"/>
                </a:solidFill>
                <a:latin typeface="Arial" pitchFamily="34" charset="0"/>
                <a:ea typeface="Arial" pitchFamily="34" charset="-122"/>
                <a:cs typeface="Arial" pitchFamily="34" charset="-120"/>
              </a:rPr>
              <a:t>Balanced examples across five authors</a:t>
            </a:r>
            <a:endParaRPr lang="en-US" sz="1350" dirty="0"/>
          </a:p>
        </p:txBody>
      </p:sp>
      <p:sp>
        <p:nvSpPr>
          <p:cNvPr id="25" name="Shape 21"/>
          <p:cNvSpPr/>
          <p:nvPr/>
        </p:nvSpPr>
        <p:spPr>
          <a:xfrm>
            <a:off x="8138160" y="3555981"/>
            <a:ext cx="329184" cy="329184"/>
          </a:xfrm>
          <a:prstGeom prst="ellipse">
            <a:avLst/>
          </a:prstGeom>
          <a:solidFill>
            <a:srgbClr val="117C83"/>
          </a:solidFill>
          <a:ln w="12700">
            <a:solidFill>
              <a:srgbClr val="117C83"/>
            </a:solidFill>
            <a:prstDash val="solid"/>
          </a:ln>
        </p:spPr>
        <p:txBody>
          <a:bodyPr/>
          <a:lstStyle/>
          <a:p>
            <a:endParaRPr lang="en-US"/>
          </a:p>
        </p:txBody>
      </p:sp>
      <p:pic>
        <p:nvPicPr>
          <p:cNvPr id="26" name="Image 2" descr="preencoded.png"/>
          <p:cNvPicPr>
            <a:picLocks noChangeAspect="1"/>
          </p:cNvPicPr>
          <p:nvPr/>
        </p:nvPicPr>
        <p:blipFill>
          <a:blip r:embed="rId5"/>
          <a:stretch>
            <a:fillRect/>
          </a:stretch>
        </p:blipFill>
        <p:spPr>
          <a:xfrm>
            <a:off x="8223748" y="3641569"/>
            <a:ext cx="158008" cy="158008"/>
          </a:xfrm>
          <a:prstGeom prst="rect">
            <a:avLst/>
          </a:prstGeom>
        </p:spPr>
      </p:pic>
      <p:sp>
        <p:nvSpPr>
          <p:cNvPr id="27" name="Text 22"/>
          <p:cNvSpPr txBox="1"/>
          <p:nvPr/>
        </p:nvSpPr>
        <p:spPr>
          <a:xfrm>
            <a:off x="8595360" y="3555981"/>
            <a:ext cx="3017520" cy="329184"/>
          </a:xfrm>
          <a:prstGeom prst="rect">
            <a:avLst/>
          </a:prstGeom>
          <a:noFill/>
          <a:ln/>
        </p:spPr>
        <p:txBody>
          <a:bodyPr wrap="square" lIns="0" tIns="0" rIns="0" bIns="0" rtlCol="0" anchor="ctr"/>
          <a:lstStyle/>
          <a:p>
            <a:pPr marL="0" indent="0">
              <a:buNone/>
            </a:pPr>
            <a:r>
              <a:rPr lang="en-US" sz="1350" dirty="0">
                <a:solidFill>
                  <a:srgbClr val="FFFFFF"/>
                </a:solidFill>
                <a:latin typeface="Arial" pitchFamily="34" charset="0"/>
                <a:ea typeface="Arial" pitchFamily="34" charset="-122"/>
                <a:cs typeface="Arial" pitchFamily="34" charset="-120"/>
              </a:rPr>
              <a:t>C code keeps the language consistent</a:t>
            </a:r>
            <a:endParaRPr lang="en-US" sz="1350" dirty="0"/>
          </a:p>
        </p:txBody>
      </p:sp>
      <p:sp>
        <p:nvSpPr>
          <p:cNvPr id="28" name="Shape 23"/>
          <p:cNvSpPr/>
          <p:nvPr/>
        </p:nvSpPr>
        <p:spPr>
          <a:xfrm>
            <a:off x="8138160" y="3994893"/>
            <a:ext cx="329184" cy="329184"/>
          </a:xfrm>
          <a:prstGeom prst="ellipse">
            <a:avLst/>
          </a:prstGeom>
          <a:solidFill>
            <a:srgbClr val="117C83"/>
          </a:solidFill>
          <a:ln w="12700">
            <a:solidFill>
              <a:srgbClr val="117C83"/>
            </a:solidFill>
            <a:prstDash val="solid"/>
          </a:ln>
        </p:spPr>
        <p:txBody>
          <a:bodyPr/>
          <a:lstStyle/>
          <a:p>
            <a:endParaRPr lang="en-US"/>
          </a:p>
        </p:txBody>
      </p:sp>
      <p:pic>
        <p:nvPicPr>
          <p:cNvPr id="29" name="Image 3" descr="preencoded.png"/>
          <p:cNvPicPr>
            <a:picLocks noChangeAspect="1"/>
          </p:cNvPicPr>
          <p:nvPr/>
        </p:nvPicPr>
        <p:blipFill>
          <a:blip r:embed="rId6"/>
          <a:stretch>
            <a:fillRect/>
          </a:stretch>
        </p:blipFill>
        <p:spPr>
          <a:xfrm>
            <a:off x="8223748" y="4080481"/>
            <a:ext cx="158008" cy="158008"/>
          </a:xfrm>
          <a:prstGeom prst="rect">
            <a:avLst/>
          </a:prstGeom>
        </p:spPr>
      </p:pic>
      <p:sp>
        <p:nvSpPr>
          <p:cNvPr id="30" name="Text 24"/>
          <p:cNvSpPr txBox="1"/>
          <p:nvPr/>
        </p:nvSpPr>
        <p:spPr>
          <a:xfrm>
            <a:off x="8595360" y="3994893"/>
            <a:ext cx="3017520" cy="329184"/>
          </a:xfrm>
          <a:prstGeom prst="rect">
            <a:avLst/>
          </a:prstGeom>
          <a:noFill/>
          <a:ln/>
        </p:spPr>
        <p:txBody>
          <a:bodyPr wrap="square" lIns="0" tIns="0" rIns="0" bIns="0" rtlCol="0" anchor="ctr"/>
          <a:lstStyle/>
          <a:p>
            <a:pPr marL="0" indent="0">
              <a:buNone/>
            </a:pPr>
            <a:r>
              <a:rPr lang="en-US" sz="1350" dirty="0">
                <a:solidFill>
                  <a:srgbClr val="FFFFFF"/>
                </a:solidFill>
                <a:latin typeface="Arial" pitchFamily="34" charset="0"/>
                <a:ea typeface="Arial" pitchFamily="34" charset="-122"/>
                <a:cs typeface="Arial" pitchFamily="34" charset="-120"/>
              </a:rPr>
              <a:t>Comments and patterns we can test</a:t>
            </a:r>
            <a:endParaRPr lang="en-US" sz="1350" dirty="0"/>
          </a:p>
        </p:txBody>
      </p:sp>
      <p:sp>
        <p:nvSpPr>
          <p:cNvPr id="31" name="Text 25"/>
          <p:cNvSpPr txBox="1"/>
          <p:nvPr/>
        </p:nvSpPr>
        <p:spPr>
          <a:xfrm>
            <a:off x="640080" y="4872717"/>
            <a:ext cx="11094415" cy="274320"/>
          </a:xfrm>
          <a:prstGeom prst="rect">
            <a:avLst/>
          </a:prstGeom>
          <a:noFill/>
          <a:ln/>
        </p:spPr>
        <p:txBody>
          <a:bodyPr wrap="square" lIns="0" tIns="0" rIns="0" bIns="0" rtlCol="0" anchor="t"/>
          <a:lstStyle/>
          <a:p>
            <a:pPr marL="0" indent="0">
              <a:buNone/>
            </a:pPr>
            <a:r>
              <a:rPr lang="en-US" sz="1400" dirty="0">
                <a:solidFill>
                  <a:srgbClr val="FFFFFF"/>
                </a:solidFill>
                <a:latin typeface="Arial" pitchFamily="34" charset="0"/>
                <a:ea typeface="Arial" pitchFamily="34" charset="-122"/>
                <a:cs typeface="Arial" pitchFamily="34" charset="-120"/>
              </a:rPr>
              <a:t>Saeed Alshehhi  ·  Khalifa Alblooshi  ·  Maitha Alblooshi  ·  Fatima Alnuaimi  ·  Fatima Alsadi</a:t>
            </a:r>
            <a:endParaRPr lang="en-US" sz="1400" dirty="0"/>
          </a:p>
        </p:txBody>
      </p:sp>
      <p:sp>
        <p:nvSpPr>
          <p:cNvPr id="32" name="Text 26"/>
          <p:cNvSpPr txBox="1"/>
          <p:nvPr/>
        </p:nvSpPr>
        <p:spPr>
          <a:xfrm>
            <a:off x="640080" y="5201901"/>
            <a:ext cx="6858000" cy="246888"/>
          </a:xfrm>
          <a:prstGeom prst="rect">
            <a:avLst/>
          </a:prstGeom>
          <a:noFill/>
          <a:ln/>
        </p:spPr>
        <p:txBody>
          <a:bodyPr wrap="square" lIns="0" tIns="0" rIns="0" bIns="0" rtlCol="0" anchor="t"/>
          <a:lstStyle/>
          <a:p>
            <a:pPr marL="0" indent="0">
              <a:buNone/>
            </a:pPr>
            <a:r>
              <a:rPr lang="en-US" sz="1200" u="sng" dirty="0">
                <a:solidFill>
                  <a:srgbClr val="7FD1C7"/>
                </a:solidFill>
                <a:latin typeface="Arial" pitchFamily="34" charset="0"/>
                <a:ea typeface="Arial" pitchFamily="34" charset="-122"/>
                <a:cs typeface="Arial" pitchFamily="34" charset="-120"/>
                <a:hlinkClick r:id="rId7">
                  <a:extLst>
                    <a:ext uri="{A12FA001-AC4F-418D-AE19-62706E023703}">
                      <ahyp:hlinkClr xmlns:ahyp="http://schemas.microsoft.com/office/drawing/2018/hyperlinkcolor" val="tx"/>
                    </a:ext>
                  </a:extLst>
                </a:hlinkClick>
              </a:rPr>
              <a:t>https://github.com/S3eeDTR/LLM-AuthorBench-Assignment</a:t>
            </a:r>
            <a:endParaRPr lang="en-US" sz="1200" dirty="0"/>
          </a:p>
        </p:txBody>
      </p:sp>
      <p:sp>
        <p:nvSpPr>
          <p:cNvPr id="33" name="Text 27"/>
          <p:cNvSpPr txBox="1"/>
          <p:nvPr/>
        </p:nvSpPr>
        <p:spPr>
          <a:xfrm>
            <a:off x="640080" y="5457933"/>
            <a:ext cx="6858000" cy="228600"/>
          </a:xfrm>
          <a:prstGeom prst="rect">
            <a:avLst/>
          </a:prstGeom>
          <a:noFill/>
          <a:ln/>
        </p:spPr>
        <p:txBody>
          <a:bodyPr wrap="square" lIns="0" tIns="0" rIns="0" bIns="0" rtlCol="0" anchor="t"/>
          <a:lstStyle/>
          <a:p>
            <a:pPr marL="0" indent="0">
              <a:buNone/>
            </a:pPr>
            <a:r>
              <a:rPr lang="en-US" sz="1100" dirty="0">
                <a:solidFill>
                  <a:srgbClr val="CFE3E6"/>
                </a:solidFill>
                <a:latin typeface="Arial" pitchFamily="34" charset="0"/>
                <a:ea typeface="Arial" pitchFamily="34" charset="-122"/>
                <a:cs typeface="Arial" pitchFamily="34" charset="-120"/>
              </a:rPr>
              <a:t>Data: github.com/LLMauthorbench/LLMauthorbench</a:t>
            </a:r>
            <a:endParaRPr lang="en-US" sz="1100" dirty="0"/>
          </a:p>
        </p:txBody>
      </p:sp>
      <p:sp>
        <p:nvSpPr>
          <p:cNvPr id="34" name="Slide number 2">
            <a:extLst>
              <a:ext uri="{FF2B5EF4-FFF2-40B4-BE49-F238E27FC236}">
                <a16:creationId xmlns:a16="http://schemas.microsoft.com/office/drawing/2014/main" id="{D9B6ED0C-9F97-4A33-8109-B9952AF04CFA}"/>
              </a:ext>
            </a:extLst>
          </p:cNvPr>
          <p:cNvSpPr>
            <a:spLocks noGrp="1"/>
          </p:cNvSpPr>
          <p:nvPr/>
        </p:nvSpPr>
        <p:spPr>
          <a:xfrm>
            <a:off x="11544300" y="6486525"/>
            <a:ext cx="361950" cy="257175"/>
          </a:xfrm>
          <a:prstGeom prst="rect">
            <a:avLst/>
          </a:prstGeom>
          <a:noFill/>
          <a:ln w="0">
            <a:noFill/>
          </a:ln>
        </p:spPr>
        <p:txBody>
          <a:bodyPr>
            <a:noAutofit/>
          </a:bodyPr>
          <a:lstStyle/>
          <a:p>
            <a:pPr>
              <a:defRPr sz="1275">
                <a:solidFill>
                  <a:srgbClr val="DCEBED"/>
                </a:solidFill>
                <a:latin typeface="Arial"/>
                <a:ea typeface="Arial"/>
                <a:cs typeface="Arial"/>
              </a:defRPr>
            </a:pPr>
            <a:r>
              <a:rPr sz="1275">
                <a:solidFill>
                  <a:srgbClr val="DCEBED"/>
                </a:solidFill>
                <a:latin typeface="Arial"/>
                <a:ea typeface="Arial"/>
                <a:cs typeface="Aria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94415" cy="640080"/>
          </a:xfrm>
          <a:prstGeom prst="rect">
            <a:avLst/>
          </a:prstGeom>
          <a:noFill/>
          <a:ln/>
        </p:spPr>
        <p:txBody>
          <a:bodyPr wrap="square" lIns="0" tIns="0" rIns="0" bIns="0" rtlCol="0" anchor="ctr"/>
          <a:lstStyle/>
          <a:p>
            <a:pPr marL="0" indent="0">
              <a:buNone/>
            </a:pPr>
            <a:r>
              <a:rPr lang="en-US" sz="3000" b="1" dirty="0">
                <a:solidFill>
                  <a:srgbClr val="152E38"/>
                </a:solidFill>
                <a:latin typeface="Arial" pitchFamily="34" charset="0"/>
                <a:ea typeface="Arial" pitchFamily="34" charset="-122"/>
                <a:cs typeface="Arial" pitchFamily="34" charset="-120"/>
              </a:rPr>
              <a:t>Data preparation: learn patterns without leakage</a:t>
            </a:r>
            <a:endParaRPr lang="en-US" sz="3000" dirty="0"/>
          </a:p>
        </p:txBody>
      </p:sp>
      <p:sp>
        <p:nvSpPr>
          <p:cNvPr id="3" name="Text 1"/>
          <p:cNvSpPr txBox="1"/>
          <p:nvPr/>
        </p:nvSpPr>
        <p:spPr>
          <a:xfrm>
            <a:off x="548640" y="1280160"/>
            <a:ext cx="5486400" cy="274320"/>
          </a:xfrm>
          <a:prstGeom prst="rect">
            <a:avLst/>
          </a:prstGeom>
          <a:noFill/>
          <a:ln/>
        </p:spPr>
        <p:txBody>
          <a:bodyPr wrap="square" lIns="0" tIns="0" rIns="0" bIns="0" rtlCol="0" anchor="t"/>
          <a:lstStyle/>
          <a:p>
            <a:pPr marL="0" indent="0">
              <a:buNone/>
            </a:pPr>
            <a:r>
              <a:rPr lang="en-US" sz="1100" b="1" kern="0" spc="200" dirty="0">
                <a:solidFill>
                  <a:srgbClr val="117C83"/>
                </a:solidFill>
                <a:latin typeface="Arial" pitchFamily="34" charset="0"/>
                <a:ea typeface="Arial" pitchFamily="34" charset="-122"/>
                <a:cs typeface="Arial" pitchFamily="34" charset="-120"/>
              </a:rPr>
              <a:t>ONE GROUPED SPLIT, REUSED BY EVERY MODEL</a:t>
            </a:r>
            <a:endParaRPr lang="en-US" sz="1100" dirty="0"/>
          </a:p>
        </p:txBody>
      </p:sp>
      <p:sp>
        <p:nvSpPr>
          <p:cNvPr id="4" name="Text 2"/>
          <p:cNvSpPr/>
          <p:nvPr/>
        </p:nvSpPr>
        <p:spPr>
          <a:xfrm>
            <a:off x="548640" y="1627632"/>
            <a:ext cx="3607308" cy="457200"/>
          </a:xfrm>
          <a:prstGeom prst="rect">
            <a:avLst/>
          </a:prstGeom>
          <a:solidFill>
            <a:srgbClr val="152E38"/>
          </a:solidFill>
          <a:ln w="12700">
            <a:solidFill>
              <a:srgbClr val="FFFFFF"/>
            </a:solid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Training  66%</a:t>
            </a:r>
            <a:endParaRPr lang="en-US" sz="1200" dirty="0"/>
          </a:p>
        </p:txBody>
      </p:sp>
      <p:sp>
        <p:nvSpPr>
          <p:cNvPr id="5" name="Text 3"/>
          <p:cNvSpPr/>
          <p:nvPr/>
        </p:nvSpPr>
        <p:spPr>
          <a:xfrm>
            <a:off x="4155948" y="1627632"/>
            <a:ext cx="816925" cy="457200"/>
          </a:xfrm>
          <a:prstGeom prst="rect">
            <a:avLst/>
          </a:prstGeom>
          <a:solidFill>
            <a:srgbClr val="117C83"/>
          </a:solidFill>
          <a:ln w="12700">
            <a:solidFill>
              <a:srgbClr val="FFFFFF"/>
            </a:solid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15%</a:t>
            </a:r>
            <a:endParaRPr lang="en-US" sz="1200" dirty="0"/>
          </a:p>
        </p:txBody>
      </p:sp>
      <p:sp>
        <p:nvSpPr>
          <p:cNvPr id="6" name="Text 4"/>
          <p:cNvSpPr/>
          <p:nvPr/>
        </p:nvSpPr>
        <p:spPr>
          <a:xfrm>
            <a:off x="4972873" y="1627632"/>
            <a:ext cx="1062167" cy="457200"/>
          </a:xfrm>
          <a:prstGeom prst="rect">
            <a:avLst/>
          </a:prstGeom>
          <a:solidFill>
            <a:srgbClr val="F2A541"/>
          </a:solidFill>
          <a:ln w="12700">
            <a:solidFill>
              <a:srgbClr val="FFFFFF"/>
            </a:solidFill>
          </a:ln>
        </p:spPr>
        <p:txBody>
          <a:bodyPr wrap="square" lIns="0" tIns="0" rIns="0" bIns="0" rtlCol="0" anchor="ctr"/>
          <a:lstStyle/>
          <a:p>
            <a:pPr marL="0" indent="0" algn="ctr">
              <a:buNone/>
            </a:pPr>
            <a:r>
              <a:rPr lang="en-US" sz="1200" b="1" dirty="0">
                <a:solidFill>
                  <a:srgbClr val="152E38"/>
                </a:solidFill>
                <a:latin typeface="Arial" pitchFamily="34" charset="0"/>
                <a:ea typeface="Arial" pitchFamily="34" charset="-122"/>
                <a:cs typeface="Arial" pitchFamily="34" charset="-120"/>
              </a:rPr>
              <a:t>19%</a:t>
            </a:r>
            <a:endParaRPr lang="en-US" sz="1200" dirty="0"/>
          </a:p>
        </p:txBody>
      </p:sp>
      <p:sp>
        <p:nvSpPr>
          <p:cNvPr id="7" name="Shape 5"/>
          <p:cNvSpPr/>
          <p:nvPr/>
        </p:nvSpPr>
        <p:spPr>
          <a:xfrm>
            <a:off x="548640" y="2331720"/>
            <a:ext cx="5486400" cy="731520"/>
          </a:xfrm>
          <a:prstGeom prst="roundRect">
            <a:avLst>
              <a:gd name="adj" fmla="val 10000"/>
            </a:avLst>
          </a:prstGeom>
          <a:solidFill>
            <a:srgbClr val="F3F7F8"/>
          </a:solidFill>
          <a:ln w="12700">
            <a:solidFill>
              <a:srgbClr val="F3F7F8"/>
            </a:solidFill>
            <a:prstDash val="solid"/>
          </a:ln>
        </p:spPr>
        <p:txBody>
          <a:bodyPr/>
          <a:lstStyle/>
          <a:p>
            <a:endParaRPr lang="en-US"/>
          </a:p>
        </p:txBody>
      </p:sp>
      <p:sp>
        <p:nvSpPr>
          <p:cNvPr id="8" name="Shape 6"/>
          <p:cNvSpPr/>
          <p:nvPr/>
        </p:nvSpPr>
        <p:spPr>
          <a:xfrm>
            <a:off x="749808" y="2596896"/>
            <a:ext cx="201168" cy="201168"/>
          </a:xfrm>
          <a:prstGeom prst="ellipse">
            <a:avLst/>
          </a:prstGeom>
          <a:solidFill>
            <a:srgbClr val="152E38"/>
          </a:solidFill>
          <a:ln w="12700">
            <a:solidFill>
              <a:srgbClr val="152E38"/>
            </a:solidFill>
            <a:prstDash val="solid"/>
          </a:ln>
        </p:spPr>
        <p:txBody>
          <a:bodyPr/>
          <a:lstStyle/>
          <a:p>
            <a:endParaRPr lang="en-US"/>
          </a:p>
        </p:txBody>
      </p:sp>
      <p:sp>
        <p:nvSpPr>
          <p:cNvPr id="9" name="Text 7"/>
          <p:cNvSpPr txBox="1"/>
          <p:nvPr/>
        </p:nvSpPr>
        <p:spPr>
          <a:xfrm>
            <a:off x="1097280" y="2331720"/>
            <a:ext cx="1371600" cy="731520"/>
          </a:xfrm>
          <a:prstGeom prst="rect">
            <a:avLst/>
          </a:prstGeom>
          <a:noFill/>
          <a:ln/>
        </p:spPr>
        <p:txBody>
          <a:bodyPr wrap="square" lIns="0" tIns="0" rIns="0" bIns="0" rtlCol="0" anchor="ctr"/>
          <a:lstStyle/>
          <a:p>
            <a:pPr marL="0" indent="0">
              <a:buNone/>
            </a:pPr>
            <a:r>
              <a:rPr lang="en-US" sz="1600" b="1" dirty="0">
                <a:solidFill>
                  <a:srgbClr val="152E38"/>
                </a:solidFill>
                <a:latin typeface="Arial" pitchFamily="34" charset="0"/>
                <a:ea typeface="Arial" pitchFamily="34" charset="-122"/>
                <a:cs typeface="Arial" pitchFamily="34" charset="-120"/>
              </a:rPr>
              <a:t>Training</a:t>
            </a:r>
            <a:endParaRPr lang="en-US" sz="1600" dirty="0"/>
          </a:p>
        </p:txBody>
      </p:sp>
      <p:sp>
        <p:nvSpPr>
          <p:cNvPr id="10" name="Text 8"/>
          <p:cNvSpPr txBox="1"/>
          <p:nvPr/>
        </p:nvSpPr>
        <p:spPr>
          <a:xfrm>
            <a:off x="2423160" y="2331720"/>
            <a:ext cx="1234440" cy="731520"/>
          </a:xfrm>
          <a:prstGeom prst="rect">
            <a:avLst/>
          </a:prstGeom>
          <a:noFill/>
          <a:ln/>
        </p:spPr>
        <p:txBody>
          <a:bodyPr wrap="square" lIns="0" tIns="0" rIns="0" bIns="0" rtlCol="0" anchor="ctr"/>
          <a:lstStyle/>
          <a:p>
            <a:pPr marL="0" indent="0">
              <a:buNone/>
            </a:pPr>
            <a:r>
              <a:rPr lang="en-US" sz="2200" b="1" dirty="0">
                <a:solidFill>
                  <a:srgbClr val="117C83"/>
                </a:solidFill>
                <a:latin typeface="Arial" pitchFamily="34" charset="0"/>
                <a:ea typeface="Arial" pitchFamily="34" charset="-122"/>
                <a:cs typeface="Arial" pitchFamily="34" charset="-120"/>
              </a:rPr>
              <a:t>13,150</a:t>
            </a:r>
            <a:endParaRPr lang="en-US" sz="2200" dirty="0"/>
          </a:p>
        </p:txBody>
      </p:sp>
      <p:sp>
        <p:nvSpPr>
          <p:cNvPr id="11" name="Text 9"/>
          <p:cNvSpPr txBox="1"/>
          <p:nvPr/>
        </p:nvSpPr>
        <p:spPr>
          <a:xfrm>
            <a:off x="3749040" y="2331720"/>
            <a:ext cx="2194560" cy="731520"/>
          </a:xfrm>
          <a:prstGeom prst="rect">
            <a:avLst/>
          </a:prstGeom>
          <a:noFill/>
          <a:ln/>
        </p:spPr>
        <p:txBody>
          <a:bodyPr wrap="square" lIns="0" tIns="0" rIns="0" bIns="0" rtlCol="0" anchor="ctr"/>
          <a:lstStyle/>
          <a:p>
            <a:pPr marL="0" indent="0">
              <a:buNone/>
            </a:pPr>
            <a:r>
              <a:rPr lang="en-US" sz="1300" dirty="0">
                <a:solidFill>
                  <a:srgbClr val="152E38"/>
                </a:solidFill>
                <a:latin typeface="Arial" pitchFamily="34" charset="0"/>
                <a:ea typeface="Arial" pitchFamily="34" charset="-122"/>
                <a:cs typeface="Arial" pitchFamily="34" charset="-120"/>
              </a:rPr>
              <a:t>Learn features and models</a:t>
            </a:r>
            <a:endParaRPr lang="en-US" sz="1300" dirty="0"/>
          </a:p>
          <a:p>
            <a:pPr marL="0" indent="0">
              <a:buNone/>
            </a:pPr>
            <a:r>
              <a:rPr lang="en-US" sz="1100" dirty="0">
                <a:solidFill>
                  <a:srgbClr val="50636B"/>
                </a:solidFill>
                <a:latin typeface="Arial" pitchFamily="34" charset="0"/>
                <a:ea typeface="Arial" pitchFamily="34" charset="-122"/>
                <a:cs typeface="Arial" pitchFamily="34" charset="-120"/>
              </a:rPr>
              <a:t>181 task groups</a:t>
            </a:r>
            <a:endParaRPr lang="en-US" sz="1300" dirty="0"/>
          </a:p>
        </p:txBody>
      </p:sp>
      <p:sp>
        <p:nvSpPr>
          <p:cNvPr id="12" name="Shape 10"/>
          <p:cNvSpPr/>
          <p:nvPr/>
        </p:nvSpPr>
        <p:spPr>
          <a:xfrm>
            <a:off x="548640" y="3200400"/>
            <a:ext cx="5486400" cy="731520"/>
          </a:xfrm>
          <a:prstGeom prst="roundRect">
            <a:avLst>
              <a:gd name="adj" fmla="val 10000"/>
            </a:avLst>
          </a:prstGeom>
          <a:solidFill>
            <a:srgbClr val="F3F7F8"/>
          </a:solidFill>
          <a:ln w="12700">
            <a:solidFill>
              <a:srgbClr val="F3F7F8"/>
            </a:solidFill>
            <a:prstDash val="solid"/>
          </a:ln>
        </p:spPr>
        <p:txBody>
          <a:bodyPr/>
          <a:lstStyle/>
          <a:p>
            <a:endParaRPr lang="en-US"/>
          </a:p>
        </p:txBody>
      </p:sp>
      <p:sp>
        <p:nvSpPr>
          <p:cNvPr id="13" name="Shape 11"/>
          <p:cNvSpPr/>
          <p:nvPr/>
        </p:nvSpPr>
        <p:spPr>
          <a:xfrm>
            <a:off x="749808" y="3465576"/>
            <a:ext cx="201168" cy="201168"/>
          </a:xfrm>
          <a:prstGeom prst="ellipse">
            <a:avLst/>
          </a:prstGeom>
          <a:solidFill>
            <a:srgbClr val="117C83"/>
          </a:solidFill>
          <a:ln w="12700">
            <a:solidFill>
              <a:srgbClr val="117C83"/>
            </a:solidFill>
            <a:prstDash val="solid"/>
          </a:ln>
        </p:spPr>
        <p:txBody>
          <a:bodyPr/>
          <a:lstStyle/>
          <a:p>
            <a:endParaRPr lang="en-US"/>
          </a:p>
        </p:txBody>
      </p:sp>
      <p:sp>
        <p:nvSpPr>
          <p:cNvPr id="14" name="Text 12"/>
          <p:cNvSpPr txBox="1"/>
          <p:nvPr/>
        </p:nvSpPr>
        <p:spPr>
          <a:xfrm>
            <a:off x="1097280" y="3200400"/>
            <a:ext cx="1371600" cy="731520"/>
          </a:xfrm>
          <a:prstGeom prst="rect">
            <a:avLst/>
          </a:prstGeom>
          <a:noFill/>
          <a:ln/>
        </p:spPr>
        <p:txBody>
          <a:bodyPr wrap="square" lIns="0" tIns="0" rIns="0" bIns="0" rtlCol="0" anchor="ctr"/>
          <a:lstStyle/>
          <a:p>
            <a:pPr marL="0" indent="0">
              <a:buNone/>
            </a:pPr>
            <a:r>
              <a:rPr lang="en-US" sz="1600" b="1" dirty="0">
                <a:solidFill>
                  <a:srgbClr val="152E38"/>
                </a:solidFill>
                <a:latin typeface="Arial" pitchFamily="34" charset="0"/>
                <a:ea typeface="Arial" pitchFamily="34" charset="-122"/>
                <a:cs typeface="Arial" pitchFamily="34" charset="-120"/>
              </a:rPr>
              <a:t>Validation</a:t>
            </a:r>
            <a:endParaRPr lang="en-US" sz="1600" dirty="0"/>
          </a:p>
        </p:txBody>
      </p:sp>
      <p:sp>
        <p:nvSpPr>
          <p:cNvPr id="15" name="Text 13"/>
          <p:cNvSpPr txBox="1"/>
          <p:nvPr/>
        </p:nvSpPr>
        <p:spPr>
          <a:xfrm>
            <a:off x="2423160" y="3200400"/>
            <a:ext cx="1234440" cy="731520"/>
          </a:xfrm>
          <a:prstGeom prst="rect">
            <a:avLst/>
          </a:prstGeom>
          <a:noFill/>
          <a:ln/>
        </p:spPr>
        <p:txBody>
          <a:bodyPr wrap="square" lIns="0" tIns="0" rIns="0" bIns="0" rtlCol="0" anchor="ctr"/>
          <a:lstStyle/>
          <a:p>
            <a:pPr marL="0" indent="0">
              <a:buNone/>
            </a:pPr>
            <a:r>
              <a:rPr lang="en-US" sz="2200" b="1" dirty="0">
                <a:solidFill>
                  <a:srgbClr val="117C83"/>
                </a:solidFill>
                <a:latin typeface="Arial" pitchFamily="34" charset="0"/>
                <a:ea typeface="Arial" pitchFamily="34" charset="-122"/>
                <a:cs typeface="Arial" pitchFamily="34" charset="-120"/>
              </a:rPr>
              <a:t>2,978</a:t>
            </a:r>
            <a:endParaRPr lang="en-US" sz="2200" dirty="0"/>
          </a:p>
        </p:txBody>
      </p:sp>
      <p:sp>
        <p:nvSpPr>
          <p:cNvPr id="16" name="Text 14"/>
          <p:cNvSpPr txBox="1"/>
          <p:nvPr/>
        </p:nvSpPr>
        <p:spPr>
          <a:xfrm>
            <a:off x="3749040" y="3200400"/>
            <a:ext cx="2194560" cy="731520"/>
          </a:xfrm>
          <a:prstGeom prst="rect">
            <a:avLst/>
          </a:prstGeom>
          <a:noFill/>
          <a:ln/>
        </p:spPr>
        <p:txBody>
          <a:bodyPr wrap="square" lIns="0" tIns="0" rIns="0" bIns="0" rtlCol="0" anchor="ctr"/>
          <a:lstStyle/>
          <a:p>
            <a:pPr marL="0" indent="0">
              <a:buNone/>
            </a:pPr>
            <a:r>
              <a:rPr lang="en-US" sz="1300" dirty="0">
                <a:solidFill>
                  <a:srgbClr val="152E38"/>
                </a:solidFill>
                <a:latin typeface="Arial" pitchFamily="34" charset="0"/>
                <a:ea typeface="Arial" pitchFamily="34" charset="-122"/>
                <a:cs typeface="Arial" pitchFamily="34" charset="-120"/>
              </a:rPr>
              <a:t>Choose models / checkpoints</a:t>
            </a:r>
            <a:endParaRPr lang="en-US" sz="1300" dirty="0"/>
          </a:p>
          <a:p>
            <a:pPr marL="0" indent="0">
              <a:buNone/>
            </a:pPr>
            <a:r>
              <a:rPr lang="en-US" sz="1100" dirty="0">
                <a:solidFill>
                  <a:srgbClr val="50636B"/>
                </a:solidFill>
                <a:latin typeface="Arial" pitchFamily="34" charset="0"/>
                <a:ea typeface="Arial" pitchFamily="34" charset="-122"/>
                <a:cs typeface="Arial" pitchFamily="34" charset="-120"/>
              </a:rPr>
              <a:t>38 task groups</a:t>
            </a:r>
            <a:endParaRPr lang="en-US" sz="1300" dirty="0"/>
          </a:p>
        </p:txBody>
      </p:sp>
      <p:sp>
        <p:nvSpPr>
          <p:cNvPr id="17" name="Shape 15"/>
          <p:cNvSpPr/>
          <p:nvPr/>
        </p:nvSpPr>
        <p:spPr>
          <a:xfrm>
            <a:off x="548640" y="4069080"/>
            <a:ext cx="5486400" cy="731520"/>
          </a:xfrm>
          <a:prstGeom prst="roundRect">
            <a:avLst>
              <a:gd name="adj" fmla="val 10000"/>
            </a:avLst>
          </a:prstGeom>
          <a:solidFill>
            <a:srgbClr val="F3F7F8"/>
          </a:solidFill>
          <a:ln w="12700">
            <a:solidFill>
              <a:srgbClr val="F3F7F8"/>
            </a:solidFill>
            <a:prstDash val="solid"/>
          </a:ln>
        </p:spPr>
        <p:txBody>
          <a:bodyPr/>
          <a:lstStyle/>
          <a:p>
            <a:endParaRPr lang="en-US"/>
          </a:p>
        </p:txBody>
      </p:sp>
      <p:sp>
        <p:nvSpPr>
          <p:cNvPr id="18" name="Shape 16"/>
          <p:cNvSpPr/>
          <p:nvPr/>
        </p:nvSpPr>
        <p:spPr>
          <a:xfrm>
            <a:off x="749808" y="4334256"/>
            <a:ext cx="201168" cy="201168"/>
          </a:xfrm>
          <a:prstGeom prst="ellipse">
            <a:avLst/>
          </a:prstGeom>
          <a:solidFill>
            <a:srgbClr val="F2A541"/>
          </a:solidFill>
          <a:ln w="12700">
            <a:solidFill>
              <a:srgbClr val="F2A541"/>
            </a:solidFill>
            <a:prstDash val="solid"/>
          </a:ln>
        </p:spPr>
        <p:txBody>
          <a:bodyPr/>
          <a:lstStyle/>
          <a:p>
            <a:endParaRPr lang="en-US"/>
          </a:p>
        </p:txBody>
      </p:sp>
      <p:sp>
        <p:nvSpPr>
          <p:cNvPr id="19" name="Text 17"/>
          <p:cNvSpPr txBox="1"/>
          <p:nvPr/>
        </p:nvSpPr>
        <p:spPr>
          <a:xfrm>
            <a:off x="1097280" y="4069080"/>
            <a:ext cx="1371600" cy="731520"/>
          </a:xfrm>
          <a:prstGeom prst="rect">
            <a:avLst/>
          </a:prstGeom>
          <a:noFill/>
          <a:ln/>
        </p:spPr>
        <p:txBody>
          <a:bodyPr wrap="square" lIns="0" tIns="0" rIns="0" bIns="0" rtlCol="0" anchor="ctr"/>
          <a:lstStyle/>
          <a:p>
            <a:pPr marL="0" indent="0">
              <a:buNone/>
            </a:pPr>
            <a:r>
              <a:rPr lang="en-US" sz="1600" b="1" dirty="0">
                <a:solidFill>
                  <a:srgbClr val="152E38"/>
                </a:solidFill>
                <a:latin typeface="Arial" pitchFamily="34" charset="0"/>
                <a:ea typeface="Arial" pitchFamily="34" charset="-122"/>
                <a:cs typeface="Arial" pitchFamily="34" charset="-120"/>
              </a:rPr>
              <a:t>Test</a:t>
            </a:r>
            <a:endParaRPr lang="en-US" sz="1600" dirty="0"/>
          </a:p>
        </p:txBody>
      </p:sp>
      <p:sp>
        <p:nvSpPr>
          <p:cNvPr id="20" name="Text 18"/>
          <p:cNvSpPr txBox="1"/>
          <p:nvPr/>
        </p:nvSpPr>
        <p:spPr>
          <a:xfrm>
            <a:off x="2423160" y="4069080"/>
            <a:ext cx="1234440" cy="731520"/>
          </a:xfrm>
          <a:prstGeom prst="rect">
            <a:avLst/>
          </a:prstGeom>
          <a:noFill/>
          <a:ln/>
        </p:spPr>
        <p:txBody>
          <a:bodyPr wrap="square" lIns="0" tIns="0" rIns="0" bIns="0" rtlCol="0" anchor="ctr"/>
          <a:lstStyle/>
          <a:p>
            <a:pPr marL="0" indent="0">
              <a:buNone/>
            </a:pPr>
            <a:r>
              <a:rPr lang="en-US" sz="2200" b="1" dirty="0">
                <a:solidFill>
                  <a:srgbClr val="117C83"/>
                </a:solidFill>
                <a:latin typeface="Arial" pitchFamily="34" charset="0"/>
                <a:ea typeface="Arial" pitchFamily="34" charset="-122"/>
                <a:cs typeface="Arial" pitchFamily="34" charset="-120"/>
              </a:rPr>
              <a:t>3,872</a:t>
            </a:r>
            <a:endParaRPr lang="en-US" sz="2200" dirty="0"/>
          </a:p>
        </p:txBody>
      </p:sp>
      <p:sp>
        <p:nvSpPr>
          <p:cNvPr id="21" name="Text 19"/>
          <p:cNvSpPr txBox="1"/>
          <p:nvPr/>
        </p:nvSpPr>
        <p:spPr>
          <a:xfrm>
            <a:off x="3749040" y="4069080"/>
            <a:ext cx="2194560" cy="731520"/>
          </a:xfrm>
          <a:prstGeom prst="rect">
            <a:avLst/>
          </a:prstGeom>
          <a:noFill/>
          <a:ln/>
        </p:spPr>
        <p:txBody>
          <a:bodyPr wrap="square" lIns="0" tIns="0" rIns="0" bIns="0" rtlCol="0" anchor="ctr"/>
          <a:lstStyle/>
          <a:p>
            <a:pPr marL="0" indent="0">
              <a:buNone/>
            </a:pPr>
            <a:r>
              <a:rPr lang="en-US" sz="1300" dirty="0">
                <a:solidFill>
                  <a:srgbClr val="152E38"/>
                </a:solidFill>
                <a:latin typeface="Arial" pitchFamily="34" charset="0"/>
                <a:ea typeface="Arial" pitchFamily="34" charset="-122"/>
                <a:cs typeface="Arial" pitchFamily="34" charset="-120"/>
              </a:rPr>
              <a:t>Final held-out evaluation</a:t>
            </a:r>
            <a:endParaRPr lang="en-US" sz="1300" dirty="0"/>
          </a:p>
          <a:p>
            <a:pPr marL="0" indent="0">
              <a:buNone/>
            </a:pPr>
            <a:r>
              <a:rPr lang="en-US" sz="1100" dirty="0">
                <a:solidFill>
                  <a:srgbClr val="50636B"/>
                </a:solidFill>
                <a:latin typeface="Arial" pitchFamily="34" charset="0"/>
                <a:ea typeface="Arial" pitchFamily="34" charset="-122"/>
                <a:cs typeface="Arial" pitchFamily="34" charset="-120"/>
              </a:rPr>
              <a:t>40 task groups</a:t>
            </a:r>
            <a:endParaRPr lang="en-US" sz="1300" dirty="0"/>
          </a:p>
        </p:txBody>
      </p:sp>
      <p:sp>
        <p:nvSpPr>
          <p:cNvPr id="22" name="Shape 20"/>
          <p:cNvSpPr/>
          <p:nvPr/>
        </p:nvSpPr>
        <p:spPr>
          <a:xfrm>
            <a:off x="6492240" y="1280160"/>
            <a:ext cx="5150815" cy="3566160"/>
          </a:xfrm>
          <a:prstGeom prst="roundRect">
            <a:avLst>
              <a:gd name="adj" fmla="val 2051"/>
            </a:avLst>
          </a:prstGeom>
          <a:solidFill>
            <a:srgbClr val="F3F7F8"/>
          </a:solidFill>
          <a:ln w="12700">
            <a:solidFill>
              <a:srgbClr val="F3F7F8"/>
            </a:solidFill>
            <a:prstDash val="solid"/>
          </a:ln>
        </p:spPr>
        <p:txBody>
          <a:bodyPr/>
          <a:lstStyle/>
          <a:p>
            <a:endParaRPr lang="en-US"/>
          </a:p>
        </p:txBody>
      </p:sp>
      <p:sp>
        <p:nvSpPr>
          <p:cNvPr id="23" name="Text 21"/>
          <p:cNvSpPr txBox="1"/>
          <p:nvPr/>
        </p:nvSpPr>
        <p:spPr>
          <a:xfrm>
            <a:off x="6766560" y="1463040"/>
            <a:ext cx="1828800" cy="365760"/>
          </a:xfrm>
          <a:prstGeom prst="rect">
            <a:avLst/>
          </a:prstGeom>
          <a:noFill/>
          <a:ln/>
        </p:spPr>
        <p:txBody>
          <a:bodyPr wrap="square" lIns="0" tIns="0" rIns="0" bIns="0" rtlCol="0" anchor="t"/>
          <a:lstStyle/>
          <a:p>
            <a:pPr marL="0" indent="0">
              <a:buNone/>
            </a:pPr>
            <a:r>
              <a:rPr lang="en-US" sz="2000" b="1" dirty="0">
                <a:solidFill>
                  <a:srgbClr val="152E38"/>
                </a:solidFill>
                <a:latin typeface="Arial" pitchFamily="34" charset="0"/>
                <a:ea typeface="Arial" pitchFamily="34" charset="-122"/>
                <a:cs typeface="Arial" pitchFamily="34" charset="-120"/>
              </a:rPr>
              <a:t>TF-IDF</a:t>
            </a:r>
            <a:endParaRPr lang="en-US" sz="2000" dirty="0"/>
          </a:p>
        </p:txBody>
      </p:sp>
      <p:sp>
        <p:nvSpPr>
          <p:cNvPr id="24" name="Text 22"/>
          <p:cNvSpPr txBox="1"/>
          <p:nvPr/>
        </p:nvSpPr>
        <p:spPr>
          <a:xfrm>
            <a:off x="6766560" y="1828800"/>
            <a:ext cx="4602175" cy="274320"/>
          </a:xfrm>
          <a:prstGeom prst="rect">
            <a:avLst/>
          </a:prstGeom>
          <a:noFill/>
          <a:ln/>
        </p:spPr>
        <p:txBody>
          <a:bodyPr wrap="square" lIns="0" tIns="0" rIns="0" bIns="0" rtlCol="0" anchor="t"/>
          <a:lstStyle/>
          <a:p>
            <a:pPr marL="0" indent="0">
              <a:buNone/>
            </a:pPr>
            <a:r>
              <a:rPr lang="en-US" sz="1300" b="1" dirty="0">
                <a:solidFill>
                  <a:srgbClr val="117C83"/>
                </a:solidFill>
                <a:latin typeface="Arial" pitchFamily="34" charset="0"/>
                <a:ea typeface="Arial" pitchFamily="34" charset="-122"/>
                <a:cs typeface="Arial" pitchFamily="34" charset="-120"/>
              </a:rPr>
              <a:t>Term Frequency–Inverse Document Frequency</a:t>
            </a:r>
            <a:endParaRPr lang="en-US" sz="1300" dirty="0"/>
          </a:p>
        </p:txBody>
      </p:sp>
      <p:sp>
        <p:nvSpPr>
          <p:cNvPr id="25" name="Text 23"/>
          <p:cNvSpPr/>
          <p:nvPr/>
        </p:nvSpPr>
        <p:spPr>
          <a:xfrm>
            <a:off x="6766560" y="2286000"/>
            <a:ext cx="1325880" cy="457200"/>
          </a:xfrm>
          <a:prstGeom prst="roundRect">
            <a:avLst>
              <a:gd name="adj" fmla="val 12000"/>
            </a:avLst>
          </a:prstGeom>
          <a:solidFill>
            <a:srgbClr val="152E38"/>
          </a:solidFill>
          <a:ln>
            <a:solidFill>
              <a:srgbClr val="152E38"/>
            </a:solidFill>
          </a:ln>
        </p:spPr>
        <p:txBody>
          <a:bodyPr wrap="square" lIns="0" tIns="0" rIns="0" bIns="0" rtlCol="0" anchor="ctr"/>
          <a:lstStyle/>
          <a:p>
            <a:pPr marL="0" indent="0" algn="ctr">
              <a:buNone/>
            </a:pPr>
            <a:r>
              <a:rPr lang="en-US" sz="1800" b="1" dirty="0">
                <a:solidFill>
                  <a:srgbClr val="FFFFFF"/>
                </a:solidFill>
                <a:latin typeface="Courier New" pitchFamily="34" charset="0"/>
                <a:ea typeface="Courier New" pitchFamily="34" charset="-122"/>
                <a:cs typeface="Courier New" pitchFamily="34" charset="-120"/>
              </a:rPr>
              <a:t>int x;</a:t>
            </a:r>
            <a:endParaRPr lang="en-US" sz="1800" dirty="0"/>
          </a:p>
        </p:txBody>
      </p:sp>
      <p:sp>
        <p:nvSpPr>
          <p:cNvPr id="26" name="Shape 24"/>
          <p:cNvSpPr/>
          <p:nvPr/>
        </p:nvSpPr>
        <p:spPr>
          <a:xfrm>
            <a:off x="8229600" y="2514600"/>
            <a:ext cx="457200" cy="0"/>
          </a:xfrm>
          <a:prstGeom prst="line">
            <a:avLst/>
          </a:prstGeom>
          <a:noFill/>
          <a:ln w="25400">
            <a:solidFill>
              <a:srgbClr val="117C83"/>
            </a:solidFill>
            <a:prstDash val="solid"/>
            <a:tailEnd type="triangle"/>
          </a:ln>
        </p:spPr>
        <p:txBody>
          <a:bodyPr/>
          <a:lstStyle/>
          <a:p>
            <a:endParaRPr lang="en-US"/>
          </a:p>
        </p:txBody>
      </p:sp>
      <p:sp>
        <p:nvSpPr>
          <p:cNvPr id="27" name="Text 25"/>
          <p:cNvSpPr/>
          <p:nvPr/>
        </p:nvSpPr>
        <p:spPr>
          <a:xfrm>
            <a:off x="8823960" y="2286000"/>
            <a:ext cx="777240" cy="457200"/>
          </a:xfrm>
          <a:prstGeom prst="roundRect">
            <a:avLst>
              <a:gd name="adj" fmla="val 12000"/>
            </a:avLst>
          </a:prstGeom>
          <a:solidFill>
            <a:srgbClr val="FFFFFF"/>
          </a:solidFill>
          <a:ln w="12700">
            <a:solidFill>
              <a:srgbClr val="117C83"/>
            </a:solidFill>
          </a:ln>
        </p:spPr>
        <p:txBody>
          <a:bodyPr wrap="square" lIns="0" tIns="0" rIns="0" bIns="0" rtlCol="0" anchor="ctr"/>
          <a:lstStyle/>
          <a:p>
            <a:pPr marL="0" indent="0" algn="ctr">
              <a:buNone/>
            </a:pPr>
            <a:r>
              <a:rPr lang="en-US" sz="1400" b="1" dirty="0">
                <a:solidFill>
                  <a:srgbClr val="117C83"/>
                </a:solidFill>
                <a:latin typeface="Courier New" pitchFamily="34" charset="0"/>
                <a:ea typeface="Courier New" pitchFamily="34" charset="-122"/>
                <a:cs typeface="Courier New" pitchFamily="34" charset="-120"/>
              </a:rPr>
              <a:t>“int”</a:t>
            </a:r>
            <a:endParaRPr lang="en-US" sz="1400" dirty="0"/>
          </a:p>
        </p:txBody>
      </p:sp>
      <p:sp>
        <p:nvSpPr>
          <p:cNvPr id="28" name="Text 26"/>
          <p:cNvSpPr/>
          <p:nvPr/>
        </p:nvSpPr>
        <p:spPr>
          <a:xfrm>
            <a:off x="9692640" y="2286000"/>
            <a:ext cx="777240" cy="457200"/>
          </a:xfrm>
          <a:prstGeom prst="roundRect">
            <a:avLst>
              <a:gd name="adj" fmla="val 12000"/>
            </a:avLst>
          </a:prstGeom>
          <a:solidFill>
            <a:srgbClr val="FFFFFF"/>
          </a:solidFill>
          <a:ln w="12700">
            <a:solidFill>
              <a:srgbClr val="117C83"/>
            </a:solidFill>
          </a:ln>
        </p:spPr>
        <p:txBody>
          <a:bodyPr wrap="square" lIns="0" tIns="0" rIns="0" bIns="0" rtlCol="0" anchor="ctr"/>
          <a:lstStyle/>
          <a:p>
            <a:pPr marL="0" indent="0" algn="ctr">
              <a:buNone/>
            </a:pPr>
            <a:r>
              <a:rPr lang="en-US" sz="1400" b="1" dirty="0">
                <a:solidFill>
                  <a:srgbClr val="117C83"/>
                </a:solidFill>
                <a:latin typeface="Courier New" pitchFamily="34" charset="0"/>
                <a:ea typeface="Courier New" pitchFamily="34" charset="-122"/>
                <a:cs typeface="Courier New" pitchFamily="34" charset="-120"/>
              </a:rPr>
              <a:t>“nt ”</a:t>
            </a:r>
            <a:endParaRPr lang="en-US" sz="1400" dirty="0"/>
          </a:p>
        </p:txBody>
      </p:sp>
      <p:sp>
        <p:nvSpPr>
          <p:cNvPr id="29" name="Text 27"/>
          <p:cNvSpPr/>
          <p:nvPr/>
        </p:nvSpPr>
        <p:spPr>
          <a:xfrm>
            <a:off x="10561320" y="2286000"/>
            <a:ext cx="777240" cy="457200"/>
          </a:xfrm>
          <a:prstGeom prst="roundRect">
            <a:avLst>
              <a:gd name="adj" fmla="val 12000"/>
            </a:avLst>
          </a:prstGeom>
          <a:solidFill>
            <a:srgbClr val="FFFFFF"/>
          </a:solidFill>
          <a:ln w="12700">
            <a:solidFill>
              <a:srgbClr val="117C83"/>
            </a:solidFill>
          </a:ln>
        </p:spPr>
        <p:txBody>
          <a:bodyPr wrap="square" lIns="0" tIns="0" rIns="0" bIns="0" rtlCol="0" anchor="ctr"/>
          <a:lstStyle/>
          <a:p>
            <a:pPr marL="0" indent="0" algn="ctr">
              <a:buNone/>
            </a:pPr>
            <a:r>
              <a:rPr lang="en-US" sz="1400" b="1" dirty="0">
                <a:solidFill>
                  <a:srgbClr val="117C83"/>
                </a:solidFill>
                <a:latin typeface="Courier New" pitchFamily="34" charset="0"/>
                <a:ea typeface="Courier New" pitchFamily="34" charset="-122"/>
                <a:cs typeface="Courier New" pitchFamily="34" charset="-120"/>
              </a:rPr>
              <a:t>“t x”</a:t>
            </a:r>
            <a:endParaRPr lang="en-US" sz="1400" dirty="0"/>
          </a:p>
        </p:txBody>
      </p:sp>
      <p:sp>
        <p:nvSpPr>
          <p:cNvPr id="30" name="Text 28"/>
          <p:cNvSpPr txBox="1"/>
          <p:nvPr/>
        </p:nvSpPr>
        <p:spPr>
          <a:xfrm>
            <a:off x="6766560" y="2852928"/>
            <a:ext cx="4602175" cy="274320"/>
          </a:xfrm>
          <a:prstGeom prst="rect">
            <a:avLst/>
          </a:prstGeom>
          <a:noFill/>
          <a:ln/>
        </p:spPr>
        <p:txBody>
          <a:bodyPr wrap="square" lIns="0" tIns="0" rIns="0" bIns="0" rtlCol="0" anchor="t"/>
          <a:lstStyle/>
          <a:p>
            <a:pPr marL="0" indent="0">
              <a:buNone/>
            </a:pPr>
            <a:r>
              <a:rPr lang="en-US" sz="1300" dirty="0">
                <a:solidFill>
                  <a:srgbClr val="152E38"/>
                </a:solidFill>
                <a:latin typeface="Arial" pitchFamily="34" charset="0"/>
                <a:ea typeface="Arial" pitchFamily="34" charset="-122"/>
                <a:cs typeface="Arial" pitchFamily="34" charset="-120"/>
              </a:rPr>
              <a:t>3–5-character patterns, up to 50,000 columns per program</a:t>
            </a:r>
            <a:endParaRPr lang="en-US" sz="1300" dirty="0"/>
          </a:p>
        </p:txBody>
      </p:sp>
      <p:sp>
        <p:nvSpPr>
          <p:cNvPr id="31" name="Text 29"/>
          <p:cNvSpPr/>
          <p:nvPr/>
        </p:nvSpPr>
        <p:spPr>
          <a:xfrm>
            <a:off x="6766560" y="3310128"/>
            <a:ext cx="566928" cy="310896"/>
          </a:xfrm>
          <a:prstGeom prst="roundRect">
            <a:avLst>
              <a:gd name="adj" fmla="val 17647"/>
            </a:avLst>
          </a:prstGeom>
          <a:solidFill>
            <a:srgbClr val="117C83"/>
          </a:solidFill>
          <a:ln>
            <a:solidFill>
              <a:srgbClr val="117C83"/>
            </a:solid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TF</a:t>
            </a:r>
            <a:endParaRPr lang="en-US" sz="1200" dirty="0"/>
          </a:p>
        </p:txBody>
      </p:sp>
      <p:sp>
        <p:nvSpPr>
          <p:cNvPr id="32" name="Text 30"/>
          <p:cNvSpPr txBox="1"/>
          <p:nvPr/>
        </p:nvSpPr>
        <p:spPr>
          <a:xfrm>
            <a:off x="7498080" y="3310128"/>
            <a:ext cx="3870655" cy="310896"/>
          </a:xfrm>
          <a:prstGeom prst="rect">
            <a:avLst/>
          </a:prstGeom>
          <a:noFill/>
          <a:ln/>
        </p:spPr>
        <p:txBody>
          <a:bodyPr wrap="square" lIns="0" tIns="0" rIns="0" bIns="0" rtlCol="0" anchor="ctr"/>
          <a:lstStyle/>
          <a:p>
            <a:pPr marL="0" indent="0">
              <a:buNone/>
            </a:pPr>
            <a:r>
              <a:rPr lang="en-US" sz="1300" dirty="0">
                <a:solidFill>
                  <a:srgbClr val="152E38"/>
                </a:solidFill>
                <a:latin typeface="Arial" pitchFamily="34" charset="0"/>
                <a:ea typeface="Arial" pitchFamily="34" charset="-122"/>
                <a:cs typeface="Arial" pitchFamily="34" charset="-120"/>
              </a:rPr>
              <a:t>Repetition within a program</a:t>
            </a:r>
            <a:endParaRPr lang="en-US" sz="1300" dirty="0"/>
          </a:p>
        </p:txBody>
      </p:sp>
      <p:sp>
        <p:nvSpPr>
          <p:cNvPr id="33" name="Text 31"/>
          <p:cNvSpPr/>
          <p:nvPr/>
        </p:nvSpPr>
        <p:spPr>
          <a:xfrm>
            <a:off x="6766560" y="3739896"/>
            <a:ext cx="566928" cy="310896"/>
          </a:xfrm>
          <a:prstGeom prst="roundRect">
            <a:avLst>
              <a:gd name="adj" fmla="val 17647"/>
            </a:avLst>
          </a:prstGeom>
          <a:solidFill>
            <a:srgbClr val="117C83"/>
          </a:solidFill>
          <a:ln>
            <a:solidFill>
              <a:srgbClr val="117C83"/>
            </a:solid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IDF</a:t>
            </a:r>
            <a:endParaRPr lang="en-US" sz="1200" dirty="0"/>
          </a:p>
        </p:txBody>
      </p:sp>
      <p:sp>
        <p:nvSpPr>
          <p:cNvPr id="34" name="Text 32"/>
          <p:cNvSpPr txBox="1"/>
          <p:nvPr/>
        </p:nvSpPr>
        <p:spPr>
          <a:xfrm>
            <a:off x="7498080" y="3739896"/>
            <a:ext cx="3870655" cy="310896"/>
          </a:xfrm>
          <a:prstGeom prst="rect">
            <a:avLst/>
          </a:prstGeom>
          <a:noFill/>
          <a:ln/>
        </p:spPr>
        <p:txBody>
          <a:bodyPr wrap="square" lIns="0" tIns="0" rIns="0" bIns="0" rtlCol="0" anchor="ctr"/>
          <a:lstStyle/>
          <a:p>
            <a:pPr marL="0" indent="0">
              <a:buNone/>
            </a:pPr>
            <a:r>
              <a:rPr lang="en-US" sz="1300" dirty="0">
                <a:solidFill>
                  <a:srgbClr val="152E38"/>
                </a:solidFill>
                <a:latin typeface="Arial" pitchFamily="34" charset="0"/>
                <a:ea typeface="Arial" pitchFamily="34" charset="-122"/>
                <a:cs typeface="Arial" pitchFamily="34" charset="-120"/>
              </a:rPr>
              <a:t>Less weight for widespread patterns</a:t>
            </a:r>
            <a:endParaRPr lang="en-US" sz="1300" dirty="0"/>
          </a:p>
        </p:txBody>
      </p:sp>
      <p:sp>
        <p:nvSpPr>
          <p:cNvPr id="35" name="Shape 33"/>
          <p:cNvSpPr/>
          <p:nvPr/>
        </p:nvSpPr>
        <p:spPr>
          <a:xfrm>
            <a:off x="6766560" y="4224528"/>
            <a:ext cx="384048" cy="384048"/>
          </a:xfrm>
          <a:prstGeom prst="ellipse">
            <a:avLst/>
          </a:prstGeom>
          <a:solidFill>
            <a:srgbClr val="152E38"/>
          </a:solidFill>
          <a:ln w="12700">
            <a:solidFill>
              <a:srgbClr val="152E38"/>
            </a:solidFill>
            <a:prstDash val="solid"/>
          </a:ln>
        </p:spPr>
        <p:txBody>
          <a:bodyPr/>
          <a:lstStyle/>
          <a:p>
            <a:endParaRPr lang="en-US"/>
          </a:p>
        </p:txBody>
      </p:sp>
      <p:pic>
        <p:nvPicPr>
          <p:cNvPr id="36" name="Image 0" descr="preencoded.png"/>
          <p:cNvPicPr>
            <a:picLocks noChangeAspect="1"/>
          </p:cNvPicPr>
          <p:nvPr/>
        </p:nvPicPr>
        <p:blipFill>
          <a:blip r:embed="rId3"/>
          <a:stretch>
            <a:fillRect/>
          </a:stretch>
        </p:blipFill>
        <p:spPr>
          <a:xfrm>
            <a:off x="6866412" y="4324380"/>
            <a:ext cx="184343" cy="184343"/>
          </a:xfrm>
          <a:prstGeom prst="rect">
            <a:avLst/>
          </a:prstGeom>
        </p:spPr>
      </p:pic>
      <p:sp>
        <p:nvSpPr>
          <p:cNvPr id="37" name="Text 34"/>
          <p:cNvSpPr txBox="1"/>
          <p:nvPr/>
        </p:nvSpPr>
        <p:spPr>
          <a:xfrm>
            <a:off x="7315200" y="4187952"/>
            <a:ext cx="4053535" cy="457200"/>
          </a:xfrm>
          <a:prstGeom prst="rect">
            <a:avLst/>
          </a:prstGeom>
          <a:noFill/>
          <a:ln/>
        </p:spPr>
        <p:txBody>
          <a:bodyPr wrap="square" lIns="0" tIns="0" rIns="0" bIns="0" rtlCol="0" anchor="ctr"/>
          <a:lstStyle/>
          <a:p>
            <a:pPr marL="0" indent="0">
              <a:buNone/>
            </a:pPr>
            <a:r>
              <a:rPr lang="en-US" sz="1300" b="1" dirty="0">
                <a:solidFill>
                  <a:srgbClr val="152E38"/>
                </a:solidFill>
                <a:latin typeface="Arial" pitchFamily="34" charset="0"/>
                <a:ea typeface="Arial" pitchFamily="34" charset="-122"/>
                <a:cs typeface="Arial" pitchFamily="34" charset="-120"/>
              </a:rPr>
              <a:t>Fit vocabulary and IDF on training only; transform validation and test.</a:t>
            </a:r>
            <a:endParaRPr lang="en-US" sz="1300" dirty="0"/>
          </a:p>
        </p:txBody>
      </p:sp>
      <p:sp>
        <p:nvSpPr>
          <p:cNvPr id="38" name="Text 35"/>
          <p:cNvSpPr txBox="1"/>
          <p:nvPr/>
        </p:nvSpPr>
        <p:spPr>
          <a:xfrm>
            <a:off x="548640" y="5166360"/>
            <a:ext cx="5486400" cy="274320"/>
          </a:xfrm>
          <a:prstGeom prst="rect">
            <a:avLst/>
          </a:prstGeom>
          <a:noFill/>
          <a:ln/>
        </p:spPr>
        <p:txBody>
          <a:bodyPr wrap="square" lIns="0" tIns="0" rIns="0" bIns="0" rtlCol="0" anchor="t"/>
          <a:lstStyle/>
          <a:p>
            <a:pPr marL="0" indent="0">
              <a:buNone/>
            </a:pPr>
            <a:r>
              <a:rPr lang="en-US" sz="1100" b="1" kern="0" spc="200" dirty="0">
                <a:solidFill>
                  <a:srgbClr val="117C83"/>
                </a:solidFill>
                <a:latin typeface="Arial" pitchFamily="34" charset="0"/>
                <a:ea typeface="Arial" pitchFamily="34" charset="-122"/>
                <a:cs typeface="Arial" pitchFamily="34" charset="-120"/>
              </a:rPr>
              <a:t>LEAKAGE CHECKS</a:t>
            </a:r>
            <a:endParaRPr lang="en-US" sz="1100" dirty="0"/>
          </a:p>
        </p:txBody>
      </p:sp>
      <p:sp>
        <p:nvSpPr>
          <p:cNvPr id="39" name="Shape 36"/>
          <p:cNvSpPr/>
          <p:nvPr/>
        </p:nvSpPr>
        <p:spPr>
          <a:xfrm>
            <a:off x="548640" y="5550408"/>
            <a:ext cx="329184" cy="329184"/>
          </a:xfrm>
          <a:prstGeom prst="ellipse">
            <a:avLst/>
          </a:prstGeom>
          <a:solidFill>
            <a:srgbClr val="117C83"/>
          </a:solidFill>
          <a:ln w="12700">
            <a:solidFill>
              <a:srgbClr val="117C83"/>
            </a:solidFill>
            <a:prstDash val="solid"/>
          </a:ln>
        </p:spPr>
        <p:txBody>
          <a:bodyPr/>
          <a:lstStyle/>
          <a:p>
            <a:endParaRPr lang="en-US"/>
          </a:p>
        </p:txBody>
      </p:sp>
      <p:pic>
        <p:nvPicPr>
          <p:cNvPr id="40" name="Image 1" descr="preencoded.png"/>
          <p:cNvPicPr>
            <a:picLocks noChangeAspect="1"/>
          </p:cNvPicPr>
          <p:nvPr/>
        </p:nvPicPr>
        <p:blipFill>
          <a:blip r:embed="rId4"/>
          <a:stretch>
            <a:fillRect/>
          </a:stretch>
        </p:blipFill>
        <p:spPr>
          <a:xfrm>
            <a:off x="634228" y="5635996"/>
            <a:ext cx="158008" cy="158008"/>
          </a:xfrm>
          <a:prstGeom prst="rect">
            <a:avLst/>
          </a:prstGeom>
        </p:spPr>
      </p:pic>
      <p:sp>
        <p:nvSpPr>
          <p:cNvPr id="41" name="Text 37"/>
          <p:cNvSpPr txBox="1"/>
          <p:nvPr/>
        </p:nvSpPr>
        <p:spPr>
          <a:xfrm>
            <a:off x="987552" y="5486400"/>
            <a:ext cx="2133524" cy="457200"/>
          </a:xfrm>
          <a:prstGeom prst="rect">
            <a:avLst/>
          </a:prstGeom>
          <a:noFill/>
          <a:ln/>
        </p:spPr>
        <p:txBody>
          <a:bodyPr wrap="square" lIns="0" tIns="0" rIns="0" bIns="0" rtlCol="0" anchor="ctr"/>
          <a:lstStyle/>
          <a:p>
            <a:pPr marL="0" indent="0">
              <a:buNone/>
            </a:pPr>
            <a:r>
              <a:rPr lang="en-US" sz="1250" dirty="0">
                <a:solidFill>
                  <a:srgbClr val="152E38"/>
                </a:solidFill>
                <a:latin typeface="Arial" pitchFamily="34" charset="0"/>
                <a:ea typeface="Arial" pitchFamily="34" charset="-122"/>
                <a:cs typeface="Arial" pitchFamily="34" charset="-120"/>
              </a:rPr>
              <a:t>259 inferred task groups stay together</a:t>
            </a:r>
            <a:endParaRPr lang="en-US" sz="1250" dirty="0"/>
          </a:p>
        </p:txBody>
      </p:sp>
      <p:sp>
        <p:nvSpPr>
          <p:cNvPr id="42" name="Shape 38"/>
          <p:cNvSpPr/>
          <p:nvPr/>
        </p:nvSpPr>
        <p:spPr>
          <a:xfrm>
            <a:off x="3322244" y="5550408"/>
            <a:ext cx="329184" cy="329184"/>
          </a:xfrm>
          <a:prstGeom prst="ellipse">
            <a:avLst/>
          </a:prstGeom>
          <a:solidFill>
            <a:srgbClr val="117C83"/>
          </a:solidFill>
          <a:ln w="12700">
            <a:solidFill>
              <a:srgbClr val="117C83"/>
            </a:solidFill>
            <a:prstDash val="solid"/>
          </a:ln>
        </p:spPr>
        <p:txBody>
          <a:bodyPr/>
          <a:lstStyle/>
          <a:p>
            <a:endParaRPr lang="en-US"/>
          </a:p>
        </p:txBody>
      </p:sp>
      <p:pic>
        <p:nvPicPr>
          <p:cNvPr id="43" name="Image 2" descr="preencoded.png"/>
          <p:cNvPicPr>
            <a:picLocks noChangeAspect="1"/>
          </p:cNvPicPr>
          <p:nvPr/>
        </p:nvPicPr>
        <p:blipFill>
          <a:blip r:embed="rId4"/>
          <a:stretch>
            <a:fillRect/>
          </a:stretch>
        </p:blipFill>
        <p:spPr>
          <a:xfrm>
            <a:off x="3407832" y="5635996"/>
            <a:ext cx="158008" cy="158008"/>
          </a:xfrm>
          <a:prstGeom prst="rect">
            <a:avLst/>
          </a:prstGeom>
        </p:spPr>
      </p:pic>
      <p:sp>
        <p:nvSpPr>
          <p:cNvPr id="44" name="Text 39"/>
          <p:cNvSpPr txBox="1"/>
          <p:nvPr/>
        </p:nvSpPr>
        <p:spPr>
          <a:xfrm>
            <a:off x="3761156" y="5486400"/>
            <a:ext cx="2133524" cy="457200"/>
          </a:xfrm>
          <a:prstGeom prst="rect">
            <a:avLst/>
          </a:prstGeom>
          <a:noFill/>
          <a:ln/>
        </p:spPr>
        <p:txBody>
          <a:bodyPr wrap="square" lIns="0" tIns="0" rIns="0" bIns="0" rtlCol="0" anchor="ctr"/>
          <a:lstStyle/>
          <a:p>
            <a:pPr marL="0" indent="0">
              <a:buNone/>
            </a:pPr>
            <a:r>
              <a:rPr lang="en-US" sz="1250" dirty="0">
                <a:solidFill>
                  <a:srgbClr val="152E38"/>
                </a:solidFill>
                <a:latin typeface="Arial" pitchFamily="34" charset="0"/>
                <a:ea typeface="Arial" pitchFamily="34" charset="-122"/>
                <a:cs typeface="Arial" pitchFamily="34" charset="-120"/>
              </a:rPr>
              <a:t>No exact code or prompt overlap</a:t>
            </a:r>
            <a:endParaRPr lang="en-US" sz="1250" dirty="0"/>
          </a:p>
        </p:txBody>
      </p:sp>
      <p:sp>
        <p:nvSpPr>
          <p:cNvPr id="45" name="Shape 40"/>
          <p:cNvSpPr/>
          <p:nvPr/>
        </p:nvSpPr>
        <p:spPr>
          <a:xfrm>
            <a:off x="6095848" y="5550408"/>
            <a:ext cx="329184" cy="329184"/>
          </a:xfrm>
          <a:prstGeom prst="ellipse">
            <a:avLst/>
          </a:prstGeom>
          <a:solidFill>
            <a:srgbClr val="117C83"/>
          </a:solidFill>
          <a:ln w="12700">
            <a:solidFill>
              <a:srgbClr val="117C83"/>
            </a:solidFill>
            <a:prstDash val="solid"/>
          </a:ln>
        </p:spPr>
        <p:txBody>
          <a:bodyPr/>
          <a:lstStyle/>
          <a:p>
            <a:endParaRPr lang="en-US"/>
          </a:p>
        </p:txBody>
      </p:sp>
      <p:pic>
        <p:nvPicPr>
          <p:cNvPr id="46" name="Image 3" descr="preencoded.png"/>
          <p:cNvPicPr>
            <a:picLocks noChangeAspect="1"/>
          </p:cNvPicPr>
          <p:nvPr/>
        </p:nvPicPr>
        <p:blipFill>
          <a:blip r:embed="rId4"/>
          <a:stretch>
            <a:fillRect/>
          </a:stretch>
        </p:blipFill>
        <p:spPr>
          <a:xfrm>
            <a:off x="6181435" y="5635996"/>
            <a:ext cx="158008" cy="158008"/>
          </a:xfrm>
          <a:prstGeom prst="rect">
            <a:avLst/>
          </a:prstGeom>
        </p:spPr>
      </p:pic>
      <p:sp>
        <p:nvSpPr>
          <p:cNvPr id="47" name="Text 41"/>
          <p:cNvSpPr txBox="1"/>
          <p:nvPr/>
        </p:nvSpPr>
        <p:spPr>
          <a:xfrm>
            <a:off x="6534760" y="5486400"/>
            <a:ext cx="2133524" cy="457200"/>
          </a:xfrm>
          <a:prstGeom prst="rect">
            <a:avLst/>
          </a:prstGeom>
          <a:noFill/>
          <a:ln/>
        </p:spPr>
        <p:txBody>
          <a:bodyPr wrap="square" lIns="0" tIns="0" rIns="0" bIns="0" rtlCol="0" anchor="ctr"/>
          <a:lstStyle/>
          <a:p>
            <a:pPr marL="0" indent="0">
              <a:buNone/>
            </a:pPr>
            <a:r>
              <a:rPr lang="en-US" sz="1250" dirty="0">
                <a:solidFill>
                  <a:srgbClr val="152E38"/>
                </a:solidFill>
                <a:latin typeface="Arial" pitchFamily="34" charset="0"/>
                <a:ea typeface="Arial" pitchFamily="34" charset="-122"/>
                <a:cs typeface="Arial" pitchFamily="34" charset="-120"/>
              </a:rPr>
              <a:t>No empty programs or exact duplicates</a:t>
            </a:r>
            <a:endParaRPr lang="en-US" sz="1250" dirty="0"/>
          </a:p>
        </p:txBody>
      </p:sp>
      <p:sp>
        <p:nvSpPr>
          <p:cNvPr id="48" name="Shape 42"/>
          <p:cNvSpPr/>
          <p:nvPr/>
        </p:nvSpPr>
        <p:spPr>
          <a:xfrm>
            <a:off x="8869451" y="5550408"/>
            <a:ext cx="329184" cy="329184"/>
          </a:xfrm>
          <a:prstGeom prst="ellipse">
            <a:avLst/>
          </a:prstGeom>
          <a:solidFill>
            <a:srgbClr val="F2A541"/>
          </a:solidFill>
          <a:ln w="12700">
            <a:solidFill>
              <a:srgbClr val="F2A541"/>
            </a:solidFill>
            <a:prstDash val="solid"/>
          </a:ln>
        </p:spPr>
        <p:txBody>
          <a:bodyPr/>
          <a:lstStyle/>
          <a:p>
            <a:endParaRPr lang="en-US"/>
          </a:p>
        </p:txBody>
      </p:sp>
      <p:pic>
        <p:nvPicPr>
          <p:cNvPr id="49" name="Image 4" descr="preencoded.png"/>
          <p:cNvPicPr>
            <a:picLocks noChangeAspect="1"/>
          </p:cNvPicPr>
          <p:nvPr/>
        </p:nvPicPr>
        <p:blipFill>
          <a:blip r:embed="rId5"/>
          <a:stretch>
            <a:fillRect/>
          </a:stretch>
        </p:blipFill>
        <p:spPr>
          <a:xfrm>
            <a:off x="8955039" y="5635996"/>
            <a:ext cx="158008" cy="158008"/>
          </a:xfrm>
          <a:prstGeom prst="rect">
            <a:avLst/>
          </a:prstGeom>
        </p:spPr>
      </p:pic>
      <p:sp>
        <p:nvSpPr>
          <p:cNvPr id="50" name="Text 43"/>
          <p:cNvSpPr txBox="1"/>
          <p:nvPr/>
        </p:nvSpPr>
        <p:spPr>
          <a:xfrm>
            <a:off x="9308363" y="5486400"/>
            <a:ext cx="2133524" cy="457200"/>
          </a:xfrm>
          <a:prstGeom prst="rect">
            <a:avLst/>
          </a:prstGeom>
          <a:noFill/>
          <a:ln/>
        </p:spPr>
        <p:txBody>
          <a:bodyPr wrap="square" lIns="0" tIns="0" rIns="0" bIns="0" rtlCol="0" anchor="ctr"/>
          <a:lstStyle/>
          <a:p>
            <a:pPr marL="0" indent="0">
              <a:buNone/>
            </a:pPr>
            <a:r>
              <a:rPr lang="en-US" sz="1250" dirty="0">
                <a:solidFill>
                  <a:srgbClr val="50636B"/>
                </a:solidFill>
                <a:latin typeface="Arial" pitchFamily="34" charset="0"/>
                <a:ea typeface="Arial" pitchFamily="34" charset="-122"/>
                <a:cs typeface="Arial" pitchFamily="34" charset="-120"/>
              </a:rPr>
              <a:t>Semantic overlap may remain</a:t>
            </a:r>
            <a:endParaRPr lang="en-US" sz="1250" dirty="0"/>
          </a:p>
        </p:txBody>
      </p:sp>
      <p:sp>
        <p:nvSpPr>
          <p:cNvPr id="51" name="Slide number 3">
            <a:extLst>
              <a:ext uri="{FF2B5EF4-FFF2-40B4-BE49-F238E27FC236}">
                <a16:creationId xmlns:a16="http://schemas.microsoft.com/office/drawing/2014/main" id="{882C42FB-222D-4918-95F3-683BEE852682}"/>
              </a:ext>
            </a:extLst>
          </p:cNvPr>
          <p:cNvSpPr>
            <a:spLocks noGrp="1"/>
          </p:cNvSpPr>
          <p:nvPr/>
        </p:nvSpPr>
        <p:spPr>
          <a:xfrm>
            <a:off x="11544300" y="6486525"/>
            <a:ext cx="361950" cy="257175"/>
          </a:xfrm>
          <a:prstGeom prst="rect">
            <a:avLst/>
          </a:prstGeom>
          <a:noFill/>
          <a:ln w="0">
            <a:noFill/>
          </a:ln>
        </p:spPr>
        <p:txBody>
          <a:bodyPr>
            <a:noAutofit/>
          </a:bodyPr>
          <a:lstStyle/>
          <a:p>
            <a:pPr>
              <a:defRPr sz="1275">
                <a:solidFill>
                  <a:srgbClr val="536472"/>
                </a:solidFill>
                <a:latin typeface="Arial"/>
                <a:ea typeface="Arial"/>
                <a:cs typeface="Arial"/>
              </a:defRPr>
            </a:pPr>
            <a:r>
              <a:rPr sz="1275">
                <a:solidFill>
                  <a:srgbClr val="536472"/>
                </a:solidFill>
                <a:latin typeface="Arial"/>
                <a:ea typeface="Arial"/>
                <a:cs typeface="Arial"/>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94415" cy="640080"/>
          </a:xfrm>
          <a:prstGeom prst="rect">
            <a:avLst/>
          </a:prstGeom>
          <a:noFill/>
          <a:ln/>
        </p:spPr>
        <p:txBody>
          <a:bodyPr wrap="square" lIns="0" tIns="0" rIns="0" bIns="0" rtlCol="0" anchor="ctr"/>
          <a:lstStyle/>
          <a:p>
            <a:pPr marL="0" indent="0">
              <a:buNone/>
            </a:pPr>
            <a:r>
              <a:rPr lang="en-US" sz="3000" b="1" dirty="0">
                <a:solidFill>
                  <a:srgbClr val="152E38"/>
                </a:solidFill>
                <a:latin typeface="Arial" pitchFamily="34" charset="0"/>
                <a:ea typeface="Arial" pitchFamily="34" charset="-122"/>
                <a:cs typeface="Arial" pitchFamily="34" charset="-120"/>
              </a:rPr>
              <a:t>Model choices: baseline, linear, trees and transfer</a:t>
            </a:r>
            <a:endParaRPr lang="en-US" sz="3000" dirty="0"/>
          </a:p>
        </p:txBody>
      </p:sp>
      <p:sp>
        <p:nvSpPr>
          <p:cNvPr id="3" name="Shape 1"/>
          <p:cNvSpPr/>
          <p:nvPr/>
        </p:nvSpPr>
        <p:spPr>
          <a:xfrm>
            <a:off x="548640" y="1280160"/>
            <a:ext cx="2072579" cy="2103120"/>
          </a:xfrm>
          <a:prstGeom prst="roundRect">
            <a:avLst>
              <a:gd name="adj" fmla="val 3530"/>
            </a:avLst>
          </a:prstGeom>
          <a:solidFill>
            <a:srgbClr val="F3F7F8"/>
          </a:solidFill>
          <a:ln w="12700">
            <a:solidFill>
              <a:srgbClr val="F3F7F8"/>
            </a:solidFill>
            <a:prstDash val="solid"/>
          </a:ln>
        </p:spPr>
        <p:txBody>
          <a:bodyPr/>
          <a:lstStyle/>
          <a:p>
            <a:endParaRPr lang="en-US"/>
          </a:p>
        </p:txBody>
      </p:sp>
      <p:sp>
        <p:nvSpPr>
          <p:cNvPr id="4" name="Shape 2"/>
          <p:cNvSpPr/>
          <p:nvPr/>
        </p:nvSpPr>
        <p:spPr>
          <a:xfrm>
            <a:off x="731520" y="1463040"/>
            <a:ext cx="457200" cy="457200"/>
          </a:xfrm>
          <a:prstGeom prst="ellipse">
            <a:avLst/>
          </a:prstGeom>
          <a:solidFill>
            <a:srgbClr val="117C83"/>
          </a:solidFill>
          <a:ln w="12700">
            <a:solidFill>
              <a:srgbClr val="117C83"/>
            </a:solidFill>
            <a:prstDash val="solid"/>
          </a:ln>
        </p:spPr>
        <p:txBody>
          <a:bodyPr/>
          <a:lstStyle/>
          <a:p>
            <a:endParaRPr lang="en-US"/>
          </a:p>
        </p:txBody>
      </p:sp>
      <p:pic>
        <p:nvPicPr>
          <p:cNvPr id="5" name="Image 0" descr="preencoded.png"/>
          <p:cNvPicPr>
            <a:picLocks noChangeAspect="1"/>
          </p:cNvPicPr>
          <p:nvPr/>
        </p:nvPicPr>
        <p:blipFill>
          <a:blip r:embed="rId3"/>
          <a:stretch>
            <a:fillRect/>
          </a:stretch>
        </p:blipFill>
        <p:spPr>
          <a:xfrm>
            <a:off x="850392" y="1581912"/>
            <a:ext cx="219456" cy="219456"/>
          </a:xfrm>
          <a:prstGeom prst="rect">
            <a:avLst/>
          </a:prstGeom>
        </p:spPr>
      </p:pic>
      <p:sp>
        <p:nvSpPr>
          <p:cNvPr id="6" name="Text 3"/>
          <p:cNvSpPr txBox="1"/>
          <p:nvPr/>
        </p:nvSpPr>
        <p:spPr>
          <a:xfrm>
            <a:off x="731520" y="2057400"/>
            <a:ext cx="1798259" cy="201168"/>
          </a:xfrm>
          <a:prstGeom prst="rect">
            <a:avLst/>
          </a:prstGeom>
          <a:noFill/>
          <a:ln/>
        </p:spPr>
        <p:txBody>
          <a:bodyPr wrap="square" lIns="0" tIns="0" rIns="0" bIns="0" rtlCol="0" anchor="t"/>
          <a:lstStyle/>
          <a:p>
            <a:pPr marL="0" indent="0">
              <a:buNone/>
            </a:pPr>
            <a:r>
              <a:rPr lang="en-US" sz="950" b="1" kern="0" spc="150" dirty="0">
                <a:solidFill>
                  <a:srgbClr val="117C83"/>
                </a:solidFill>
                <a:latin typeface="Arial" pitchFamily="34" charset="0"/>
                <a:ea typeface="Arial" pitchFamily="34" charset="-122"/>
                <a:cs typeface="Arial" pitchFamily="34" charset="-120"/>
              </a:rPr>
              <a:t>BASELINE</a:t>
            </a:r>
            <a:endParaRPr lang="en-US" sz="950" dirty="0"/>
          </a:p>
        </p:txBody>
      </p:sp>
      <p:sp>
        <p:nvSpPr>
          <p:cNvPr id="7" name="Text 4"/>
          <p:cNvSpPr txBox="1"/>
          <p:nvPr/>
        </p:nvSpPr>
        <p:spPr>
          <a:xfrm>
            <a:off x="731520" y="2286000"/>
            <a:ext cx="1798259" cy="292608"/>
          </a:xfrm>
          <a:prstGeom prst="rect">
            <a:avLst/>
          </a:prstGeom>
          <a:noFill/>
          <a:ln/>
        </p:spPr>
        <p:txBody>
          <a:bodyPr wrap="square" lIns="0" tIns="0" rIns="0" bIns="0" rtlCol="0" anchor="t"/>
          <a:lstStyle/>
          <a:p>
            <a:pPr marL="0" indent="0">
              <a:buNone/>
            </a:pPr>
            <a:r>
              <a:rPr lang="en-US" sz="1400" b="1" dirty="0">
                <a:solidFill>
                  <a:srgbClr val="152E38"/>
                </a:solidFill>
                <a:latin typeface="Arial" pitchFamily="34" charset="0"/>
                <a:ea typeface="Arial" pitchFamily="34" charset="-122"/>
                <a:cs typeface="Arial" pitchFamily="34" charset="-120"/>
              </a:rPr>
              <a:t>Naive Bayes</a:t>
            </a:r>
            <a:endParaRPr lang="en-US" sz="1400" dirty="0"/>
          </a:p>
        </p:txBody>
      </p:sp>
      <p:sp>
        <p:nvSpPr>
          <p:cNvPr id="8" name="Text 5"/>
          <p:cNvSpPr txBox="1"/>
          <p:nvPr/>
        </p:nvSpPr>
        <p:spPr>
          <a:xfrm>
            <a:off x="731520" y="2624328"/>
            <a:ext cx="1706819" cy="640080"/>
          </a:xfrm>
          <a:prstGeom prst="rect">
            <a:avLst/>
          </a:prstGeom>
          <a:noFill/>
          <a:ln/>
        </p:spPr>
        <p:txBody>
          <a:bodyPr wrap="square" lIns="0" tIns="0" rIns="0" bIns="0" rtlCol="0" anchor="t"/>
          <a:lstStyle/>
          <a:p>
            <a:pPr marL="0" indent="0">
              <a:buNone/>
            </a:pPr>
            <a:r>
              <a:rPr lang="en-US" sz="1200" dirty="0">
                <a:solidFill>
                  <a:srgbClr val="50636B"/>
                </a:solidFill>
                <a:latin typeface="Arial" pitchFamily="34" charset="0"/>
                <a:ea typeface="Arial" pitchFamily="34" charset="-122"/>
                <a:cs typeface="Arial" pitchFamily="34" charset="-120"/>
              </a:rPr>
              <a:t>Simple probabilistic baseline</a:t>
            </a:r>
            <a:endParaRPr lang="en-US" sz="1200" dirty="0"/>
          </a:p>
        </p:txBody>
      </p:sp>
      <p:sp>
        <p:nvSpPr>
          <p:cNvPr id="9" name="Shape 6"/>
          <p:cNvSpPr/>
          <p:nvPr/>
        </p:nvSpPr>
        <p:spPr>
          <a:xfrm>
            <a:off x="2804099" y="1280160"/>
            <a:ext cx="2072579" cy="2103120"/>
          </a:xfrm>
          <a:prstGeom prst="roundRect">
            <a:avLst>
              <a:gd name="adj" fmla="val 3530"/>
            </a:avLst>
          </a:prstGeom>
          <a:solidFill>
            <a:srgbClr val="F3F7F8"/>
          </a:solidFill>
          <a:ln w="12700">
            <a:solidFill>
              <a:srgbClr val="F3F7F8"/>
            </a:solidFill>
            <a:prstDash val="solid"/>
          </a:ln>
        </p:spPr>
        <p:txBody>
          <a:bodyPr/>
          <a:lstStyle/>
          <a:p>
            <a:endParaRPr lang="en-US"/>
          </a:p>
        </p:txBody>
      </p:sp>
      <p:sp>
        <p:nvSpPr>
          <p:cNvPr id="10" name="Shape 7"/>
          <p:cNvSpPr/>
          <p:nvPr/>
        </p:nvSpPr>
        <p:spPr>
          <a:xfrm>
            <a:off x="2986979" y="1463040"/>
            <a:ext cx="457200" cy="457200"/>
          </a:xfrm>
          <a:prstGeom prst="ellipse">
            <a:avLst/>
          </a:prstGeom>
          <a:solidFill>
            <a:srgbClr val="117C83"/>
          </a:solidFill>
          <a:ln w="12700">
            <a:solidFill>
              <a:srgbClr val="117C83"/>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3105851" y="1581912"/>
            <a:ext cx="219456" cy="219456"/>
          </a:xfrm>
          <a:prstGeom prst="rect">
            <a:avLst/>
          </a:prstGeom>
        </p:spPr>
      </p:pic>
      <p:sp>
        <p:nvSpPr>
          <p:cNvPr id="12" name="Text 8"/>
          <p:cNvSpPr txBox="1"/>
          <p:nvPr/>
        </p:nvSpPr>
        <p:spPr>
          <a:xfrm>
            <a:off x="2986979" y="2057400"/>
            <a:ext cx="1798259" cy="201168"/>
          </a:xfrm>
          <a:prstGeom prst="rect">
            <a:avLst/>
          </a:prstGeom>
          <a:noFill/>
          <a:ln/>
        </p:spPr>
        <p:txBody>
          <a:bodyPr wrap="square" lIns="0" tIns="0" rIns="0" bIns="0" rtlCol="0" anchor="t"/>
          <a:lstStyle/>
          <a:p>
            <a:pPr marL="0" indent="0">
              <a:buNone/>
            </a:pPr>
            <a:r>
              <a:rPr lang="en-US" sz="950" b="1" kern="0" spc="150" dirty="0">
                <a:solidFill>
                  <a:srgbClr val="117C83"/>
                </a:solidFill>
                <a:latin typeface="Arial" pitchFamily="34" charset="0"/>
                <a:ea typeface="Arial" pitchFamily="34" charset="-122"/>
                <a:cs typeface="Arial" pitchFamily="34" charset="-120"/>
              </a:rPr>
              <a:t>LINEAR</a:t>
            </a:r>
            <a:endParaRPr lang="en-US" sz="950" dirty="0"/>
          </a:p>
        </p:txBody>
      </p:sp>
      <p:sp>
        <p:nvSpPr>
          <p:cNvPr id="13" name="Text 9"/>
          <p:cNvSpPr txBox="1"/>
          <p:nvPr/>
        </p:nvSpPr>
        <p:spPr>
          <a:xfrm>
            <a:off x="2986979" y="2286000"/>
            <a:ext cx="1798259" cy="292608"/>
          </a:xfrm>
          <a:prstGeom prst="rect">
            <a:avLst/>
          </a:prstGeom>
          <a:noFill/>
          <a:ln/>
        </p:spPr>
        <p:txBody>
          <a:bodyPr wrap="square" lIns="0" tIns="0" rIns="0" bIns="0" rtlCol="0" anchor="t"/>
          <a:lstStyle/>
          <a:p>
            <a:pPr marL="0" indent="0">
              <a:buNone/>
            </a:pPr>
            <a:r>
              <a:rPr lang="en-US" sz="1400" b="1" dirty="0">
                <a:solidFill>
                  <a:srgbClr val="152E38"/>
                </a:solidFill>
                <a:latin typeface="Arial" pitchFamily="34" charset="0"/>
                <a:ea typeface="Arial" pitchFamily="34" charset="-122"/>
                <a:cs typeface="Arial" pitchFamily="34" charset="-120"/>
              </a:rPr>
              <a:t>Logistic Regression</a:t>
            </a:r>
            <a:endParaRPr lang="en-US" sz="1400" dirty="0"/>
          </a:p>
        </p:txBody>
      </p:sp>
      <p:sp>
        <p:nvSpPr>
          <p:cNvPr id="14" name="Text 10"/>
          <p:cNvSpPr txBox="1"/>
          <p:nvPr/>
        </p:nvSpPr>
        <p:spPr>
          <a:xfrm>
            <a:off x="2986979" y="2624328"/>
            <a:ext cx="1706819" cy="640080"/>
          </a:xfrm>
          <a:prstGeom prst="rect">
            <a:avLst/>
          </a:prstGeom>
          <a:noFill/>
          <a:ln/>
        </p:spPr>
        <p:txBody>
          <a:bodyPr wrap="square" lIns="0" tIns="0" rIns="0" bIns="0" rtlCol="0" anchor="t"/>
          <a:lstStyle/>
          <a:p>
            <a:pPr marL="0" indent="0">
              <a:buNone/>
            </a:pPr>
            <a:r>
              <a:rPr lang="en-US" sz="1200" dirty="0">
                <a:solidFill>
                  <a:srgbClr val="50636B"/>
                </a:solidFill>
                <a:latin typeface="Arial" pitchFamily="34" charset="0"/>
                <a:ea typeface="Arial" pitchFamily="34" charset="-122"/>
                <a:cs typeface="Arial" pitchFamily="34" charset="-120"/>
              </a:rPr>
              <a:t>Linear probability model</a:t>
            </a:r>
            <a:endParaRPr lang="en-US" sz="1200" dirty="0"/>
          </a:p>
        </p:txBody>
      </p:sp>
      <p:sp>
        <p:nvSpPr>
          <p:cNvPr id="15" name="Shape 11"/>
          <p:cNvSpPr/>
          <p:nvPr/>
        </p:nvSpPr>
        <p:spPr>
          <a:xfrm>
            <a:off x="5059558" y="1280160"/>
            <a:ext cx="2072579" cy="2103120"/>
          </a:xfrm>
          <a:prstGeom prst="roundRect">
            <a:avLst>
              <a:gd name="adj" fmla="val 3530"/>
            </a:avLst>
          </a:prstGeom>
          <a:solidFill>
            <a:srgbClr val="F3F7F8"/>
          </a:solidFill>
          <a:ln w="12700">
            <a:solidFill>
              <a:srgbClr val="F3F7F8"/>
            </a:solidFill>
            <a:prstDash val="solid"/>
          </a:ln>
        </p:spPr>
        <p:txBody>
          <a:bodyPr/>
          <a:lstStyle/>
          <a:p>
            <a:endParaRPr lang="en-US"/>
          </a:p>
        </p:txBody>
      </p:sp>
      <p:sp>
        <p:nvSpPr>
          <p:cNvPr id="16" name="Shape 12"/>
          <p:cNvSpPr/>
          <p:nvPr/>
        </p:nvSpPr>
        <p:spPr>
          <a:xfrm>
            <a:off x="5242438" y="1463040"/>
            <a:ext cx="457200" cy="457200"/>
          </a:xfrm>
          <a:prstGeom prst="ellipse">
            <a:avLst/>
          </a:prstGeom>
          <a:solidFill>
            <a:srgbClr val="117C83"/>
          </a:solidFill>
          <a:ln w="12700">
            <a:solidFill>
              <a:srgbClr val="117C83"/>
            </a:solidFill>
            <a:prstDash val="solid"/>
          </a:ln>
        </p:spPr>
        <p:txBody>
          <a:bodyPr/>
          <a:lstStyle/>
          <a:p>
            <a:endParaRPr lang="en-US"/>
          </a:p>
        </p:txBody>
      </p:sp>
      <p:pic>
        <p:nvPicPr>
          <p:cNvPr id="17" name="Image 2" descr="preencoded.png"/>
          <p:cNvPicPr>
            <a:picLocks noChangeAspect="1"/>
          </p:cNvPicPr>
          <p:nvPr/>
        </p:nvPicPr>
        <p:blipFill>
          <a:blip r:embed="rId5"/>
          <a:stretch>
            <a:fillRect/>
          </a:stretch>
        </p:blipFill>
        <p:spPr>
          <a:xfrm>
            <a:off x="5361310" y="1581912"/>
            <a:ext cx="219456" cy="219456"/>
          </a:xfrm>
          <a:prstGeom prst="rect">
            <a:avLst/>
          </a:prstGeom>
        </p:spPr>
      </p:pic>
      <p:sp>
        <p:nvSpPr>
          <p:cNvPr id="18" name="Text 13"/>
          <p:cNvSpPr txBox="1"/>
          <p:nvPr/>
        </p:nvSpPr>
        <p:spPr>
          <a:xfrm>
            <a:off x="5242438" y="2057400"/>
            <a:ext cx="1798259" cy="201168"/>
          </a:xfrm>
          <a:prstGeom prst="rect">
            <a:avLst/>
          </a:prstGeom>
          <a:noFill/>
          <a:ln/>
        </p:spPr>
        <p:txBody>
          <a:bodyPr wrap="square" lIns="0" tIns="0" rIns="0" bIns="0" rtlCol="0" anchor="t"/>
          <a:lstStyle/>
          <a:p>
            <a:pPr marL="0" indent="0">
              <a:buNone/>
            </a:pPr>
            <a:r>
              <a:rPr lang="en-US" sz="950" b="1" kern="0" spc="150" dirty="0">
                <a:solidFill>
                  <a:srgbClr val="117C83"/>
                </a:solidFill>
                <a:latin typeface="Arial" pitchFamily="34" charset="0"/>
                <a:ea typeface="Arial" pitchFamily="34" charset="-122"/>
                <a:cs typeface="Arial" pitchFamily="34" charset="-120"/>
              </a:rPr>
              <a:t>LINEAR · MARGIN</a:t>
            </a:r>
            <a:endParaRPr lang="en-US" sz="950" dirty="0"/>
          </a:p>
        </p:txBody>
      </p:sp>
      <p:sp>
        <p:nvSpPr>
          <p:cNvPr id="19" name="Text 14"/>
          <p:cNvSpPr txBox="1"/>
          <p:nvPr/>
        </p:nvSpPr>
        <p:spPr>
          <a:xfrm>
            <a:off x="5242438" y="2286000"/>
            <a:ext cx="1798259" cy="292608"/>
          </a:xfrm>
          <a:prstGeom prst="rect">
            <a:avLst/>
          </a:prstGeom>
          <a:noFill/>
          <a:ln/>
        </p:spPr>
        <p:txBody>
          <a:bodyPr wrap="square" lIns="0" tIns="0" rIns="0" bIns="0" rtlCol="0" anchor="t"/>
          <a:lstStyle/>
          <a:p>
            <a:pPr marL="0" indent="0">
              <a:buNone/>
            </a:pPr>
            <a:r>
              <a:rPr lang="en-US" sz="1400" b="1" dirty="0">
                <a:solidFill>
                  <a:srgbClr val="152E38"/>
                </a:solidFill>
                <a:latin typeface="Arial" pitchFamily="34" charset="0"/>
                <a:ea typeface="Arial" pitchFamily="34" charset="-122"/>
                <a:cs typeface="Arial" pitchFamily="34" charset="-120"/>
              </a:rPr>
              <a:t>Linear SVM</a:t>
            </a:r>
            <a:endParaRPr lang="en-US" sz="1400" dirty="0"/>
          </a:p>
        </p:txBody>
      </p:sp>
      <p:sp>
        <p:nvSpPr>
          <p:cNvPr id="20" name="Text 15"/>
          <p:cNvSpPr txBox="1"/>
          <p:nvPr/>
        </p:nvSpPr>
        <p:spPr>
          <a:xfrm>
            <a:off x="5242438" y="2624328"/>
            <a:ext cx="1706819" cy="640080"/>
          </a:xfrm>
          <a:prstGeom prst="rect">
            <a:avLst/>
          </a:prstGeom>
          <a:noFill/>
          <a:ln/>
        </p:spPr>
        <p:txBody>
          <a:bodyPr wrap="square" lIns="0" tIns="0" rIns="0" bIns="0" rtlCol="0" anchor="t"/>
          <a:lstStyle/>
          <a:p>
            <a:pPr marL="0" indent="0">
              <a:buNone/>
            </a:pPr>
            <a:r>
              <a:rPr lang="en-US" sz="1200" dirty="0">
                <a:solidFill>
                  <a:srgbClr val="50636B"/>
                </a:solidFill>
                <a:latin typeface="Arial" pitchFamily="34" charset="0"/>
                <a:ea typeface="Arial" pitchFamily="34" charset="-122"/>
                <a:cs typeface="Arial" pitchFamily="34" charset="-120"/>
              </a:rPr>
              <a:t>Linear margin model; different training objective</a:t>
            </a:r>
            <a:endParaRPr lang="en-US" sz="1200" dirty="0"/>
          </a:p>
        </p:txBody>
      </p:sp>
      <p:sp>
        <p:nvSpPr>
          <p:cNvPr id="21" name="Shape 16"/>
          <p:cNvSpPr/>
          <p:nvPr/>
        </p:nvSpPr>
        <p:spPr>
          <a:xfrm>
            <a:off x="7315017" y="1280160"/>
            <a:ext cx="2072579" cy="2103120"/>
          </a:xfrm>
          <a:prstGeom prst="roundRect">
            <a:avLst>
              <a:gd name="adj" fmla="val 3530"/>
            </a:avLst>
          </a:prstGeom>
          <a:solidFill>
            <a:srgbClr val="F3F7F8"/>
          </a:solidFill>
          <a:ln w="12700">
            <a:solidFill>
              <a:srgbClr val="F3F7F8"/>
            </a:solidFill>
            <a:prstDash val="solid"/>
          </a:ln>
        </p:spPr>
        <p:txBody>
          <a:bodyPr/>
          <a:lstStyle/>
          <a:p>
            <a:endParaRPr lang="en-US"/>
          </a:p>
        </p:txBody>
      </p:sp>
      <p:sp>
        <p:nvSpPr>
          <p:cNvPr id="22" name="Shape 17"/>
          <p:cNvSpPr/>
          <p:nvPr/>
        </p:nvSpPr>
        <p:spPr>
          <a:xfrm>
            <a:off x="7497897" y="1463040"/>
            <a:ext cx="457200" cy="457200"/>
          </a:xfrm>
          <a:prstGeom prst="ellipse">
            <a:avLst/>
          </a:prstGeom>
          <a:solidFill>
            <a:srgbClr val="117C83"/>
          </a:solidFill>
          <a:ln w="12700">
            <a:solidFill>
              <a:srgbClr val="117C83"/>
            </a:solidFill>
            <a:prstDash val="solid"/>
          </a:ln>
        </p:spPr>
        <p:txBody>
          <a:bodyPr/>
          <a:lstStyle/>
          <a:p>
            <a:endParaRPr lang="en-US"/>
          </a:p>
        </p:txBody>
      </p:sp>
      <p:pic>
        <p:nvPicPr>
          <p:cNvPr id="23" name="Image 3" descr="preencoded.png"/>
          <p:cNvPicPr>
            <a:picLocks noChangeAspect="1"/>
          </p:cNvPicPr>
          <p:nvPr/>
        </p:nvPicPr>
        <p:blipFill>
          <a:blip r:embed="rId6"/>
          <a:stretch>
            <a:fillRect/>
          </a:stretch>
        </p:blipFill>
        <p:spPr>
          <a:xfrm>
            <a:off x="7616769" y="1581912"/>
            <a:ext cx="219456" cy="219456"/>
          </a:xfrm>
          <a:prstGeom prst="rect">
            <a:avLst/>
          </a:prstGeom>
        </p:spPr>
      </p:pic>
      <p:sp>
        <p:nvSpPr>
          <p:cNvPr id="24" name="Text 18"/>
          <p:cNvSpPr txBox="1"/>
          <p:nvPr/>
        </p:nvSpPr>
        <p:spPr>
          <a:xfrm>
            <a:off x="7497897" y="2057400"/>
            <a:ext cx="1798259" cy="201168"/>
          </a:xfrm>
          <a:prstGeom prst="rect">
            <a:avLst/>
          </a:prstGeom>
          <a:noFill/>
          <a:ln/>
        </p:spPr>
        <p:txBody>
          <a:bodyPr wrap="square" lIns="0" tIns="0" rIns="0" bIns="0" rtlCol="0" anchor="t"/>
          <a:lstStyle/>
          <a:p>
            <a:pPr marL="0" indent="0">
              <a:buNone/>
            </a:pPr>
            <a:r>
              <a:rPr lang="en-US" sz="950" b="1" kern="0" spc="150" dirty="0">
                <a:solidFill>
                  <a:srgbClr val="117C83"/>
                </a:solidFill>
                <a:latin typeface="Arial" pitchFamily="34" charset="0"/>
                <a:ea typeface="Arial" pitchFamily="34" charset="-122"/>
                <a:cs typeface="Arial" pitchFamily="34" charset="-120"/>
              </a:rPr>
              <a:t>NONLINEAR</a:t>
            </a:r>
            <a:endParaRPr lang="en-US" sz="950" dirty="0"/>
          </a:p>
        </p:txBody>
      </p:sp>
      <p:sp>
        <p:nvSpPr>
          <p:cNvPr id="25" name="Text 19"/>
          <p:cNvSpPr txBox="1"/>
          <p:nvPr/>
        </p:nvSpPr>
        <p:spPr>
          <a:xfrm>
            <a:off x="7497897" y="2286000"/>
            <a:ext cx="1798259" cy="292608"/>
          </a:xfrm>
          <a:prstGeom prst="rect">
            <a:avLst/>
          </a:prstGeom>
          <a:noFill/>
          <a:ln/>
        </p:spPr>
        <p:txBody>
          <a:bodyPr wrap="square" lIns="0" tIns="0" rIns="0" bIns="0" rtlCol="0" anchor="t"/>
          <a:lstStyle/>
          <a:p>
            <a:pPr marL="0" indent="0">
              <a:buNone/>
            </a:pPr>
            <a:r>
              <a:rPr lang="en-US" sz="1400" b="1" dirty="0">
                <a:solidFill>
                  <a:srgbClr val="152E38"/>
                </a:solidFill>
                <a:latin typeface="Arial" pitchFamily="34" charset="0"/>
                <a:ea typeface="Arial" pitchFamily="34" charset="-122"/>
                <a:cs typeface="Arial" pitchFamily="34" charset="-120"/>
              </a:rPr>
              <a:t>Random Forest</a:t>
            </a:r>
            <a:endParaRPr lang="en-US" sz="1400" dirty="0"/>
          </a:p>
        </p:txBody>
      </p:sp>
      <p:sp>
        <p:nvSpPr>
          <p:cNvPr id="26" name="Text 20"/>
          <p:cNvSpPr txBox="1"/>
          <p:nvPr/>
        </p:nvSpPr>
        <p:spPr>
          <a:xfrm>
            <a:off x="7497897" y="2624328"/>
            <a:ext cx="1706819" cy="640080"/>
          </a:xfrm>
          <a:prstGeom prst="rect">
            <a:avLst/>
          </a:prstGeom>
          <a:noFill/>
          <a:ln/>
        </p:spPr>
        <p:txBody>
          <a:bodyPr wrap="square" lIns="0" tIns="0" rIns="0" bIns="0" rtlCol="0" anchor="t"/>
          <a:lstStyle/>
          <a:p>
            <a:pPr marL="0" indent="0">
              <a:buNone/>
            </a:pPr>
            <a:r>
              <a:rPr lang="en-US" sz="1200" dirty="0">
                <a:solidFill>
                  <a:srgbClr val="50636B"/>
                </a:solidFill>
                <a:latin typeface="Arial" pitchFamily="34" charset="0"/>
                <a:ea typeface="Arial" pitchFamily="34" charset="-122"/>
                <a:cs typeface="Arial" pitchFamily="34" charset="-120"/>
              </a:rPr>
              <a:t>Nonlinear ensemble of 150 decision trees</a:t>
            </a:r>
            <a:endParaRPr lang="en-US" sz="1200" dirty="0"/>
          </a:p>
        </p:txBody>
      </p:sp>
      <p:sp>
        <p:nvSpPr>
          <p:cNvPr id="27" name="Shape 21"/>
          <p:cNvSpPr/>
          <p:nvPr/>
        </p:nvSpPr>
        <p:spPr>
          <a:xfrm>
            <a:off x="9570476" y="1280160"/>
            <a:ext cx="2072579" cy="2103120"/>
          </a:xfrm>
          <a:prstGeom prst="roundRect">
            <a:avLst>
              <a:gd name="adj" fmla="val 3530"/>
            </a:avLst>
          </a:prstGeom>
          <a:solidFill>
            <a:srgbClr val="F3F7F8"/>
          </a:solidFill>
          <a:ln w="12700">
            <a:solidFill>
              <a:srgbClr val="F3F7F8"/>
            </a:solidFill>
            <a:prstDash val="solid"/>
          </a:ln>
        </p:spPr>
        <p:txBody>
          <a:bodyPr/>
          <a:lstStyle/>
          <a:p>
            <a:endParaRPr lang="en-US"/>
          </a:p>
        </p:txBody>
      </p:sp>
      <p:sp>
        <p:nvSpPr>
          <p:cNvPr id="28" name="Shape 22"/>
          <p:cNvSpPr/>
          <p:nvPr/>
        </p:nvSpPr>
        <p:spPr>
          <a:xfrm>
            <a:off x="9753356" y="1463040"/>
            <a:ext cx="457200" cy="457200"/>
          </a:xfrm>
          <a:prstGeom prst="ellipse">
            <a:avLst/>
          </a:prstGeom>
          <a:solidFill>
            <a:srgbClr val="152E38"/>
          </a:solidFill>
          <a:ln w="12700">
            <a:solidFill>
              <a:srgbClr val="152E38"/>
            </a:solidFill>
            <a:prstDash val="solid"/>
          </a:ln>
        </p:spPr>
        <p:txBody>
          <a:bodyPr/>
          <a:lstStyle/>
          <a:p>
            <a:endParaRPr lang="en-US"/>
          </a:p>
        </p:txBody>
      </p:sp>
      <p:pic>
        <p:nvPicPr>
          <p:cNvPr id="29" name="Image 4" descr="preencoded.png"/>
          <p:cNvPicPr>
            <a:picLocks noChangeAspect="1"/>
          </p:cNvPicPr>
          <p:nvPr/>
        </p:nvPicPr>
        <p:blipFill>
          <a:blip r:embed="rId7"/>
          <a:stretch>
            <a:fillRect/>
          </a:stretch>
        </p:blipFill>
        <p:spPr>
          <a:xfrm>
            <a:off x="9872228" y="1581912"/>
            <a:ext cx="219456" cy="219456"/>
          </a:xfrm>
          <a:prstGeom prst="rect">
            <a:avLst/>
          </a:prstGeom>
        </p:spPr>
      </p:pic>
      <p:sp>
        <p:nvSpPr>
          <p:cNvPr id="30" name="Text 23"/>
          <p:cNvSpPr txBox="1"/>
          <p:nvPr/>
        </p:nvSpPr>
        <p:spPr>
          <a:xfrm>
            <a:off x="9753356" y="2057400"/>
            <a:ext cx="1798259" cy="201168"/>
          </a:xfrm>
          <a:prstGeom prst="rect">
            <a:avLst/>
          </a:prstGeom>
          <a:noFill/>
          <a:ln/>
        </p:spPr>
        <p:txBody>
          <a:bodyPr wrap="square" lIns="0" tIns="0" rIns="0" bIns="0" rtlCol="0" anchor="t"/>
          <a:lstStyle/>
          <a:p>
            <a:pPr marL="0" indent="0">
              <a:buNone/>
            </a:pPr>
            <a:r>
              <a:rPr lang="en-US" sz="950" b="1" kern="0" spc="150" dirty="0">
                <a:solidFill>
                  <a:srgbClr val="117C83"/>
                </a:solidFill>
                <a:latin typeface="Arial" pitchFamily="34" charset="0"/>
                <a:ea typeface="Arial" pitchFamily="34" charset="-122"/>
                <a:cs typeface="Arial" pitchFamily="34" charset="-120"/>
              </a:rPr>
              <a:t>TRANSFER</a:t>
            </a:r>
            <a:endParaRPr lang="en-US" sz="950" dirty="0"/>
          </a:p>
        </p:txBody>
      </p:sp>
      <p:sp>
        <p:nvSpPr>
          <p:cNvPr id="31" name="Text 24"/>
          <p:cNvSpPr txBox="1"/>
          <p:nvPr/>
        </p:nvSpPr>
        <p:spPr>
          <a:xfrm>
            <a:off x="9753356" y="2286000"/>
            <a:ext cx="1798259" cy="292608"/>
          </a:xfrm>
          <a:prstGeom prst="rect">
            <a:avLst/>
          </a:prstGeom>
          <a:noFill/>
          <a:ln/>
        </p:spPr>
        <p:txBody>
          <a:bodyPr wrap="square" lIns="0" tIns="0" rIns="0" bIns="0" rtlCol="0" anchor="t"/>
          <a:lstStyle/>
          <a:p>
            <a:pPr marL="0" indent="0">
              <a:buNone/>
            </a:pPr>
            <a:r>
              <a:rPr lang="en-US" sz="1400" b="1" dirty="0">
                <a:solidFill>
                  <a:srgbClr val="152E38"/>
                </a:solidFill>
                <a:latin typeface="Arial" pitchFamily="34" charset="0"/>
                <a:ea typeface="Arial" pitchFamily="34" charset="-122"/>
                <a:cs typeface="Arial" pitchFamily="34" charset="-120"/>
              </a:rPr>
              <a:t>CodeT5 encoder</a:t>
            </a:r>
            <a:endParaRPr lang="en-US" sz="1400" dirty="0"/>
          </a:p>
        </p:txBody>
      </p:sp>
      <p:sp>
        <p:nvSpPr>
          <p:cNvPr id="32" name="Text 25"/>
          <p:cNvSpPr txBox="1"/>
          <p:nvPr/>
        </p:nvSpPr>
        <p:spPr>
          <a:xfrm>
            <a:off x="9753356" y="2624328"/>
            <a:ext cx="1706819" cy="640080"/>
          </a:xfrm>
          <a:prstGeom prst="rect">
            <a:avLst/>
          </a:prstGeom>
          <a:noFill/>
          <a:ln/>
        </p:spPr>
        <p:txBody>
          <a:bodyPr wrap="square" lIns="0" tIns="0" rIns="0" bIns="0" rtlCol="0" anchor="t"/>
          <a:lstStyle/>
          <a:p>
            <a:pPr marL="0" indent="0">
              <a:buNone/>
            </a:pPr>
            <a:r>
              <a:rPr lang="en-US" sz="1200" dirty="0">
                <a:solidFill>
                  <a:srgbClr val="50636B"/>
                </a:solidFill>
                <a:latin typeface="Arial" pitchFamily="34" charset="0"/>
                <a:ea typeface="Arial" pitchFamily="34" charset="-122"/>
                <a:cs typeface="Arial" pitchFamily="34" charset="-120"/>
              </a:rPr>
              <a:t>Pretrained code representation with a learned class head</a:t>
            </a:r>
            <a:endParaRPr lang="en-US" sz="1200" dirty="0"/>
          </a:p>
        </p:txBody>
      </p:sp>
      <p:sp>
        <p:nvSpPr>
          <p:cNvPr id="33" name="Shape 26"/>
          <p:cNvSpPr/>
          <p:nvPr/>
        </p:nvSpPr>
        <p:spPr>
          <a:xfrm>
            <a:off x="548640" y="3611880"/>
            <a:ext cx="6492240" cy="2697480"/>
          </a:xfrm>
          <a:prstGeom prst="roundRect">
            <a:avLst>
              <a:gd name="adj" fmla="val 2712"/>
            </a:avLst>
          </a:prstGeom>
          <a:solidFill>
            <a:srgbClr val="F3F7F8"/>
          </a:solidFill>
          <a:ln w="12700">
            <a:solidFill>
              <a:srgbClr val="F3F7F8"/>
            </a:solidFill>
            <a:prstDash val="solid"/>
          </a:ln>
        </p:spPr>
        <p:txBody>
          <a:bodyPr/>
          <a:lstStyle/>
          <a:p>
            <a:endParaRPr lang="en-US"/>
          </a:p>
        </p:txBody>
      </p:sp>
      <p:sp>
        <p:nvSpPr>
          <p:cNvPr id="34" name="Text 27"/>
          <p:cNvSpPr txBox="1"/>
          <p:nvPr/>
        </p:nvSpPr>
        <p:spPr>
          <a:xfrm>
            <a:off x="822960" y="3813048"/>
            <a:ext cx="4572000" cy="274320"/>
          </a:xfrm>
          <a:prstGeom prst="rect">
            <a:avLst/>
          </a:prstGeom>
          <a:noFill/>
          <a:ln/>
        </p:spPr>
        <p:txBody>
          <a:bodyPr wrap="square" lIns="0" tIns="0" rIns="0" bIns="0" rtlCol="0" anchor="t"/>
          <a:lstStyle/>
          <a:p>
            <a:pPr marL="0" indent="0">
              <a:buNone/>
            </a:pPr>
            <a:r>
              <a:rPr lang="en-US" sz="1100" b="1" kern="0" spc="200" dirty="0">
                <a:solidFill>
                  <a:srgbClr val="117C83"/>
                </a:solidFill>
                <a:latin typeface="Arial" pitchFamily="34" charset="0"/>
                <a:ea typeface="Arial" pitchFamily="34" charset="-122"/>
                <a:cs typeface="Arial" pitchFamily="34" charset="-120"/>
              </a:rPr>
              <a:t>HOW THE LINEAR SVM DECIDES</a:t>
            </a:r>
            <a:endParaRPr lang="en-US" sz="1100" dirty="0"/>
          </a:p>
        </p:txBody>
      </p:sp>
      <p:sp>
        <p:nvSpPr>
          <p:cNvPr id="35" name="Shape 28"/>
          <p:cNvSpPr/>
          <p:nvPr/>
        </p:nvSpPr>
        <p:spPr>
          <a:xfrm>
            <a:off x="822960" y="4160520"/>
            <a:ext cx="5943600" cy="960120"/>
          </a:xfrm>
          <a:prstGeom prst="roundRect">
            <a:avLst>
              <a:gd name="adj" fmla="val 7619"/>
            </a:avLst>
          </a:prstGeom>
          <a:solidFill>
            <a:srgbClr val="FFFFFF"/>
          </a:solidFill>
          <a:ln w="12700">
            <a:solidFill>
              <a:srgbClr val="D6E1E4"/>
            </a:solidFill>
            <a:prstDash val="solid"/>
          </a:ln>
        </p:spPr>
        <p:txBody>
          <a:bodyPr/>
          <a:lstStyle/>
          <a:p>
            <a:endParaRPr lang="en-US"/>
          </a:p>
        </p:txBody>
      </p:sp>
      <p:pic>
        <p:nvPicPr>
          <p:cNvPr id="36" name="Image 5" descr="SVM weighted class score and largest-score prediction"/>
          <p:cNvPicPr>
            <a:picLocks noChangeAspect="1"/>
          </p:cNvPicPr>
          <p:nvPr/>
        </p:nvPicPr>
        <p:blipFill>
          <a:blip r:embed="rId8"/>
          <a:stretch>
            <a:fillRect/>
          </a:stretch>
        </p:blipFill>
        <p:spPr>
          <a:xfrm>
            <a:off x="1234440" y="4279392"/>
            <a:ext cx="5120640" cy="718994"/>
          </a:xfrm>
          <a:prstGeom prst="rect">
            <a:avLst/>
          </a:prstGeom>
        </p:spPr>
      </p:pic>
      <p:sp>
        <p:nvSpPr>
          <p:cNvPr id="37" name="Text 29"/>
          <p:cNvSpPr txBox="1"/>
          <p:nvPr/>
        </p:nvSpPr>
        <p:spPr>
          <a:xfrm>
            <a:off x="822960" y="5303520"/>
            <a:ext cx="5943600" cy="274320"/>
          </a:xfrm>
          <a:prstGeom prst="rect">
            <a:avLst/>
          </a:prstGeom>
          <a:noFill/>
          <a:ln/>
        </p:spPr>
        <p:txBody>
          <a:bodyPr wrap="square" lIns="0" tIns="0" rIns="0" bIns="0" rtlCol="0" anchor="t"/>
          <a:lstStyle/>
          <a:p>
            <a:pPr marL="0" indent="0">
              <a:buNone/>
            </a:pPr>
            <a:r>
              <a:rPr lang="en-US" sz="1300" b="1" dirty="0">
                <a:solidFill>
                  <a:srgbClr val="152E38"/>
                </a:solidFill>
                <a:latin typeface="Arial" pitchFamily="34" charset="0"/>
                <a:ea typeface="Arial" pitchFamily="34" charset="-122"/>
                <a:cs typeface="Arial" pitchFamily="34" charset="-120"/>
              </a:rPr>
              <a:t>x</a:t>
            </a:r>
            <a:r>
              <a:rPr lang="en-US" sz="1300" dirty="0">
                <a:solidFill>
                  <a:srgbClr val="152E38"/>
                </a:solidFill>
                <a:latin typeface="Arial" pitchFamily="34" charset="0"/>
                <a:ea typeface="Arial" pitchFamily="34" charset="-122"/>
                <a:cs typeface="Arial" pitchFamily="34" charset="-120"/>
              </a:rPr>
              <a:t> = TF-IDF features     </a:t>
            </a:r>
            <a:r>
              <a:rPr lang="en-US" sz="1300" b="1" dirty="0">
                <a:solidFill>
                  <a:srgbClr val="152E38"/>
                </a:solidFill>
                <a:latin typeface="Arial" pitchFamily="34" charset="0"/>
                <a:ea typeface="Arial" pitchFamily="34" charset="-122"/>
                <a:cs typeface="Arial" pitchFamily="34" charset="-120"/>
              </a:rPr>
              <a:t>w</a:t>
            </a:r>
            <a:r>
              <a:rPr lang="en-US" sz="1300" dirty="0">
                <a:solidFill>
                  <a:srgbClr val="152E38"/>
                </a:solidFill>
                <a:latin typeface="Arial" pitchFamily="34" charset="0"/>
                <a:ea typeface="Arial" pitchFamily="34" charset="-122"/>
                <a:cs typeface="Arial" pitchFamily="34" charset="-120"/>
              </a:rPr>
              <a:t> = learned weights     </a:t>
            </a:r>
            <a:r>
              <a:rPr lang="en-US" sz="1300" b="1" dirty="0">
                <a:solidFill>
                  <a:srgbClr val="152E38"/>
                </a:solidFill>
                <a:latin typeface="Arial" pitchFamily="34" charset="0"/>
                <a:ea typeface="Arial" pitchFamily="34" charset="-122"/>
                <a:cs typeface="Arial" pitchFamily="34" charset="-120"/>
              </a:rPr>
              <a:t>b</a:t>
            </a:r>
            <a:r>
              <a:rPr lang="en-US" sz="1300" dirty="0">
                <a:solidFill>
                  <a:srgbClr val="152E38"/>
                </a:solidFill>
                <a:latin typeface="Arial" pitchFamily="34" charset="0"/>
                <a:ea typeface="Arial" pitchFamily="34" charset="-122"/>
                <a:cs typeface="Arial" pitchFamily="34" charset="-120"/>
              </a:rPr>
              <a:t> = offset</a:t>
            </a:r>
            <a:endParaRPr lang="en-US" sz="1300" dirty="0"/>
          </a:p>
        </p:txBody>
      </p:sp>
      <p:sp>
        <p:nvSpPr>
          <p:cNvPr id="38" name="Text 30"/>
          <p:cNvSpPr txBox="1"/>
          <p:nvPr/>
        </p:nvSpPr>
        <p:spPr>
          <a:xfrm>
            <a:off x="822960" y="5669280"/>
            <a:ext cx="5943600" cy="274320"/>
          </a:xfrm>
          <a:prstGeom prst="rect">
            <a:avLst/>
          </a:prstGeom>
          <a:noFill/>
          <a:ln/>
        </p:spPr>
        <p:txBody>
          <a:bodyPr wrap="square" lIns="0" tIns="0" rIns="0" bIns="0" rtlCol="0" anchor="t"/>
          <a:lstStyle/>
          <a:p>
            <a:pPr marL="0" indent="0">
              <a:buNone/>
            </a:pPr>
            <a:r>
              <a:rPr lang="en-US" sz="1300" dirty="0">
                <a:solidFill>
                  <a:srgbClr val="50636B"/>
                </a:solidFill>
                <a:latin typeface="Arial" pitchFamily="34" charset="0"/>
                <a:ea typeface="Arial" pitchFamily="34" charset="-122"/>
                <a:cs typeface="Arial" pitchFamily="34" charset="-120"/>
              </a:rPr>
              <a:t>Train one author against the rest; predict the largest of five scores.</a:t>
            </a:r>
            <a:endParaRPr lang="en-US" sz="1300" dirty="0"/>
          </a:p>
        </p:txBody>
      </p:sp>
      <p:sp>
        <p:nvSpPr>
          <p:cNvPr id="39" name="Shape 31"/>
          <p:cNvSpPr/>
          <p:nvPr/>
        </p:nvSpPr>
        <p:spPr>
          <a:xfrm>
            <a:off x="7315200" y="3611880"/>
            <a:ext cx="4327855" cy="2697480"/>
          </a:xfrm>
          <a:prstGeom prst="roundRect">
            <a:avLst>
              <a:gd name="adj" fmla="val 2712"/>
            </a:avLst>
          </a:prstGeom>
          <a:solidFill>
            <a:srgbClr val="152E38"/>
          </a:solidFill>
          <a:ln w="12700">
            <a:solidFill>
              <a:srgbClr val="152E38"/>
            </a:solidFill>
            <a:prstDash val="solid"/>
          </a:ln>
        </p:spPr>
        <p:txBody>
          <a:bodyPr/>
          <a:lstStyle/>
          <a:p>
            <a:endParaRPr lang="en-US"/>
          </a:p>
        </p:txBody>
      </p:sp>
      <p:sp>
        <p:nvSpPr>
          <p:cNvPr id="40" name="Text 32"/>
          <p:cNvSpPr txBox="1"/>
          <p:nvPr/>
        </p:nvSpPr>
        <p:spPr>
          <a:xfrm>
            <a:off x="7589520" y="3813048"/>
            <a:ext cx="3657600" cy="274320"/>
          </a:xfrm>
          <a:prstGeom prst="rect">
            <a:avLst/>
          </a:prstGeom>
          <a:noFill/>
          <a:ln/>
        </p:spPr>
        <p:txBody>
          <a:bodyPr wrap="square" lIns="0" tIns="0" rIns="0" bIns="0" rtlCol="0" anchor="t"/>
          <a:lstStyle/>
          <a:p>
            <a:pPr marL="0" indent="0">
              <a:buNone/>
            </a:pPr>
            <a:r>
              <a:rPr lang="en-US" sz="1100" b="1" kern="0" spc="200" dirty="0">
                <a:solidFill>
                  <a:srgbClr val="7FD1C7"/>
                </a:solidFill>
                <a:latin typeface="Arial" pitchFamily="34" charset="0"/>
                <a:ea typeface="Arial" pitchFamily="34" charset="-122"/>
                <a:cs typeface="Arial" pitchFamily="34" charset="-120"/>
              </a:rPr>
              <a:t>CODET5 FINE-TUNING</a:t>
            </a:r>
            <a:endParaRPr lang="en-US" sz="1100" dirty="0"/>
          </a:p>
        </p:txBody>
      </p:sp>
      <p:sp>
        <p:nvSpPr>
          <p:cNvPr id="41" name="Text 33"/>
          <p:cNvSpPr txBox="1"/>
          <p:nvPr/>
        </p:nvSpPr>
        <p:spPr>
          <a:xfrm>
            <a:off x="7589520" y="4160520"/>
            <a:ext cx="1234440" cy="548640"/>
          </a:xfrm>
          <a:prstGeom prst="rect">
            <a:avLst/>
          </a:prstGeom>
          <a:noFill/>
          <a:ln/>
        </p:spPr>
        <p:txBody>
          <a:bodyPr wrap="square" lIns="0" tIns="0" rIns="0" bIns="0" rtlCol="0" anchor="ctr"/>
          <a:lstStyle/>
          <a:p>
            <a:pPr marL="0" indent="0">
              <a:buNone/>
            </a:pPr>
            <a:r>
              <a:rPr lang="en-US" sz="3200" b="1" dirty="0">
                <a:solidFill>
                  <a:srgbClr val="7FD1C7"/>
                </a:solidFill>
                <a:latin typeface="Arial" pitchFamily="34" charset="0"/>
                <a:ea typeface="Arial" pitchFamily="34" charset="-122"/>
                <a:cs typeface="Arial" pitchFamily="34" charset="-120"/>
              </a:rPr>
              <a:t>256</a:t>
            </a:r>
            <a:endParaRPr lang="en-US" sz="3200" dirty="0"/>
          </a:p>
        </p:txBody>
      </p:sp>
      <p:sp>
        <p:nvSpPr>
          <p:cNvPr id="42" name="Text 34"/>
          <p:cNvSpPr txBox="1"/>
          <p:nvPr/>
        </p:nvSpPr>
        <p:spPr>
          <a:xfrm>
            <a:off x="7589520" y="4727448"/>
            <a:ext cx="1188720" cy="457200"/>
          </a:xfrm>
          <a:prstGeom prst="rect">
            <a:avLst/>
          </a:prstGeom>
          <a:noFill/>
          <a:ln/>
        </p:spPr>
        <p:txBody>
          <a:bodyPr wrap="square" lIns="0" tIns="0" rIns="0" bIns="0" rtlCol="0" anchor="t"/>
          <a:lstStyle/>
          <a:p>
            <a:pPr marL="0" indent="0">
              <a:buNone/>
            </a:pPr>
            <a:r>
              <a:rPr lang="en-US" sz="1100" dirty="0">
                <a:solidFill>
                  <a:srgbClr val="FFFFFF"/>
                </a:solidFill>
                <a:latin typeface="Arial" pitchFamily="34" charset="0"/>
                <a:ea typeface="Arial" pitchFamily="34" charset="-122"/>
                <a:cs typeface="Arial" pitchFamily="34" charset="-120"/>
              </a:rPr>
              <a:t>first tokens per program</a:t>
            </a:r>
            <a:endParaRPr lang="en-US" sz="1100" dirty="0"/>
          </a:p>
        </p:txBody>
      </p:sp>
      <p:sp>
        <p:nvSpPr>
          <p:cNvPr id="43" name="Text 35"/>
          <p:cNvSpPr txBox="1"/>
          <p:nvPr/>
        </p:nvSpPr>
        <p:spPr>
          <a:xfrm>
            <a:off x="8933688" y="4160520"/>
            <a:ext cx="1234440" cy="548640"/>
          </a:xfrm>
          <a:prstGeom prst="rect">
            <a:avLst/>
          </a:prstGeom>
          <a:noFill/>
          <a:ln/>
        </p:spPr>
        <p:txBody>
          <a:bodyPr wrap="square" lIns="0" tIns="0" rIns="0" bIns="0" rtlCol="0" anchor="ctr"/>
          <a:lstStyle/>
          <a:p>
            <a:pPr marL="0" indent="0">
              <a:buNone/>
            </a:pPr>
            <a:r>
              <a:rPr lang="en-US" sz="3200" b="1" dirty="0">
                <a:solidFill>
                  <a:srgbClr val="7FD1C7"/>
                </a:solidFill>
                <a:latin typeface="Arial" pitchFamily="34" charset="0"/>
                <a:ea typeface="Arial" pitchFamily="34" charset="-122"/>
                <a:cs typeface="Arial" pitchFamily="34" charset="-120"/>
              </a:rPr>
              <a:t>5</a:t>
            </a:r>
            <a:endParaRPr lang="en-US" sz="3200" dirty="0"/>
          </a:p>
        </p:txBody>
      </p:sp>
      <p:sp>
        <p:nvSpPr>
          <p:cNvPr id="44" name="Text 36"/>
          <p:cNvSpPr txBox="1"/>
          <p:nvPr/>
        </p:nvSpPr>
        <p:spPr>
          <a:xfrm>
            <a:off x="8933688" y="4727448"/>
            <a:ext cx="1188720" cy="457200"/>
          </a:xfrm>
          <a:prstGeom prst="rect">
            <a:avLst/>
          </a:prstGeom>
          <a:noFill/>
          <a:ln/>
        </p:spPr>
        <p:txBody>
          <a:bodyPr wrap="square" lIns="0" tIns="0" rIns="0" bIns="0" rtlCol="0" anchor="t"/>
          <a:lstStyle/>
          <a:p>
            <a:pPr marL="0" indent="0">
              <a:buNone/>
            </a:pPr>
            <a:r>
              <a:rPr lang="en-US" sz="1100" dirty="0">
                <a:solidFill>
                  <a:srgbClr val="FFFFFF"/>
                </a:solidFill>
                <a:latin typeface="Arial" pitchFamily="34" charset="0"/>
                <a:ea typeface="Arial" pitchFamily="34" charset="-122"/>
                <a:cs typeface="Arial" pitchFamily="34" charset="-120"/>
              </a:rPr>
              <a:t>epochs on an A100</a:t>
            </a:r>
            <a:endParaRPr lang="en-US" sz="1100" dirty="0"/>
          </a:p>
        </p:txBody>
      </p:sp>
      <p:sp>
        <p:nvSpPr>
          <p:cNvPr id="45" name="Text 37"/>
          <p:cNvSpPr txBox="1"/>
          <p:nvPr/>
        </p:nvSpPr>
        <p:spPr>
          <a:xfrm>
            <a:off x="10277856" y="4160520"/>
            <a:ext cx="1234440" cy="548640"/>
          </a:xfrm>
          <a:prstGeom prst="rect">
            <a:avLst/>
          </a:prstGeom>
          <a:noFill/>
          <a:ln/>
        </p:spPr>
        <p:txBody>
          <a:bodyPr wrap="square" lIns="0" tIns="0" rIns="0" bIns="0" rtlCol="0" anchor="ctr"/>
          <a:lstStyle/>
          <a:p>
            <a:pPr marL="0" indent="0">
              <a:buNone/>
            </a:pPr>
            <a:r>
              <a:rPr lang="en-US" sz="3200" b="1" dirty="0">
                <a:solidFill>
                  <a:srgbClr val="7FD1C7"/>
                </a:solidFill>
                <a:latin typeface="Arial" pitchFamily="34" charset="0"/>
                <a:ea typeface="Arial" pitchFamily="34" charset="-122"/>
                <a:cs typeface="Arial" pitchFamily="34" charset="-120"/>
              </a:rPr>
              <a:t>3</a:t>
            </a:r>
            <a:endParaRPr lang="en-US" sz="3200" dirty="0"/>
          </a:p>
        </p:txBody>
      </p:sp>
      <p:sp>
        <p:nvSpPr>
          <p:cNvPr id="46" name="Text 38"/>
          <p:cNvSpPr txBox="1"/>
          <p:nvPr/>
        </p:nvSpPr>
        <p:spPr>
          <a:xfrm>
            <a:off x="10277856" y="4727448"/>
            <a:ext cx="1188720" cy="457200"/>
          </a:xfrm>
          <a:prstGeom prst="rect">
            <a:avLst/>
          </a:prstGeom>
          <a:noFill/>
          <a:ln/>
        </p:spPr>
        <p:txBody>
          <a:bodyPr wrap="square" lIns="0" tIns="0" rIns="0" bIns="0" rtlCol="0" anchor="t"/>
          <a:lstStyle/>
          <a:p>
            <a:pPr marL="0" indent="0">
              <a:buNone/>
            </a:pPr>
            <a:r>
              <a:rPr lang="en-US" sz="1100" dirty="0">
                <a:solidFill>
                  <a:srgbClr val="FFFFFF"/>
                </a:solidFill>
                <a:latin typeface="Arial" pitchFamily="34" charset="0"/>
                <a:ea typeface="Arial" pitchFamily="34" charset="-122"/>
                <a:cs typeface="Arial" pitchFamily="34" charset="-120"/>
              </a:rPr>
              <a:t>epoch selected by validation</a:t>
            </a:r>
            <a:endParaRPr lang="en-US" sz="1100" dirty="0"/>
          </a:p>
        </p:txBody>
      </p:sp>
      <p:sp>
        <p:nvSpPr>
          <p:cNvPr id="47" name="Text 39"/>
          <p:cNvSpPr txBox="1"/>
          <p:nvPr/>
        </p:nvSpPr>
        <p:spPr>
          <a:xfrm>
            <a:off x="7589520" y="5440680"/>
            <a:ext cx="3779215" cy="548640"/>
          </a:xfrm>
          <a:prstGeom prst="rect">
            <a:avLst/>
          </a:prstGeom>
          <a:noFill/>
          <a:ln/>
        </p:spPr>
        <p:txBody>
          <a:bodyPr wrap="square" lIns="0" tIns="0" rIns="0" bIns="0" rtlCol="0" anchor="t"/>
          <a:lstStyle/>
          <a:p>
            <a:pPr marL="0" indent="0">
              <a:buNone/>
            </a:pPr>
            <a:r>
              <a:rPr lang="en-US" sz="1300" dirty="0">
                <a:solidFill>
                  <a:srgbClr val="CFE3E6"/>
                </a:solidFill>
                <a:latin typeface="Arial" pitchFamily="34" charset="0"/>
                <a:ea typeface="Arial" pitchFamily="34" charset="-122"/>
                <a:cs typeface="Arial" pitchFamily="34" charset="-120"/>
              </a:rPr>
              <a:t>Mean pooling, dropout and a five-class head. Encoder and head fine-tuned.</a:t>
            </a:r>
            <a:endParaRPr lang="en-US" sz="1300" dirty="0"/>
          </a:p>
        </p:txBody>
      </p:sp>
      <p:sp>
        <p:nvSpPr>
          <p:cNvPr id="48" name="Slide number 4">
            <a:extLst>
              <a:ext uri="{FF2B5EF4-FFF2-40B4-BE49-F238E27FC236}">
                <a16:creationId xmlns:a16="http://schemas.microsoft.com/office/drawing/2014/main" id="{B3737B8D-6487-4EEA-9421-3B42ABDE49B8}"/>
              </a:ext>
            </a:extLst>
          </p:cNvPr>
          <p:cNvSpPr>
            <a:spLocks noGrp="1"/>
          </p:cNvSpPr>
          <p:nvPr/>
        </p:nvSpPr>
        <p:spPr>
          <a:xfrm>
            <a:off x="11544300" y="6486525"/>
            <a:ext cx="361950" cy="257175"/>
          </a:xfrm>
          <a:prstGeom prst="rect">
            <a:avLst/>
          </a:prstGeom>
          <a:noFill/>
          <a:ln w="0">
            <a:noFill/>
          </a:ln>
        </p:spPr>
        <p:txBody>
          <a:bodyPr>
            <a:noAutofit/>
          </a:bodyPr>
          <a:lstStyle/>
          <a:p>
            <a:pPr>
              <a:defRPr sz="1275">
                <a:solidFill>
                  <a:srgbClr val="536472"/>
                </a:solidFill>
                <a:latin typeface="Arial"/>
                <a:ea typeface="Arial"/>
                <a:cs typeface="Arial"/>
              </a:defRPr>
            </a:pPr>
            <a:r>
              <a:rPr sz="1275">
                <a:solidFill>
                  <a:srgbClr val="536472"/>
                </a:solidFill>
                <a:latin typeface="Arial"/>
                <a:ea typeface="Arial"/>
                <a:cs typeface="Arial"/>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94415" cy="640080"/>
          </a:xfrm>
          <a:prstGeom prst="rect">
            <a:avLst/>
          </a:prstGeom>
          <a:noFill/>
          <a:ln/>
        </p:spPr>
        <p:txBody>
          <a:bodyPr wrap="square" lIns="0" tIns="0" rIns="0" bIns="0" rtlCol="0" anchor="ctr"/>
          <a:lstStyle/>
          <a:p>
            <a:pPr marL="0" indent="0">
              <a:buNone/>
            </a:pPr>
            <a:r>
              <a:rPr lang="en-US" sz="3000" b="1" dirty="0">
                <a:solidFill>
                  <a:srgbClr val="152E38"/>
                </a:solidFill>
                <a:latin typeface="Arial" pitchFamily="34" charset="0"/>
                <a:ea typeface="Arial" pitchFamily="34" charset="-122"/>
                <a:cs typeface="Arial" pitchFamily="34" charset="-120"/>
              </a:rPr>
              <a:t>SVM leads; CodeT5 places second</a:t>
            </a:r>
            <a:endParaRPr lang="en-US" sz="3000" dirty="0"/>
          </a:p>
        </p:txBody>
      </p:sp>
      <p:sp>
        <p:nvSpPr>
          <p:cNvPr id="3" name="Text 1"/>
          <p:cNvSpPr txBox="1"/>
          <p:nvPr/>
        </p:nvSpPr>
        <p:spPr>
          <a:xfrm>
            <a:off x="548640" y="1234440"/>
            <a:ext cx="2011680" cy="548640"/>
          </a:xfrm>
          <a:prstGeom prst="rect">
            <a:avLst/>
          </a:prstGeom>
          <a:noFill/>
          <a:ln/>
        </p:spPr>
        <p:txBody>
          <a:bodyPr wrap="square" lIns="0" tIns="0" rIns="0" bIns="0" rtlCol="0" anchor="ctr"/>
          <a:lstStyle/>
          <a:p>
            <a:pPr marL="0" indent="0">
              <a:buNone/>
            </a:pPr>
            <a:r>
              <a:rPr lang="en-US" sz="3200" b="1" dirty="0">
                <a:solidFill>
                  <a:srgbClr val="117C83"/>
                </a:solidFill>
                <a:latin typeface="Arial" pitchFamily="34" charset="0"/>
                <a:ea typeface="Arial" pitchFamily="34" charset="-122"/>
                <a:cs typeface="Arial" pitchFamily="34" charset="-120"/>
              </a:rPr>
              <a:t>79.75%</a:t>
            </a:r>
            <a:endParaRPr lang="en-US" sz="3200" dirty="0"/>
          </a:p>
        </p:txBody>
      </p:sp>
      <p:sp>
        <p:nvSpPr>
          <p:cNvPr id="4" name="Text 2"/>
          <p:cNvSpPr txBox="1"/>
          <p:nvPr/>
        </p:nvSpPr>
        <p:spPr>
          <a:xfrm>
            <a:off x="548640" y="1801368"/>
            <a:ext cx="2011680" cy="256032"/>
          </a:xfrm>
          <a:prstGeom prst="rect">
            <a:avLst/>
          </a:prstGeom>
          <a:noFill/>
          <a:ln/>
        </p:spPr>
        <p:txBody>
          <a:bodyPr wrap="square" lIns="0" tIns="0" rIns="0" bIns="0" rtlCol="0" anchor="t"/>
          <a:lstStyle/>
          <a:p>
            <a:pPr marL="0" indent="0">
              <a:buNone/>
            </a:pPr>
            <a:r>
              <a:rPr lang="en-US" sz="1200" dirty="0">
                <a:solidFill>
                  <a:srgbClr val="50636B"/>
                </a:solidFill>
                <a:latin typeface="Arial" pitchFamily="34" charset="0"/>
                <a:ea typeface="Arial" pitchFamily="34" charset="-122"/>
                <a:cs typeface="Arial" pitchFamily="34" charset="-120"/>
              </a:rPr>
              <a:t>SVM test accuracy</a:t>
            </a:r>
            <a:endParaRPr lang="en-US" sz="1200" dirty="0"/>
          </a:p>
        </p:txBody>
      </p:sp>
      <p:sp>
        <p:nvSpPr>
          <p:cNvPr id="5" name="Text 3"/>
          <p:cNvSpPr txBox="1"/>
          <p:nvPr/>
        </p:nvSpPr>
        <p:spPr>
          <a:xfrm>
            <a:off x="2651760" y="1234440"/>
            <a:ext cx="2011680" cy="548640"/>
          </a:xfrm>
          <a:prstGeom prst="rect">
            <a:avLst/>
          </a:prstGeom>
          <a:noFill/>
          <a:ln/>
        </p:spPr>
        <p:txBody>
          <a:bodyPr wrap="square" lIns="0" tIns="0" rIns="0" bIns="0" rtlCol="0" anchor="ctr"/>
          <a:lstStyle/>
          <a:p>
            <a:pPr marL="0" indent="0">
              <a:buNone/>
            </a:pPr>
            <a:r>
              <a:rPr lang="en-US" sz="3200" b="1" dirty="0">
                <a:solidFill>
                  <a:srgbClr val="117C83"/>
                </a:solidFill>
                <a:latin typeface="Arial" pitchFamily="34" charset="0"/>
                <a:ea typeface="Arial" pitchFamily="34" charset="-122"/>
                <a:cs typeface="Arial" pitchFamily="34" charset="-120"/>
              </a:rPr>
              <a:t>0.7970</a:t>
            </a:r>
            <a:endParaRPr lang="en-US" sz="3200" dirty="0"/>
          </a:p>
        </p:txBody>
      </p:sp>
      <p:sp>
        <p:nvSpPr>
          <p:cNvPr id="6" name="Text 4"/>
          <p:cNvSpPr txBox="1"/>
          <p:nvPr/>
        </p:nvSpPr>
        <p:spPr>
          <a:xfrm>
            <a:off x="2651760" y="1801368"/>
            <a:ext cx="2011680" cy="256032"/>
          </a:xfrm>
          <a:prstGeom prst="rect">
            <a:avLst/>
          </a:prstGeom>
          <a:noFill/>
          <a:ln/>
        </p:spPr>
        <p:txBody>
          <a:bodyPr wrap="square" lIns="0" tIns="0" rIns="0" bIns="0" rtlCol="0" anchor="t"/>
          <a:lstStyle/>
          <a:p>
            <a:pPr marL="0" indent="0">
              <a:buNone/>
            </a:pPr>
            <a:r>
              <a:rPr lang="en-US" sz="1200" dirty="0">
                <a:solidFill>
                  <a:srgbClr val="50636B"/>
                </a:solidFill>
                <a:latin typeface="Arial" pitchFamily="34" charset="0"/>
                <a:ea typeface="Arial" pitchFamily="34" charset="-122"/>
                <a:cs typeface="Arial" pitchFamily="34" charset="-120"/>
              </a:rPr>
              <a:t>SVM test Macro-F1</a:t>
            </a:r>
            <a:endParaRPr lang="en-US" sz="1200" dirty="0"/>
          </a:p>
        </p:txBody>
      </p:sp>
      <p:sp>
        <p:nvSpPr>
          <p:cNvPr id="7" name="Text 5"/>
          <p:cNvSpPr txBox="1"/>
          <p:nvPr/>
        </p:nvSpPr>
        <p:spPr>
          <a:xfrm>
            <a:off x="4754880" y="1234440"/>
            <a:ext cx="2011680" cy="548640"/>
          </a:xfrm>
          <a:prstGeom prst="rect">
            <a:avLst/>
          </a:prstGeom>
          <a:noFill/>
          <a:ln/>
        </p:spPr>
        <p:txBody>
          <a:bodyPr wrap="square" lIns="0" tIns="0" rIns="0" bIns="0" rtlCol="0" anchor="ctr"/>
          <a:lstStyle/>
          <a:p>
            <a:pPr marL="0" indent="0">
              <a:buNone/>
            </a:pPr>
            <a:r>
              <a:rPr lang="en-US" sz="3200" b="1" dirty="0">
                <a:solidFill>
                  <a:srgbClr val="117C83"/>
                </a:solidFill>
                <a:latin typeface="Arial" pitchFamily="34" charset="0"/>
                <a:ea typeface="Arial" pitchFamily="34" charset="-122"/>
                <a:cs typeface="Arial" pitchFamily="34" charset="-120"/>
              </a:rPr>
              <a:t>+2.45 pts</a:t>
            </a:r>
            <a:endParaRPr lang="en-US" sz="3200" dirty="0"/>
          </a:p>
        </p:txBody>
      </p:sp>
      <p:sp>
        <p:nvSpPr>
          <p:cNvPr id="8" name="Text 6"/>
          <p:cNvSpPr txBox="1"/>
          <p:nvPr/>
        </p:nvSpPr>
        <p:spPr>
          <a:xfrm>
            <a:off x="4754880" y="1801368"/>
            <a:ext cx="2011680" cy="256032"/>
          </a:xfrm>
          <a:prstGeom prst="rect">
            <a:avLst/>
          </a:prstGeom>
          <a:noFill/>
          <a:ln/>
        </p:spPr>
        <p:txBody>
          <a:bodyPr wrap="square" lIns="0" tIns="0" rIns="0" bIns="0" rtlCol="0" anchor="t"/>
          <a:lstStyle/>
          <a:p>
            <a:pPr marL="0" indent="0">
              <a:buNone/>
            </a:pPr>
            <a:r>
              <a:rPr lang="en-US" sz="1200" dirty="0">
                <a:solidFill>
                  <a:srgbClr val="50636B"/>
                </a:solidFill>
                <a:latin typeface="Arial" pitchFamily="34" charset="0"/>
                <a:ea typeface="Arial" pitchFamily="34" charset="-122"/>
                <a:cs typeface="Arial" pitchFamily="34" charset="-120"/>
              </a:rPr>
              <a:t>test Macro-F1 over CodeT5</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309360" cy="2304288"/>
        </p:xfrm>
        <a:graphic>
          <a:graphicData uri="http://schemas.openxmlformats.org/drawingml/2006/table">
            <a:tbl>
              <a:tblPr/>
              <a:tblGrid>
                <a:gridCol w="237744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tblGrid>
              <a:tr h="384048">
                <a:tc>
                  <a:txBody>
                    <a:bodyPr/>
                    <a:lstStyle/>
                    <a:p>
                      <a:pPr marL="0" indent="0" algn="l">
                        <a:buNone/>
                      </a:pPr>
                      <a:r>
                        <a:rPr lang="en-US" sz="1300" b="1" dirty="0">
                          <a:solidFill>
                            <a:srgbClr val="FFFFFF"/>
                          </a:solidFill>
                          <a:latin typeface="Arial" pitchFamily="34" charset="0"/>
                          <a:ea typeface="Arial" pitchFamily="34" charset="-122"/>
                          <a:cs typeface="Arial" pitchFamily="34" charset="-120"/>
                        </a:rPr>
                        <a:t>Model</a:t>
                      </a:r>
                      <a:endParaRPr lang="en-US" sz="1300" dirty="0">
                        <a:latin typeface="Arial" charset="0"/>
                        <a:ea typeface="Arial" charset="0"/>
                        <a:cs typeface="Arial" charset="0"/>
                      </a:endParaRPr>
                    </a:p>
                  </a:txBody>
                  <a:tcPr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152E38"/>
                    </a:solidFill>
                  </a:tcPr>
                </a:tc>
                <a:tc>
                  <a:txBody>
                    <a:bodyPr/>
                    <a:lstStyle/>
                    <a:p>
                      <a:pPr marL="0" indent="0" algn="ctr">
                        <a:buNone/>
                      </a:pPr>
                      <a:r>
                        <a:rPr lang="en-US" sz="1300" b="1" dirty="0">
                          <a:solidFill>
                            <a:srgbClr val="FFFFFF"/>
                          </a:solidFill>
                          <a:latin typeface="Arial" pitchFamily="34" charset="0"/>
                          <a:ea typeface="Arial" pitchFamily="34" charset="-122"/>
                          <a:cs typeface="Arial" pitchFamily="34" charset="-120"/>
                        </a:rPr>
                        <a:t>Accuracy</a:t>
                      </a:r>
                      <a:endParaRPr lang="en-US" sz="1300" dirty="0">
                        <a:latin typeface="Arial" charset="0"/>
                        <a:ea typeface="Arial" charset="0"/>
                        <a:cs typeface="Arial" charset="0"/>
                      </a:endParaRPr>
                    </a:p>
                  </a:txBody>
                  <a:tcPr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152E38"/>
                    </a:solidFill>
                  </a:tcPr>
                </a:tc>
                <a:tc>
                  <a:txBody>
                    <a:bodyPr/>
                    <a:lstStyle/>
                    <a:p>
                      <a:pPr marL="0" indent="0" algn="ctr">
                        <a:buNone/>
                      </a:pPr>
                      <a:r>
                        <a:rPr lang="en-US" sz="1300" b="1" dirty="0">
                          <a:solidFill>
                            <a:srgbClr val="FFFFFF"/>
                          </a:solidFill>
                          <a:latin typeface="Arial" pitchFamily="34" charset="0"/>
                          <a:ea typeface="Arial" pitchFamily="34" charset="-122"/>
                          <a:cs typeface="Arial" pitchFamily="34" charset="-120"/>
                        </a:rPr>
                        <a:t>Macro-F1</a:t>
                      </a:r>
                      <a:endParaRPr lang="en-US" sz="1300" dirty="0">
                        <a:latin typeface="Arial" charset="0"/>
                        <a:ea typeface="Arial" charset="0"/>
                        <a:cs typeface="Arial" charset="0"/>
                      </a:endParaRPr>
                    </a:p>
                  </a:txBody>
                  <a:tcPr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152E38"/>
                    </a:solidFill>
                  </a:tcPr>
                </a:tc>
                <a:tc>
                  <a:txBody>
                    <a:bodyPr/>
                    <a:lstStyle/>
                    <a:p>
                      <a:pPr marL="0" indent="0" algn="ctr">
                        <a:buNone/>
                      </a:pPr>
                      <a:r>
                        <a:rPr lang="en-US" sz="1300" b="1" dirty="0">
                          <a:solidFill>
                            <a:srgbClr val="FFFFFF"/>
                          </a:solidFill>
                          <a:latin typeface="Arial" pitchFamily="34" charset="0"/>
                          <a:ea typeface="Arial" pitchFamily="34" charset="-122"/>
                          <a:cs typeface="Arial" pitchFamily="34" charset="-120"/>
                        </a:rPr>
                        <a:t>Time (s)</a:t>
                      </a:r>
                      <a:endParaRPr lang="en-US" sz="1300" dirty="0">
                        <a:latin typeface="Arial" charset="0"/>
                        <a:ea typeface="Arial" charset="0"/>
                        <a:cs typeface="Arial" charset="0"/>
                      </a:endParaRPr>
                    </a:p>
                  </a:txBody>
                  <a:tcPr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152E38"/>
                    </a:solidFill>
                  </a:tcPr>
                </a:tc>
                <a:tc>
                  <a:txBody>
                    <a:bodyPr/>
                    <a:lstStyle/>
                    <a:p>
                      <a:pPr marL="0" indent="0" algn="ctr">
                        <a:buNone/>
                      </a:pPr>
                      <a:r>
                        <a:rPr lang="en-US" sz="1300" b="1" dirty="0">
                          <a:solidFill>
                            <a:srgbClr val="FFFFFF"/>
                          </a:solidFill>
                          <a:latin typeface="Arial" pitchFamily="34" charset="0"/>
                          <a:ea typeface="Arial" pitchFamily="34" charset="-122"/>
                          <a:cs typeface="Arial" pitchFamily="34" charset="-120"/>
                        </a:rPr>
                        <a:t>MB</a:t>
                      </a:r>
                      <a:endParaRPr lang="en-US" sz="1300" dirty="0">
                        <a:latin typeface="Arial" charset="0"/>
                        <a:ea typeface="Arial" charset="0"/>
                        <a:cs typeface="Arial" charset="0"/>
                      </a:endParaRPr>
                    </a:p>
                  </a:txBody>
                  <a:tcPr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152E38"/>
                    </a:solidFill>
                  </a:tcPr>
                </a:tc>
                <a:extLst>
                  <a:ext uri="{0D108BD9-81ED-4DB2-BD59-A6C34878D82A}">
                    <a16:rowId xmlns:a16="http://schemas.microsoft.com/office/drawing/2014/main" val="10000"/>
                  </a:ext>
                </a:extLst>
              </a:tr>
              <a:tr h="384048">
                <a:tc>
                  <a:txBody>
                    <a:bodyPr/>
                    <a:lstStyle/>
                    <a:p>
                      <a:pPr marL="0" indent="0" algn="l">
                        <a:buNone/>
                      </a:pPr>
                      <a:r>
                        <a:rPr lang="en-US" sz="1300" dirty="0">
                          <a:solidFill>
                            <a:srgbClr val="152E38"/>
                          </a:solidFill>
                          <a:latin typeface="Arial" pitchFamily="34" charset="0"/>
                          <a:ea typeface="Arial" pitchFamily="34" charset="-122"/>
                          <a:cs typeface="Arial" pitchFamily="34" charset="-120"/>
                        </a:rPr>
                        <a:t>Naive Bayes</a:t>
                      </a:r>
                      <a:endParaRPr lang="en-US" sz="1300" dirty="0">
                        <a:latin typeface="Arial" charset="0"/>
                        <a:ea typeface="Arial" charset="0"/>
                        <a:cs typeface="Arial" charset="0"/>
                      </a:endParaRPr>
                    </a:p>
                  </a:txBody>
                  <a:tcPr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52E38"/>
                          </a:solidFill>
                          <a:latin typeface="Arial" pitchFamily="34" charset="0"/>
                          <a:ea typeface="Arial" pitchFamily="34" charset="-122"/>
                          <a:cs typeface="Arial" pitchFamily="34" charset="-120"/>
                        </a:rPr>
                        <a:t>62.68%</a:t>
                      </a:r>
                      <a:endParaRPr lang="en-US" sz="1300" dirty="0">
                        <a:latin typeface="Arial" charset="0"/>
                        <a:ea typeface="Arial" charset="0"/>
                        <a:cs typeface="Arial" charset="0"/>
                      </a:endParaRPr>
                    </a:p>
                  </a:txBody>
                  <a:tcPr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52E38"/>
                          </a:solidFill>
                          <a:latin typeface="Arial" pitchFamily="34" charset="0"/>
                          <a:ea typeface="Arial" pitchFamily="34" charset="-122"/>
                          <a:cs typeface="Arial" pitchFamily="34" charset="-120"/>
                        </a:rPr>
                        <a:t>0.6278</a:t>
                      </a:r>
                      <a:endParaRPr lang="en-US" sz="1300" dirty="0">
                        <a:latin typeface="Arial" charset="0"/>
                        <a:ea typeface="Arial" charset="0"/>
                        <a:cs typeface="Arial" charset="0"/>
                      </a:endParaRPr>
                    </a:p>
                  </a:txBody>
                  <a:tcPr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52E38"/>
                          </a:solidFill>
                          <a:latin typeface="Arial" pitchFamily="34" charset="0"/>
                          <a:ea typeface="Arial" pitchFamily="34" charset="-122"/>
                          <a:cs typeface="Arial" pitchFamily="34" charset="-120"/>
                        </a:rPr>
                        <a:t>0.12</a:t>
                      </a:r>
                      <a:endParaRPr lang="en-US" sz="1300" dirty="0">
                        <a:latin typeface="Arial" charset="0"/>
                        <a:ea typeface="Arial" charset="0"/>
                        <a:cs typeface="Arial" charset="0"/>
                      </a:endParaRPr>
                    </a:p>
                  </a:txBody>
                  <a:tcPr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52E38"/>
                          </a:solidFill>
                          <a:latin typeface="Arial" pitchFamily="34" charset="0"/>
                          <a:ea typeface="Arial" pitchFamily="34" charset="-122"/>
                          <a:cs typeface="Arial" pitchFamily="34" charset="-120"/>
                        </a:rPr>
                        <a:t>2.898</a:t>
                      </a:r>
                      <a:endParaRPr lang="en-US" sz="1300" dirty="0">
                        <a:latin typeface="Arial" charset="0"/>
                        <a:ea typeface="Arial" charset="0"/>
                        <a:cs typeface="Arial" charset="0"/>
                      </a:endParaRPr>
                    </a:p>
                  </a:txBody>
                  <a:tcPr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300" dirty="0">
                          <a:solidFill>
                            <a:srgbClr val="152E38"/>
                          </a:solidFill>
                          <a:latin typeface="Arial" pitchFamily="34" charset="0"/>
                          <a:ea typeface="Arial" pitchFamily="34" charset="-122"/>
                          <a:cs typeface="Arial" pitchFamily="34" charset="-120"/>
                        </a:rPr>
                        <a:t>Logistic Regression</a:t>
                      </a:r>
                      <a:endParaRPr lang="en-US" sz="1300" dirty="0">
                        <a:latin typeface="Arial" charset="0"/>
                        <a:ea typeface="Arial" charset="0"/>
                        <a:cs typeface="Arial" charset="0"/>
                      </a:endParaRPr>
                    </a:p>
                  </a:txBody>
                  <a:tcPr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52E38"/>
                          </a:solidFill>
                          <a:latin typeface="Arial" pitchFamily="34" charset="0"/>
                          <a:ea typeface="Arial" pitchFamily="34" charset="-122"/>
                          <a:cs typeface="Arial" pitchFamily="34" charset="-120"/>
                        </a:rPr>
                        <a:t>76.89%</a:t>
                      </a:r>
                      <a:endParaRPr lang="en-US" sz="1300" dirty="0">
                        <a:latin typeface="Arial" charset="0"/>
                        <a:ea typeface="Arial" charset="0"/>
                        <a:cs typeface="Arial" charset="0"/>
                      </a:endParaRPr>
                    </a:p>
                  </a:txBody>
                  <a:tcPr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52E38"/>
                          </a:solidFill>
                          <a:latin typeface="Arial" pitchFamily="34" charset="0"/>
                          <a:ea typeface="Arial" pitchFamily="34" charset="-122"/>
                          <a:cs typeface="Arial" pitchFamily="34" charset="-120"/>
                        </a:rPr>
                        <a:t>0.7704</a:t>
                      </a:r>
                      <a:endParaRPr lang="en-US" sz="1300" dirty="0">
                        <a:latin typeface="Arial" charset="0"/>
                        <a:ea typeface="Arial" charset="0"/>
                        <a:cs typeface="Arial" charset="0"/>
                      </a:endParaRPr>
                    </a:p>
                  </a:txBody>
                  <a:tcPr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52E38"/>
                          </a:solidFill>
                          <a:latin typeface="Arial" pitchFamily="34" charset="0"/>
                          <a:ea typeface="Arial" pitchFamily="34" charset="-122"/>
                          <a:cs typeface="Arial" pitchFamily="34" charset="-120"/>
                        </a:rPr>
                        <a:t>15.17</a:t>
                      </a:r>
                      <a:endParaRPr lang="en-US" sz="1300" dirty="0">
                        <a:latin typeface="Arial" charset="0"/>
                        <a:ea typeface="Arial" charset="0"/>
                        <a:cs typeface="Arial" charset="0"/>
                      </a:endParaRPr>
                    </a:p>
                  </a:txBody>
                  <a:tcPr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52E38"/>
                          </a:solidFill>
                          <a:latin typeface="Arial" pitchFamily="34" charset="0"/>
                          <a:ea typeface="Arial" pitchFamily="34" charset="-122"/>
                          <a:cs typeface="Arial" pitchFamily="34" charset="-120"/>
                        </a:rPr>
                        <a:t>0.863</a:t>
                      </a:r>
                      <a:endParaRPr lang="en-US" sz="1300" dirty="0">
                        <a:latin typeface="Arial" charset="0"/>
                        <a:ea typeface="Arial" charset="0"/>
                        <a:cs typeface="Arial" charset="0"/>
                      </a:endParaRPr>
                    </a:p>
                  </a:txBody>
                  <a:tcPr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algn="l">
                        <a:buNone/>
                      </a:pPr>
                      <a:r>
                        <a:rPr lang="en-US" sz="1300" b="1" dirty="0">
                          <a:solidFill>
                            <a:srgbClr val="152E38"/>
                          </a:solidFill>
                          <a:latin typeface="Arial" pitchFamily="34" charset="0"/>
                          <a:ea typeface="Arial" pitchFamily="34" charset="-122"/>
                          <a:cs typeface="Arial" pitchFamily="34" charset="-120"/>
                        </a:rPr>
                        <a:t>Linear SVM</a:t>
                      </a:r>
                      <a:endParaRPr lang="en-US" sz="1300" dirty="0">
                        <a:latin typeface="Arial" charset="0"/>
                        <a:ea typeface="Arial" charset="0"/>
                        <a:cs typeface="Arial" charset="0"/>
                      </a:endParaRPr>
                    </a:p>
                  </a:txBody>
                  <a:tcPr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E0F0ED"/>
                    </a:solidFill>
                  </a:tcPr>
                </a:tc>
                <a:tc>
                  <a:txBody>
                    <a:bodyPr/>
                    <a:lstStyle/>
                    <a:p>
                      <a:pPr marL="0" indent="0" algn="ctr">
                        <a:buNone/>
                      </a:pPr>
                      <a:r>
                        <a:rPr lang="en-US" sz="1300" b="1" dirty="0">
                          <a:solidFill>
                            <a:srgbClr val="152E38"/>
                          </a:solidFill>
                          <a:latin typeface="Arial" pitchFamily="34" charset="0"/>
                          <a:ea typeface="Arial" pitchFamily="34" charset="-122"/>
                          <a:cs typeface="Arial" pitchFamily="34" charset="-120"/>
                        </a:rPr>
                        <a:t>79.75%</a:t>
                      </a:r>
                      <a:endParaRPr lang="en-US" sz="1300" dirty="0">
                        <a:latin typeface="Arial" charset="0"/>
                        <a:ea typeface="Arial" charset="0"/>
                        <a:cs typeface="Arial" charset="0"/>
                      </a:endParaRPr>
                    </a:p>
                  </a:txBody>
                  <a:tcPr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E0F0ED"/>
                    </a:solidFill>
                  </a:tcPr>
                </a:tc>
                <a:tc>
                  <a:txBody>
                    <a:bodyPr/>
                    <a:lstStyle/>
                    <a:p>
                      <a:pPr marL="0" indent="0" algn="ctr">
                        <a:buNone/>
                      </a:pPr>
                      <a:r>
                        <a:rPr lang="en-US" sz="1300" b="1" dirty="0">
                          <a:solidFill>
                            <a:srgbClr val="152E38"/>
                          </a:solidFill>
                          <a:latin typeface="Arial" pitchFamily="34" charset="0"/>
                          <a:ea typeface="Arial" pitchFamily="34" charset="-122"/>
                          <a:cs typeface="Arial" pitchFamily="34" charset="-120"/>
                        </a:rPr>
                        <a:t>0.7970</a:t>
                      </a:r>
                      <a:endParaRPr lang="en-US" sz="1300" dirty="0">
                        <a:latin typeface="Arial" charset="0"/>
                        <a:ea typeface="Arial" charset="0"/>
                        <a:cs typeface="Arial" charset="0"/>
                      </a:endParaRPr>
                    </a:p>
                  </a:txBody>
                  <a:tcPr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E0F0ED"/>
                    </a:solidFill>
                  </a:tcPr>
                </a:tc>
                <a:tc>
                  <a:txBody>
                    <a:bodyPr/>
                    <a:lstStyle/>
                    <a:p>
                      <a:pPr marL="0" indent="0" algn="ctr">
                        <a:buNone/>
                      </a:pPr>
                      <a:r>
                        <a:rPr lang="en-US" sz="1300" b="1" dirty="0">
                          <a:solidFill>
                            <a:srgbClr val="152E38"/>
                          </a:solidFill>
                          <a:latin typeface="Arial" pitchFamily="34" charset="0"/>
                          <a:ea typeface="Arial" pitchFamily="34" charset="-122"/>
                          <a:cs typeface="Arial" pitchFamily="34" charset="-120"/>
                        </a:rPr>
                        <a:t>5.36</a:t>
                      </a:r>
                      <a:endParaRPr lang="en-US" sz="1300" dirty="0">
                        <a:latin typeface="Arial" charset="0"/>
                        <a:ea typeface="Arial" charset="0"/>
                        <a:cs typeface="Arial" charset="0"/>
                      </a:endParaRPr>
                    </a:p>
                  </a:txBody>
                  <a:tcPr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E0F0ED"/>
                    </a:solidFill>
                  </a:tcPr>
                </a:tc>
                <a:tc>
                  <a:txBody>
                    <a:bodyPr/>
                    <a:lstStyle/>
                    <a:p>
                      <a:pPr marL="0" indent="0" algn="ctr">
                        <a:buNone/>
                      </a:pPr>
                      <a:r>
                        <a:rPr lang="en-US" sz="1300" b="1" dirty="0">
                          <a:solidFill>
                            <a:srgbClr val="152E38"/>
                          </a:solidFill>
                          <a:latin typeface="Arial" pitchFamily="34" charset="0"/>
                          <a:ea typeface="Arial" pitchFamily="34" charset="-122"/>
                          <a:cs typeface="Arial" pitchFamily="34" charset="-120"/>
                        </a:rPr>
                        <a:t>1.767</a:t>
                      </a:r>
                      <a:endParaRPr lang="en-US" sz="1300" dirty="0">
                        <a:latin typeface="Arial" charset="0"/>
                        <a:ea typeface="Arial" charset="0"/>
                        <a:cs typeface="Arial" charset="0"/>
                      </a:endParaRPr>
                    </a:p>
                  </a:txBody>
                  <a:tcPr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E0F0ED"/>
                    </a:solidFill>
                  </a:tcPr>
                </a:tc>
                <a:extLst>
                  <a:ext uri="{0D108BD9-81ED-4DB2-BD59-A6C34878D82A}">
                    <a16:rowId xmlns:a16="http://schemas.microsoft.com/office/drawing/2014/main" val="10003"/>
                  </a:ext>
                </a:extLst>
              </a:tr>
              <a:tr h="384048">
                <a:tc>
                  <a:txBody>
                    <a:bodyPr/>
                    <a:lstStyle/>
                    <a:p>
                      <a:pPr marL="0" indent="0" algn="l">
                        <a:buNone/>
                      </a:pPr>
                      <a:r>
                        <a:rPr lang="en-US" sz="1300" dirty="0">
                          <a:solidFill>
                            <a:srgbClr val="152E38"/>
                          </a:solidFill>
                          <a:latin typeface="Arial" pitchFamily="34" charset="0"/>
                          <a:ea typeface="Arial" pitchFamily="34" charset="-122"/>
                          <a:cs typeface="Arial" pitchFamily="34" charset="-120"/>
                        </a:rPr>
                        <a:t>Random Forest</a:t>
                      </a:r>
                      <a:endParaRPr lang="en-US" sz="1300" dirty="0">
                        <a:latin typeface="Arial" charset="0"/>
                        <a:ea typeface="Arial" charset="0"/>
                        <a:cs typeface="Arial" charset="0"/>
                      </a:endParaRPr>
                    </a:p>
                  </a:txBody>
                  <a:tcPr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52E38"/>
                          </a:solidFill>
                          <a:latin typeface="Arial" pitchFamily="34" charset="0"/>
                          <a:ea typeface="Arial" pitchFamily="34" charset="-122"/>
                          <a:cs typeface="Arial" pitchFamily="34" charset="-120"/>
                        </a:rPr>
                        <a:t>69.01%</a:t>
                      </a:r>
                      <a:endParaRPr lang="en-US" sz="1300" dirty="0">
                        <a:latin typeface="Arial" charset="0"/>
                        <a:ea typeface="Arial" charset="0"/>
                        <a:cs typeface="Arial" charset="0"/>
                      </a:endParaRPr>
                    </a:p>
                  </a:txBody>
                  <a:tcPr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52E38"/>
                          </a:solidFill>
                          <a:latin typeface="Arial" pitchFamily="34" charset="0"/>
                          <a:ea typeface="Arial" pitchFamily="34" charset="-122"/>
                          <a:cs typeface="Arial" pitchFamily="34" charset="-120"/>
                        </a:rPr>
                        <a:t>0.6796</a:t>
                      </a:r>
                      <a:endParaRPr lang="en-US" sz="1300" dirty="0">
                        <a:latin typeface="Arial" charset="0"/>
                        <a:ea typeface="Arial" charset="0"/>
                        <a:cs typeface="Arial" charset="0"/>
                      </a:endParaRPr>
                    </a:p>
                  </a:txBody>
                  <a:tcPr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52E38"/>
                          </a:solidFill>
                          <a:latin typeface="Arial" pitchFamily="34" charset="0"/>
                          <a:ea typeface="Arial" pitchFamily="34" charset="-122"/>
                          <a:cs typeface="Arial" pitchFamily="34" charset="-120"/>
                        </a:rPr>
                        <a:t>20.11</a:t>
                      </a:r>
                      <a:endParaRPr lang="en-US" sz="1300" dirty="0">
                        <a:latin typeface="Arial" charset="0"/>
                        <a:ea typeface="Arial" charset="0"/>
                        <a:cs typeface="Arial" charset="0"/>
                      </a:endParaRPr>
                    </a:p>
                  </a:txBody>
                  <a:tcPr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52E38"/>
                          </a:solidFill>
                          <a:latin typeface="Arial" pitchFamily="34" charset="0"/>
                          <a:ea typeface="Arial" pitchFamily="34" charset="-122"/>
                          <a:cs typeface="Arial" pitchFamily="34" charset="-120"/>
                        </a:rPr>
                        <a:t>9.935</a:t>
                      </a:r>
                      <a:endParaRPr lang="en-US" sz="1300" dirty="0">
                        <a:latin typeface="Arial" charset="0"/>
                        <a:ea typeface="Arial" charset="0"/>
                        <a:cs typeface="Arial" charset="0"/>
                      </a:endParaRPr>
                    </a:p>
                  </a:txBody>
                  <a:tcPr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algn="l">
                        <a:buNone/>
                      </a:pPr>
                      <a:r>
                        <a:rPr lang="en-US" sz="1300" dirty="0">
                          <a:solidFill>
                            <a:srgbClr val="152E38"/>
                          </a:solidFill>
                          <a:latin typeface="Arial" pitchFamily="34" charset="0"/>
                          <a:ea typeface="Arial" pitchFamily="34" charset="-122"/>
                          <a:cs typeface="Arial" pitchFamily="34" charset="-120"/>
                        </a:rPr>
                        <a:t>CodeT5 encoder</a:t>
                      </a:r>
                      <a:endParaRPr lang="en-US" sz="1300" dirty="0">
                        <a:latin typeface="Arial" charset="0"/>
                        <a:ea typeface="Arial" charset="0"/>
                        <a:cs typeface="Arial" charset="0"/>
                      </a:endParaRPr>
                    </a:p>
                  </a:txBody>
                  <a:tcPr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52E38"/>
                          </a:solidFill>
                          <a:latin typeface="Arial" pitchFamily="34" charset="0"/>
                          <a:ea typeface="Arial" pitchFamily="34" charset="-122"/>
                          <a:cs typeface="Arial" pitchFamily="34" charset="-120"/>
                        </a:rPr>
                        <a:t>76.96%</a:t>
                      </a:r>
                      <a:endParaRPr lang="en-US" sz="1300" dirty="0">
                        <a:latin typeface="Arial" charset="0"/>
                        <a:ea typeface="Arial" charset="0"/>
                        <a:cs typeface="Arial" charset="0"/>
                      </a:endParaRPr>
                    </a:p>
                  </a:txBody>
                  <a:tcPr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52E38"/>
                          </a:solidFill>
                          <a:latin typeface="Arial" pitchFamily="34" charset="0"/>
                          <a:ea typeface="Arial" pitchFamily="34" charset="-122"/>
                          <a:cs typeface="Arial" pitchFamily="34" charset="-120"/>
                        </a:rPr>
                        <a:t>0.7725</a:t>
                      </a:r>
                      <a:endParaRPr lang="en-US" sz="1300" dirty="0">
                        <a:latin typeface="Arial" charset="0"/>
                        <a:ea typeface="Arial" charset="0"/>
                        <a:cs typeface="Arial" charset="0"/>
                      </a:endParaRPr>
                    </a:p>
                  </a:txBody>
                  <a:tcPr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52E38"/>
                          </a:solidFill>
                          <a:latin typeface="Arial" pitchFamily="34" charset="0"/>
                          <a:ea typeface="Arial" pitchFamily="34" charset="-122"/>
                          <a:cs typeface="Arial" pitchFamily="34" charset="-120"/>
                        </a:rPr>
                        <a:t>292*</a:t>
                      </a:r>
                      <a:endParaRPr lang="en-US" sz="1300" dirty="0">
                        <a:latin typeface="Arial" charset="0"/>
                        <a:ea typeface="Arial" charset="0"/>
                        <a:cs typeface="Arial" charset="0"/>
                      </a:endParaRPr>
                    </a:p>
                  </a:txBody>
                  <a:tcPr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52E38"/>
                          </a:solidFill>
                          <a:latin typeface="Arial" pitchFamily="34" charset="0"/>
                          <a:ea typeface="Arial" pitchFamily="34" charset="-122"/>
                          <a:cs typeface="Arial" pitchFamily="34" charset="-120"/>
                        </a:rPr>
                        <a:t>438.5*</a:t>
                      </a:r>
                      <a:endParaRPr lang="en-US" sz="1300" dirty="0">
                        <a:latin typeface="Arial" charset="0"/>
                        <a:ea typeface="Arial" charset="0"/>
                        <a:cs typeface="Arial" charset="0"/>
                      </a:endParaRPr>
                    </a:p>
                  </a:txBody>
                  <a:tcPr marT="0" marB="0" anchor="ctr">
                    <a:lnL w="9525" cap="flat" cmpd="sng" algn="ctr">
                      <a:solidFill>
                        <a:srgbClr val="D6E1E4"/>
                      </a:solidFill>
                      <a:prstDash val="solid"/>
                      <a:round/>
                      <a:headEnd type="none" w="med" len="med"/>
                      <a:tailEnd type="none" w="med" len="med"/>
                    </a:lnL>
                    <a:lnR w="9525" cap="flat" cmpd="sng" algn="ctr">
                      <a:solidFill>
                        <a:srgbClr val="D6E1E4"/>
                      </a:solidFill>
                      <a:prstDash val="solid"/>
                      <a:round/>
                      <a:headEnd type="none" w="med" len="med"/>
                      <a:tailEnd type="none" w="med" len="med"/>
                    </a:lnR>
                    <a:lnT w="9525" cap="flat" cmpd="sng" algn="ctr">
                      <a:solidFill>
                        <a:srgbClr val="D6E1E4"/>
                      </a:solidFill>
                      <a:prstDash val="solid"/>
                      <a:round/>
                      <a:headEnd type="none" w="med" len="med"/>
                      <a:tailEnd type="none" w="med" len="med"/>
                    </a:lnT>
                    <a:lnB w="9525" cap="flat" cmpd="sng" algn="ctr">
                      <a:solidFill>
                        <a:srgbClr val="D6E1E4"/>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0" name="Text 7"/>
          <p:cNvSpPr txBox="1"/>
          <p:nvPr/>
        </p:nvSpPr>
        <p:spPr>
          <a:xfrm>
            <a:off x="548640" y="4846320"/>
            <a:ext cx="6309360" cy="274320"/>
          </a:xfrm>
          <a:prstGeom prst="rect">
            <a:avLst/>
          </a:prstGeom>
          <a:noFill/>
          <a:ln/>
        </p:spPr>
        <p:txBody>
          <a:bodyPr wrap="square" lIns="0" tIns="0" rIns="0" bIns="0" rtlCol="0" anchor="t"/>
          <a:lstStyle/>
          <a:p>
            <a:pPr marL="0" indent="0">
              <a:buNone/>
            </a:pPr>
            <a:r>
              <a:rPr lang="en-US" sz="1400" b="1" dirty="0">
                <a:solidFill>
                  <a:srgbClr val="117C83"/>
                </a:solidFill>
                <a:latin typeface="Arial" pitchFamily="34" charset="0"/>
                <a:ea typeface="Arial" pitchFamily="34" charset="-122"/>
                <a:cs typeface="Arial" pitchFamily="34" charset="-120"/>
              </a:rPr>
              <a:t>Same 3,872 test programs. SVM validation F1: 0.8062.</a:t>
            </a:r>
            <a:endParaRPr lang="en-US" sz="1400" dirty="0"/>
          </a:p>
        </p:txBody>
      </p:sp>
      <p:sp>
        <p:nvSpPr>
          <p:cNvPr id="11" name="Text 8"/>
          <p:cNvSpPr txBox="1"/>
          <p:nvPr/>
        </p:nvSpPr>
        <p:spPr>
          <a:xfrm>
            <a:off x="548640" y="5193792"/>
            <a:ext cx="6309360" cy="274320"/>
          </a:xfrm>
          <a:prstGeom prst="rect">
            <a:avLst/>
          </a:prstGeom>
          <a:noFill/>
          <a:ln/>
        </p:spPr>
        <p:txBody>
          <a:bodyPr wrap="square" lIns="0" tIns="0" rIns="0" bIns="0" rtlCol="0" anchor="t"/>
          <a:lstStyle/>
          <a:p>
            <a:pPr marL="0" indent="0">
              <a:buNone/>
            </a:pPr>
            <a:r>
              <a:rPr lang="en-US" sz="1300" dirty="0">
                <a:solidFill>
                  <a:srgbClr val="152E38"/>
                </a:solidFill>
                <a:latin typeface="Arial" pitchFamily="34" charset="0"/>
                <a:ea typeface="Arial" pitchFamily="34" charset="-122"/>
                <a:cs typeface="Arial" pitchFamily="34" charset="-120"/>
              </a:rPr>
              <a:t>Macro-F1 averages five class F1 scores equally.</a:t>
            </a:r>
            <a:endParaRPr lang="en-US" sz="1300" dirty="0"/>
          </a:p>
        </p:txBody>
      </p:sp>
      <p:sp>
        <p:nvSpPr>
          <p:cNvPr id="12" name="Text 9"/>
          <p:cNvSpPr txBox="1"/>
          <p:nvPr/>
        </p:nvSpPr>
        <p:spPr>
          <a:xfrm>
            <a:off x="548640" y="6035040"/>
            <a:ext cx="6309360" cy="274320"/>
          </a:xfrm>
          <a:prstGeom prst="rect">
            <a:avLst/>
          </a:prstGeom>
          <a:noFill/>
          <a:ln/>
        </p:spPr>
        <p:txBody>
          <a:bodyPr wrap="square" lIns="0" tIns="0" rIns="0" bIns="0" rtlCol="0" anchor="t"/>
          <a:lstStyle/>
          <a:p>
            <a:pPr marL="0" indent="0">
              <a:buNone/>
            </a:pPr>
            <a:r>
              <a:rPr lang="en-US" sz="1050" dirty="0">
                <a:solidFill>
                  <a:srgbClr val="50636B"/>
                </a:solidFill>
                <a:latin typeface="Arial" pitchFamily="34" charset="0"/>
                <a:ea typeface="Arial" pitchFamily="34" charset="-122"/>
                <a:cs typeface="Arial" pitchFamily="34" charset="-120"/>
              </a:rPr>
              <a:t>*CodeT5: GPU wall time and raw weights. Others: CPU fit time and compressed classifiers.</a:t>
            </a:r>
            <a:endParaRPr lang="en-US" sz="1050" dirty="0"/>
          </a:p>
        </p:txBody>
      </p:sp>
      <p:sp>
        <p:nvSpPr>
          <p:cNvPr id="13" name="Text 10"/>
          <p:cNvSpPr txBox="1"/>
          <p:nvPr/>
        </p:nvSpPr>
        <p:spPr>
          <a:xfrm>
            <a:off x="7223760" y="1280160"/>
            <a:ext cx="4419295" cy="274320"/>
          </a:xfrm>
          <a:prstGeom prst="rect">
            <a:avLst/>
          </a:prstGeom>
          <a:noFill/>
          <a:ln/>
        </p:spPr>
        <p:txBody>
          <a:bodyPr wrap="square" lIns="0" tIns="0" rIns="0" bIns="0" rtlCol="0" anchor="t"/>
          <a:lstStyle/>
          <a:p>
            <a:pPr marL="0" indent="0">
              <a:buNone/>
            </a:pPr>
            <a:r>
              <a:rPr lang="en-US" sz="1100" b="1" kern="0" spc="200" dirty="0">
                <a:solidFill>
                  <a:srgbClr val="117C83"/>
                </a:solidFill>
                <a:latin typeface="Arial" pitchFamily="34" charset="0"/>
                <a:ea typeface="Arial" pitchFamily="34" charset="-122"/>
                <a:cs typeface="Arial" pitchFamily="34" charset="-120"/>
              </a:rPr>
              <a:t>SVM TEST CONFUSION MATRIX</a:t>
            </a:r>
            <a:endParaRPr lang="en-US" sz="11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7223760" y="1627632"/>
          <a:ext cx="4416552" cy="3017520"/>
        </p:xfrm>
        <a:graphic>
          <a:graphicData uri="http://schemas.openxmlformats.org/drawingml/2006/table">
            <a:tbl>
              <a:tblPr/>
              <a:tblGrid>
                <a:gridCol w="987552">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685800">
                  <a:extLst>
                    <a:ext uri="{9D8B030D-6E8A-4147-A177-3AD203B41FA5}">
                      <a16:colId xmlns:a16="http://schemas.microsoft.com/office/drawing/2014/main" val="20004"/>
                    </a:ext>
                  </a:extLst>
                </a:gridCol>
                <a:gridCol w="685800">
                  <a:extLst>
                    <a:ext uri="{9D8B030D-6E8A-4147-A177-3AD203B41FA5}">
                      <a16:colId xmlns:a16="http://schemas.microsoft.com/office/drawing/2014/main" val="20005"/>
                    </a:ext>
                  </a:extLst>
                </a:gridCol>
              </a:tblGrid>
              <a:tr h="365760">
                <a:tc>
                  <a:txBody>
                    <a:bodyPr/>
                    <a:lstStyle/>
                    <a:p>
                      <a:pPr marL="0" indent="0" algn="ctr">
                        <a:buNone/>
                      </a:pPr>
                      <a:r>
                        <a:rPr lang="en-US" sz="850" dirty="0">
                          <a:solidFill>
                            <a:srgbClr val="50636B"/>
                          </a:solidFill>
                          <a:latin typeface="Arial" pitchFamily="34" charset="0"/>
                          <a:ea typeface="Arial" pitchFamily="34" charset="-122"/>
                          <a:cs typeface="Arial" pitchFamily="34" charset="-120"/>
                        </a:rPr>
                        <a:t>actual ↓</a:t>
                      </a:r>
                      <a:endParaRPr lang="en-US" sz="850" dirty="0">
                        <a:latin typeface="Arial" charset="0"/>
                        <a:ea typeface="Arial" charset="0"/>
                        <a:cs typeface="Arial" charset="0"/>
                      </a:endParaRPr>
                    </a:p>
                    <a:p>
                      <a:pPr marL="0" indent="0" algn="ctr">
                        <a:buNone/>
                      </a:pPr>
                      <a:r>
                        <a:rPr lang="en-US" sz="850" dirty="0">
                          <a:solidFill>
                            <a:srgbClr val="50636B"/>
                          </a:solidFill>
                          <a:latin typeface="Arial" pitchFamily="34" charset="0"/>
                          <a:ea typeface="Arial" pitchFamily="34" charset="-122"/>
                          <a:cs typeface="Arial" pitchFamily="34" charset="-120"/>
                        </a:rPr>
                        <a:t>predicted →</a:t>
                      </a:r>
                      <a:endParaRPr lang="en-US" sz="85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marL="0" indent="0" algn="ctr">
                        <a:buNone/>
                      </a:pPr>
                      <a:r>
                        <a:rPr lang="en-US" sz="1050" b="1" dirty="0">
                          <a:solidFill>
                            <a:srgbClr val="152E38"/>
                          </a:solidFill>
                          <a:latin typeface="Arial" pitchFamily="34" charset="0"/>
                          <a:ea typeface="Arial" pitchFamily="34" charset="-122"/>
                          <a:cs typeface="Arial" pitchFamily="34" charset="-120"/>
                        </a:rPr>
                        <a:t>Claude</a:t>
                      </a:r>
                      <a:endParaRPr lang="en-US" sz="105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marL="0" indent="0" algn="ctr">
                        <a:buNone/>
                      </a:pPr>
                      <a:r>
                        <a:rPr lang="en-US" sz="1050" b="1" dirty="0">
                          <a:solidFill>
                            <a:srgbClr val="152E38"/>
                          </a:solidFill>
                          <a:latin typeface="Arial" pitchFamily="34" charset="0"/>
                          <a:ea typeface="Arial" pitchFamily="34" charset="-122"/>
                          <a:cs typeface="Arial" pitchFamily="34" charset="-120"/>
                        </a:rPr>
                        <a:t>DeepSeek</a:t>
                      </a:r>
                      <a:endParaRPr lang="en-US" sz="105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marL="0" indent="0" algn="ctr">
                        <a:buNone/>
                      </a:pPr>
                      <a:r>
                        <a:rPr lang="en-US" sz="1050" b="1" dirty="0">
                          <a:solidFill>
                            <a:srgbClr val="152E38"/>
                          </a:solidFill>
                          <a:latin typeface="Arial" pitchFamily="34" charset="0"/>
                          <a:ea typeface="Arial" pitchFamily="34" charset="-122"/>
                          <a:cs typeface="Arial" pitchFamily="34" charset="-120"/>
                        </a:rPr>
                        <a:t>Gemini</a:t>
                      </a:r>
                      <a:endParaRPr lang="en-US" sz="105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marL="0" indent="0" algn="ctr">
                        <a:buNone/>
                      </a:pPr>
                      <a:r>
                        <a:rPr lang="en-US" sz="1050" b="1" dirty="0">
                          <a:solidFill>
                            <a:srgbClr val="152E38"/>
                          </a:solidFill>
                          <a:latin typeface="Arial" pitchFamily="34" charset="0"/>
                          <a:ea typeface="Arial" pitchFamily="34" charset="-122"/>
                          <a:cs typeface="Arial" pitchFamily="34" charset="-120"/>
                        </a:rPr>
                        <a:t>GPT-4.1</a:t>
                      </a:r>
                      <a:endParaRPr lang="en-US" sz="105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marL="0" indent="0" algn="ctr">
                        <a:buNone/>
                      </a:pPr>
                      <a:r>
                        <a:rPr lang="en-US" sz="1050" b="1" dirty="0">
                          <a:solidFill>
                            <a:srgbClr val="152E38"/>
                          </a:solidFill>
                          <a:latin typeface="Arial" pitchFamily="34" charset="0"/>
                          <a:ea typeface="Arial" pitchFamily="34" charset="-122"/>
                          <a:cs typeface="Arial" pitchFamily="34" charset="-120"/>
                        </a:rPr>
                        <a:t>Llama</a:t>
                      </a:r>
                      <a:endParaRPr lang="en-US" sz="105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0"/>
                  </a:ext>
                </a:extLst>
              </a:tr>
              <a:tr h="530352">
                <a:tc>
                  <a:txBody>
                    <a:bodyPr/>
                    <a:lstStyle/>
                    <a:p>
                      <a:pPr marL="0" indent="0" algn="r">
                        <a:buNone/>
                      </a:pPr>
                      <a:r>
                        <a:rPr lang="en-US" sz="1050" b="1" dirty="0">
                          <a:solidFill>
                            <a:srgbClr val="152E38"/>
                          </a:solidFill>
                          <a:latin typeface="Arial" pitchFamily="34" charset="0"/>
                          <a:ea typeface="Arial" pitchFamily="34" charset="-122"/>
                          <a:cs typeface="Arial" pitchFamily="34" charset="-120"/>
                        </a:rPr>
                        <a:t>Claude</a:t>
                      </a:r>
                      <a:endParaRPr lang="en-US" sz="1050" dirty="0">
                        <a:latin typeface="Arial" charset="0"/>
                        <a:ea typeface="Arial" charset="0"/>
                        <a:cs typeface="Arial" charset="0"/>
                      </a:endParaRPr>
                    </a:p>
                  </a:txBody>
                  <a:tcPr marL="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543</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41969C"/>
                    </a:solidFill>
                  </a:tcPr>
                </a:tc>
                <a:tc>
                  <a:txBody>
                    <a:bodyPr/>
                    <a:lstStyle/>
                    <a:p>
                      <a:pPr marL="0" indent="0" algn="ctr">
                        <a:buNone/>
                      </a:pPr>
                      <a:r>
                        <a:rPr lang="en-US" sz="1400" dirty="0">
                          <a:solidFill>
                            <a:srgbClr val="152E38"/>
                          </a:solidFill>
                          <a:latin typeface="Arial" pitchFamily="34" charset="0"/>
                          <a:ea typeface="Arial" pitchFamily="34" charset="-122"/>
                          <a:cs typeface="Arial" pitchFamily="34" charset="-120"/>
                        </a:rPr>
                        <a:t>83</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1DDDF"/>
                    </a:solidFill>
                  </a:tcPr>
                </a:tc>
                <a:tc>
                  <a:txBody>
                    <a:bodyPr/>
                    <a:lstStyle/>
                    <a:p>
                      <a:pPr marL="0" indent="0" algn="ctr">
                        <a:buNone/>
                      </a:pPr>
                      <a:r>
                        <a:rPr lang="en-US" sz="1400" dirty="0">
                          <a:solidFill>
                            <a:srgbClr val="152E38"/>
                          </a:solidFill>
                          <a:latin typeface="Arial" pitchFamily="34" charset="0"/>
                          <a:ea typeface="Arial" pitchFamily="34" charset="-122"/>
                          <a:cs typeface="Arial" pitchFamily="34" charset="-120"/>
                        </a:rPr>
                        <a:t>15</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9F3F3"/>
                    </a:solidFill>
                  </a:tcPr>
                </a:tc>
                <a:tc>
                  <a:txBody>
                    <a:bodyPr/>
                    <a:lstStyle/>
                    <a:p>
                      <a:pPr marL="0" indent="0" algn="ctr">
                        <a:buNone/>
                      </a:pPr>
                      <a:r>
                        <a:rPr lang="en-US" sz="1400" dirty="0">
                          <a:solidFill>
                            <a:srgbClr val="152E38"/>
                          </a:solidFill>
                          <a:latin typeface="Arial" pitchFamily="34" charset="0"/>
                          <a:ea typeface="Arial" pitchFamily="34" charset="-122"/>
                          <a:cs typeface="Arial" pitchFamily="34" charset="-120"/>
                        </a:rPr>
                        <a:t>44</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5E8E9"/>
                    </a:solidFill>
                  </a:tcPr>
                </a:tc>
                <a:tc>
                  <a:txBody>
                    <a:bodyPr/>
                    <a:lstStyle/>
                    <a:p>
                      <a:pPr marL="0" indent="0" algn="ctr">
                        <a:buNone/>
                      </a:pPr>
                      <a:r>
                        <a:rPr lang="en-US" sz="1400" dirty="0">
                          <a:solidFill>
                            <a:srgbClr val="152E38"/>
                          </a:solidFill>
                          <a:latin typeface="Arial" pitchFamily="34" charset="0"/>
                          <a:ea typeface="Arial" pitchFamily="34" charset="-122"/>
                          <a:cs typeface="Arial" pitchFamily="34" charset="-120"/>
                        </a:rPr>
                        <a:t>91</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BEDBDD"/>
                    </a:solidFill>
                  </a:tcPr>
                </a:tc>
                <a:extLst>
                  <a:ext uri="{0D108BD9-81ED-4DB2-BD59-A6C34878D82A}">
                    <a16:rowId xmlns:a16="http://schemas.microsoft.com/office/drawing/2014/main" val="10001"/>
                  </a:ext>
                </a:extLst>
              </a:tr>
              <a:tr h="530352">
                <a:tc>
                  <a:txBody>
                    <a:bodyPr/>
                    <a:lstStyle/>
                    <a:p>
                      <a:pPr marL="0" indent="0" algn="r">
                        <a:buNone/>
                      </a:pPr>
                      <a:r>
                        <a:rPr lang="en-US" sz="1050" b="1" dirty="0">
                          <a:solidFill>
                            <a:srgbClr val="152E38"/>
                          </a:solidFill>
                          <a:latin typeface="Arial" pitchFamily="34" charset="0"/>
                          <a:ea typeface="Arial" pitchFamily="34" charset="-122"/>
                          <a:cs typeface="Arial" pitchFamily="34" charset="-120"/>
                        </a:rPr>
                        <a:t>DeepSeek</a:t>
                      </a:r>
                      <a:endParaRPr lang="en-US" sz="1050" dirty="0">
                        <a:latin typeface="Arial" charset="0"/>
                        <a:ea typeface="Arial" charset="0"/>
                        <a:cs typeface="Arial" charset="0"/>
                      </a:endParaRPr>
                    </a:p>
                  </a:txBody>
                  <a:tcPr marL="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marL="0" indent="0" algn="ctr">
                        <a:buNone/>
                      </a:pPr>
                      <a:r>
                        <a:rPr lang="en-US" sz="1400" dirty="0">
                          <a:solidFill>
                            <a:srgbClr val="152E38"/>
                          </a:solidFill>
                          <a:latin typeface="Arial" pitchFamily="34" charset="0"/>
                          <a:ea typeface="Arial" pitchFamily="34" charset="-122"/>
                          <a:cs typeface="Arial" pitchFamily="34" charset="-120"/>
                        </a:rPr>
                        <a:t>39</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8E9EB"/>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462</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52A0A5"/>
                    </a:solidFill>
                  </a:tcPr>
                </a:tc>
                <a:tc>
                  <a:txBody>
                    <a:bodyPr/>
                    <a:lstStyle/>
                    <a:p>
                      <a:pPr marL="0" indent="0" algn="ctr">
                        <a:buNone/>
                      </a:pPr>
                      <a:r>
                        <a:rPr lang="en-US" sz="1400" dirty="0">
                          <a:solidFill>
                            <a:srgbClr val="152E38"/>
                          </a:solidFill>
                          <a:latin typeface="Arial" pitchFamily="34" charset="0"/>
                          <a:ea typeface="Arial" pitchFamily="34" charset="-122"/>
                          <a:cs typeface="Arial" pitchFamily="34" charset="-120"/>
                        </a:rPr>
                        <a:t>8</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0F7F7"/>
                    </a:solidFill>
                  </a:tcPr>
                </a:tc>
                <a:tc>
                  <a:txBody>
                    <a:bodyPr/>
                    <a:lstStyle/>
                    <a:p>
                      <a:pPr marL="0" indent="0" algn="ctr">
                        <a:buNone/>
                      </a:pPr>
                      <a:r>
                        <a:rPr lang="en-US" sz="1400" dirty="0">
                          <a:solidFill>
                            <a:srgbClr val="152E38"/>
                          </a:solidFill>
                          <a:latin typeface="Arial" pitchFamily="34" charset="0"/>
                          <a:ea typeface="Arial" pitchFamily="34" charset="-122"/>
                          <a:cs typeface="Arial" pitchFamily="34" charset="-120"/>
                        </a:rPr>
                        <a:t>63</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BE2E4"/>
                    </a:solidFill>
                  </a:tcPr>
                </a:tc>
                <a:tc>
                  <a:txBody>
                    <a:bodyPr/>
                    <a:lstStyle/>
                    <a:p>
                      <a:pPr marL="0" indent="0" algn="ctr">
                        <a:buNone/>
                      </a:pPr>
                      <a:r>
                        <a:rPr lang="en-US" sz="1400" b="1" dirty="0">
                          <a:solidFill>
                            <a:srgbClr val="152E38"/>
                          </a:solidFill>
                          <a:latin typeface="Arial" pitchFamily="34" charset="0"/>
                          <a:ea typeface="Arial" pitchFamily="34" charset="-122"/>
                          <a:cs typeface="Arial" pitchFamily="34" charset="-120"/>
                        </a:rPr>
                        <a:t>199</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A541"/>
                    </a:solidFill>
                  </a:tcPr>
                </a:tc>
                <a:extLst>
                  <a:ext uri="{0D108BD9-81ED-4DB2-BD59-A6C34878D82A}">
                    <a16:rowId xmlns:a16="http://schemas.microsoft.com/office/drawing/2014/main" val="10002"/>
                  </a:ext>
                </a:extLst>
              </a:tr>
              <a:tr h="530352">
                <a:tc>
                  <a:txBody>
                    <a:bodyPr/>
                    <a:lstStyle/>
                    <a:p>
                      <a:pPr marL="0" indent="0" algn="r">
                        <a:buNone/>
                      </a:pPr>
                      <a:r>
                        <a:rPr lang="en-US" sz="1050" b="1" dirty="0">
                          <a:solidFill>
                            <a:srgbClr val="152E38"/>
                          </a:solidFill>
                          <a:latin typeface="Arial" pitchFamily="34" charset="0"/>
                          <a:ea typeface="Arial" pitchFamily="34" charset="-122"/>
                          <a:cs typeface="Arial" pitchFamily="34" charset="-120"/>
                        </a:rPr>
                        <a:t>Gemini</a:t>
                      </a:r>
                      <a:endParaRPr lang="en-US" sz="1050" dirty="0">
                        <a:latin typeface="Arial" charset="0"/>
                        <a:ea typeface="Arial" charset="0"/>
                        <a:cs typeface="Arial" charset="0"/>
                      </a:endParaRPr>
                    </a:p>
                  </a:txBody>
                  <a:tcPr marL="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marL="0" indent="0" algn="ctr">
                        <a:buNone/>
                      </a:pPr>
                      <a:r>
                        <a:rPr lang="en-US" sz="1400" dirty="0">
                          <a:solidFill>
                            <a:srgbClr val="152E38"/>
                          </a:solidFill>
                          <a:latin typeface="Arial" pitchFamily="34" charset="0"/>
                          <a:ea typeface="Arial" pitchFamily="34" charset="-122"/>
                          <a:cs typeface="Arial" pitchFamily="34" charset="-120"/>
                        </a:rPr>
                        <a:t>4</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5F9FA"/>
                    </a:solidFill>
                  </a:tcPr>
                </a:tc>
                <a:tc>
                  <a:txBody>
                    <a:bodyPr/>
                    <a:lstStyle/>
                    <a:p>
                      <a:pPr marL="0" indent="0" algn="ctr">
                        <a:buNone/>
                      </a:pPr>
                      <a:r>
                        <a:rPr lang="en-US" sz="1400" dirty="0">
                          <a:solidFill>
                            <a:srgbClr val="152E38"/>
                          </a:solidFill>
                          <a:latin typeface="Arial" pitchFamily="34" charset="0"/>
                          <a:ea typeface="Arial" pitchFamily="34" charset="-122"/>
                          <a:cs typeface="Arial" pitchFamily="34" charset="-120"/>
                        </a:rPr>
                        <a:t>18</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6F1F2"/>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721</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D8389"/>
                    </a:solidFill>
                  </a:tcPr>
                </a:tc>
                <a:tc>
                  <a:txBody>
                    <a:bodyPr/>
                    <a:lstStyle/>
                    <a:p>
                      <a:pPr marL="0" indent="0" algn="ctr">
                        <a:buNone/>
                      </a:pPr>
                      <a:r>
                        <a:rPr lang="en-US" sz="1400" dirty="0">
                          <a:solidFill>
                            <a:srgbClr val="152E38"/>
                          </a:solidFill>
                          <a:latin typeface="Arial" pitchFamily="34" charset="0"/>
                          <a:ea typeface="Arial" pitchFamily="34" charset="-122"/>
                          <a:cs typeface="Arial" pitchFamily="34" charset="-120"/>
                        </a:rPr>
                        <a:t>3</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7FAFB"/>
                    </a:solidFill>
                  </a:tcPr>
                </a:tc>
                <a:tc>
                  <a:txBody>
                    <a:bodyPr/>
                    <a:lstStyle/>
                    <a:p>
                      <a:pPr marL="0" indent="0" algn="ctr">
                        <a:buNone/>
                      </a:pPr>
                      <a:r>
                        <a:rPr lang="en-US" sz="1400" dirty="0">
                          <a:solidFill>
                            <a:srgbClr val="152E38"/>
                          </a:solidFill>
                          <a:latin typeface="Arial" pitchFamily="34" charset="0"/>
                          <a:ea typeface="Arial" pitchFamily="34" charset="-122"/>
                          <a:cs typeface="Arial" pitchFamily="34" charset="-120"/>
                        </a:rPr>
                        <a:t>11</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DF5F5"/>
                    </a:solidFill>
                  </a:tcPr>
                </a:tc>
                <a:extLst>
                  <a:ext uri="{0D108BD9-81ED-4DB2-BD59-A6C34878D82A}">
                    <a16:rowId xmlns:a16="http://schemas.microsoft.com/office/drawing/2014/main" val="10003"/>
                  </a:ext>
                </a:extLst>
              </a:tr>
              <a:tr h="530352">
                <a:tc>
                  <a:txBody>
                    <a:bodyPr/>
                    <a:lstStyle/>
                    <a:p>
                      <a:pPr marL="0" indent="0" algn="r">
                        <a:buNone/>
                      </a:pPr>
                      <a:r>
                        <a:rPr lang="en-US" sz="1050" b="1" dirty="0">
                          <a:solidFill>
                            <a:srgbClr val="152E38"/>
                          </a:solidFill>
                          <a:latin typeface="Arial" pitchFamily="34" charset="0"/>
                          <a:ea typeface="Arial" pitchFamily="34" charset="-122"/>
                          <a:cs typeface="Arial" pitchFamily="34" charset="-120"/>
                        </a:rPr>
                        <a:t>GPT-4.1</a:t>
                      </a:r>
                      <a:endParaRPr lang="en-US" sz="1050" dirty="0">
                        <a:latin typeface="Arial" charset="0"/>
                        <a:ea typeface="Arial" charset="0"/>
                        <a:cs typeface="Arial" charset="0"/>
                      </a:endParaRPr>
                    </a:p>
                  </a:txBody>
                  <a:tcPr marL="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marL="0" indent="0" algn="ctr">
                        <a:buNone/>
                      </a:pPr>
                      <a:r>
                        <a:rPr lang="en-US" sz="1400" dirty="0">
                          <a:solidFill>
                            <a:srgbClr val="152E38"/>
                          </a:solidFill>
                          <a:latin typeface="Arial" pitchFamily="34" charset="0"/>
                          <a:ea typeface="Arial" pitchFamily="34" charset="-122"/>
                          <a:cs typeface="Arial" pitchFamily="34" charset="-120"/>
                        </a:rPr>
                        <a:t>4</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5F9FA"/>
                    </a:solidFill>
                  </a:tcPr>
                </a:tc>
                <a:tc>
                  <a:txBody>
                    <a:bodyPr/>
                    <a:lstStyle/>
                    <a:p>
                      <a:pPr marL="0" indent="0" algn="ctr">
                        <a:buNone/>
                      </a:pPr>
                      <a:r>
                        <a:rPr lang="en-US" sz="1400" dirty="0">
                          <a:solidFill>
                            <a:srgbClr val="152E38"/>
                          </a:solidFill>
                          <a:latin typeface="Arial" pitchFamily="34" charset="0"/>
                          <a:ea typeface="Arial" pitchFamily="34" charset="-122"/>
                          <a:cs typeface="Arial" pitchFamily="34" charset="-120"/>
                        </a:rPr>
                        <a:t>75</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5DFE1"/>
                    </a:solidFill>
                  </a:tcPr>
                </a:tc>
                <a:tc>
                  <a:txBody>
                    <a:bodyPr/>
                    <a:lstStyle/>
                    <a:p>
                      <a:pPr marL="0" indent="0" algn="ctr">
                        <a:buNone/>
                      </a:pPr>
                      <a:r>
                        <a:rPr lang="en-US" sz="1400" dirty="0">
                          <a:solidFill>
                            <a:srgbClr val="152E38"/>
                          </a:solidFill>
                          <a:latin typeface="Arial" pitchFamily="34" charset="0"/>
                          <a:ea typeface="Arial" pitchFamily="34" charset="-122"/>
                          <a:cs typeface="Arial" pitchFamily="34" charset="-120"/>
                        </a:rPr>
                        <a:t>4</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5F9F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673</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6888E"/>
                    </a:solidFill>
                  </a:tcPr>
                </a:tc>
                <a:tc>
                  <a:txBody>
                    <a:bodyPr/>
                    <a:lstStyle/>
                    <a:p>
                      <a:pPr marL="0" indent="0" algn="ctr">
                        <a:buNone/>
                      </a:pPr>
                      <a:r>
                        <a:rPr lang="en-US" sz="1400" dirty="0">
                          <a:solidFill>
                            <a:srgbClr val="152E38"/>
                          </a:solidFill>
                          <a:latin typeface="Arial" pitchFamily="34" charset="0"/>
                          <a:ea typeface="Arial" pitchFamily="34" charset="-122"/>
                          <a:cs typeface="Arial" pitchFamily="34" charset="-120"/>
                        </a:rPr>
                        <a:t>25</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1EEEF"/>
                    </a:solidFill>
                  </a:tcPr>
                </a:tc>
                <a:extLst>
                  <a:ext uri="{0D108BD9-81ED-4DB2-BD59-A6C34878D82A}">
                    <a16:rowId xmlns:a16="http://schemas.microsoft.com/office/drawing/2014/main" val="10004"/>
                  </a:ext>
                </a:extLst>
              </a:tr>
              <a:tr h="530352">
                <a:tc>
                  <a:txBody>
                    <a:bodyPr/>
                    <a:lstStyle/>
                    <a:p>
                      <a:pPr marL="0" indent="0" algn="r">
                        <a:buNone/>
                      </a:pPr>
                      <a:r>
                        <a:rPr lang="en-US" sz="1050" b="1" dirty="0">
                          <a:solidFill>
                            <a:srgbClr val="152E38"/>
                          </a:solidFill>
                          <a:latin typeface="Arial" pitchFamily="34" charset="0"/>
                          <a:ea typeface="Arial" pitchFamily="34" charset="-122"/>
                          <a:cs typeface="Arial" pitchFamily="34" charset="-120"/>
                        </a:rPr>
                        <a:t>Llama</a:t>
                      </a:r>
                      <a:endParaRPr lang="en-US" sz="1050" dirty="0">
                        <a:latin typeface="Arial" charset="0"/>
                        <a:ea typeface="Arial" charset="0"/>
                        <a:cs typeface="Arial" charset="0"/>
                      </a:endParaRPr>
                    </a:p>
                  </a:txBody>
                  <a:tcPr marL="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marL="0" indent="0" algn="ctr">
                        <a:buNone/>
                      </a:pPr>
                      <a:r>
                        <a:rPr lang="en-US" sz="1400" dirty="0">
                          <a:solidFill>
                            <a:srgbClr val="152E38"/>
                          </a:solidFill>
                          <a:latin typeface="Arial" pitchFamily="34" charset="0"/>
                          <a:ea typeface="Arial" pitchFamily="34" charset="-122"/>
                          <a:cs typeface="Arial" pitchFamily="34" charset="-120"/>
                        </a:rPr>
                        <a:t>8</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0F7F7"/>
                    </a:solidFill>
                  </a:tcPr>
                </a:tc>
                <a:tc>
                  <a:txBody>
                    <a:bodyPr/>
                    <a:lstStyle/>
                    <a:p>
                      <a:pPr marL="0" indent="0" algn="ctr">
                        <a:buNone/>
                      </a:pPr>
                      <a:r>
                        <a:rPr lang="en-US" sz="1400" dirty="0">
                          <a:solidFill>
                            <a:srgbClr val="152E38"/>
                          </a:solidFill>
                          <a:latin typeface="Arial" pitchFamily="34" charset="0"/>
                          <a:ea typeface="Arial" pitchFamily="34" charset="-122"/>
                          <a:cs typeface="Arial" pitchFamily="34" charset="-120"/>
                        </a:rPr>
                        <a:t>54</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5E6"/>
                    </a:solidFill>
                  </a:tcPr>
                </a:tc>
                <a:tc>
                  <a:txBody>
                    <a:bodyPr/>
                    <a:lstStyle/>
                    <a:p>
                      <a:pPr marL="0" indent="0" algn="ctr">
                        <a:buNone/>
                      </a:pPr>
                      <a:r>
                        <a:rPr lang="en-US" sz="1400" dirty="0">
                          <a:solidFill>
                            <a:srgbClr val="152E38"/>
                          </a:solidFill>
                          <a:latin typeface="Arial" pitchFamily="34" charset="0"/>
                          <a:ea typeface="Arial" pitchFamily="34" charset="-122"/>
                          <a:cs typeface="Arial" pitchFamily="34" charset="-120"/>
                        </a:rPr>
                        <a:t>9</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FF6F7"/>
                    </a:solidFill>
                  </a:tcPr>
                </a:tc>
                <a:tc>
                  <a:txBody>
                    <a:bodyPr/>
                    <a:lstStyle/>
                    <a:p>
                      <a:pPr marL="0" indent="0" algn="ctr">
                        <a:buNone/>
                      </a:pPr>
                      <a:r>
                        <a:rPr lang="en-US" sz="1400" dirty="0">
                          <a:solidFill>
                            <a:srgbClr val="152E38"/>
                          </a:solidFill>
                          <a:latin typeface="Arial" pitchFamily="34" charset="0"/>
                          <a:ea typeface="Arial" pitchFamily="34" charset="-122"/>
                          <a:cs typeface="Arial" pitchFamily="34" charset="-120"/>
                        </a:rPr>
                        <a:t>27</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0EEEF"/>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689</a:t>
                      </a:r>
                      <a:endParaRPr lang="en-US" sz="1400" dirty="0">
                        <a:latin typeface="Arial" charset="0"/>
                        <a:ea typeface="Arial" charset="0"/>
                        <a:cs typeface="Arial" charset="0"/>
                      </a:endParaRPr>
                    </a:p>
                  </a:txBody>
                  <a:tcPr marL="0" marR="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3868D"/>
                    </a:solidFill>
                  </a:tcPr>
                </a:tc>
                <a:extLst>
                  <a:ext uri="{0D108BD9-81ED-4DB2-BD59-A6C34878D82A}">
                    <a16:rowId xmlns:a16="http://schemas.microsoft.com/office/drawing/2014/main" val="10005"/>
                  </a:ext>
                </a:extLst>
              </a:tr>
            </a:tbl>
          </a:graphicData>
        </a:graphic>
      </p:graphicFrame>
      <p:sp>
        <p:nvSpPr>
          <p:cNvPr id="15" name="Shape 11"/>
          <p:cNvSpPr/>
          <p:nvPr/>
        </p:nvSpPr>
        <p:spPr>
          <a:xfrm>
            <a:off x="7223760" y="4846320"/>
            <a:ext cx="4419295" cy="868680"/>
          </a:xfrm>
          <a:prstGeom prst="roundRect">
            <a:avLst>
              <a:gd name="adj" fmla="val 8421"/>
            </a:avLst>
          </a:prstGeom>
          <a:solidFill>
            <a:srgbClr val="FCE9C8"/>
          </a:solidFill>
          <a:ln w="12700">
            <a:solidFill>
              <a:srgbClr val="FCE9C8"/>
            </a:solidFill>
            <a:prstDash val="solid"/>
          </a:ln>
        </p:spPr>
        <p:txBody>
          <a:bodyPr/>
          <a:lstStyle/>
          <a:p>
            <a:endParaRPr lang="en-US"/>
          </a:p>
        </p:txBody>
      </p:sp>
      <p:sp>
        <p:nvSpPr>
          <p:cNvPr id="16" name="Text 12"/>
          <p:cNvSpPr txBox="1"/>
          <p:nvPr/>
        </p:nvSpPr>
        <p:spPr>
          <a:xfrm>
            <a:off x="7406640" y="4846320"/>
            <a:ext cx="4144975" cy="868680"/>
          </a:xfrm>
          <a:prstGeom prst="rect">
            <a:avLst/>
          </a:prstGeom>
          <a:noFill/>
          <a:ln/>
        </p:spPr>
        <p:txBody>
          <a:bodyPr wrap="square" lIns="0" tIns="0" rIns="0" bIns="0" rtlCol="0" anchor="ctr"/>
          <a:lstStyle/>
          <a:p>
            <a:pPr marL="0" indent="0">
              <a:buNone/>
            </a:pPr>
            <a:r>
              <a:rPr lang="en-US" sz="1200" b="1" dirty="0">
                <a:solidFill>
                  <a:srgbClr val="152E38"/>
                </a:solidFill>
                <a:latin typeface="Arial" pitchFamily="34" charset="0"/>
                <a:ea typeface="Arial" pitchFamily="34" charset="-122"/>
                <a:cs typeface="Arial" pitchFamily="34" charset="-120"/>
              </a:rPr>
              <a:t>Largest error: </a:t>
            </a:r>
            <a:r>
              <a:rPr lang="en-US" sz="1200" dirty="0">
                <a:solidFill>
                  <a:srgbClr val="152E38"/>
                </a:solidFill>
                <a:latin typeface="Arial" pitchFamily="34" charset="0"/>
                <a:ea typeface="Arial" pitchFamily="34" charset="-122"/>
                <a:cs typeface="Arial" pitchFamily="34" charset="-120"/>
              </a:rPr>
              <a:t>199 DeepSeek programs labelled Llama.</a:t>
            </a:r>
            <a:endParaRPr lang="en-US" sz="1200" dirty="0"/>
          </a:p>
          <a:p>
            <a:pPr marL="0" indent="0">
              <a:buNone/>
            </a:pPr>
            <a:r>
              <a:rPr lang="en-US" sz="1200" dirty="0">
                <a:solidFill>
                  <a:srgbClr val="50636B"/>
                </a:solidFill>
                <a:latin typeface="Arial" pitchFamily="34" charset="0"/>
                <a:ea typeface="Arial" pitchFamily="34" charset="-122"/>
                <a:cs typeface="Arial" pitchFamily="34" charset="-120"/>
              </a:rPr>
              <a:t>The diagonal holds 3,088 correct predictions.</a:t>
            </a:r>
            <a:endParaRPr lang="en-US" sz="1200" dirty="0"/>
          </a:p>
        </p:txBody>
      </p:sp>
      <p:sp>
        <p:nvSpPr>
          <p:cNvPr id="17" name="Slide number 5">
            <a:extLst>
              <a:ext uri="{FF2B5EF4-FFF2-40B4-BE49-F238E27FC236}">
                <a16:creationId xmlns:a16="http://schemas.microsoft.com/office/drawing/2014/main" id="{464CEADE-7702-4DC7-BE3E-E486F27D841C}"/>
              </a:ext>
            </a:extLst>
          </p:cNvPr>
          <p:cNvSpPr>
            <a:spLocks noGrp="1"/>
          </p:cNvSpPr>
          <p:nvPr/>
        </p:nvSpPr>
        <p:spPr>
          <a:xfrm>
            <a:off x="11544300" y="6486525"/>
            <a:ext cx="361950" cy="257175"/>
          </a:xfrm>
          <a:prstGeom prst="rect">
            <a:avLst/>
          </a:prstGeom>
          <a:noFill/>
          <a:ln w="0">
            <a:noFill/>
          </a:ln>
        </p:spPr>
        <p:txBody>
          <a:bodyPr>
            <a:noAutofit/>
          </a:bodyPr>
          <a:lstStyle/>
          <a:p>
            <a:pPr>
              <a:defRPr sz="1275">
                <a:solidFill>
                  <a:srgbClr val="536472"/>
                </a:solidFill>
                <a:latin typeface="Arial"/>
                <a:ea typeface="Arial"/>
                <a:cs typeface="Arial"/>
              </a:defRPr>
            </a:pPr>
            <a:r>
              <a:rPr sz="1275">
                <a:solidFill>
                  <a:srgbClr val="536472"/>
                </a:solidFill>
                <a:latin typeface="Arial"/>
                <a:ea typeface="Arial"/>
                <a:cs typeface="Arial"/>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94415" cy="640080"/>
          </a:xfrm>
          <a:prstGeom prst="rect">
            <a:avLst/>
          </a:prstGeom>
          <a:noFill/>
          <a:ln/>
        </p:spPr>
        <p:txBody>
          <a:bodyPr wrap="square" lIns="0" tIns="0" rIns="0" bIns="0" rtlCol="0" anchor="ctr"/>
          <a:lstStyle/>
          <a:p>
            <a:pPr marL="0" indent="0">
              <a:buNone/>
            </a:pPr>
            <a:r>
              <a:rPr lang="en-US" sz="3000" b="1" dirty="0">
                <a:solidFill>
                  <a:srgbClr val="152E38"/>
                </a:solidFill>
                <a:latin typeface="Arial" pitchFamily="34" charset="0"/>
                <a:ea typeface="Arial" pitchFamily="34" charset="-122"/>
                <a:cs typeface="Arial" pitchFamily="34" charset="-120"/>
              </a:rPr>
              <a:t>Ablations test the explanation, with mixed evidence</a:t>
            </a:r>
            <a:endParaRPr lang="en-US" sz="3000" dirty="0"/>
          </a:p>
        </p:txBody>
      </p:sp>
      <p:sp>
        <p:nvSpPr>
          <p:cNvPr id="3" name="Text 1"/>
          <p:cNvSpPr txBox="1"/>
          <p:nvPr/>
        </p:nvSpPr>
        <p:spPr>
          <a:xfrm>
            <a:off x="548640" y="1280160"/>
            <a:ext cx="6400800" cy="274320"/>
          </a:xfrm>
          <a:prstGeom prst="rect">
            <a:avLst/>
          </a:prstGeom>
          <a:noFill/>
          <a:ln/>
        </p:spPr>
        <p:txBody>
          <a:bodyPr wrap="square" lIns="0" tIns="0" rIns="0" bIns="0" rtlCol="0" anchor="t"/>
          <a:lstStyle/>
          <a:p>
            <a:pPr marL="0" indent="0">
              <a:buNone/>
            </a:pPr>
            <a:r>
              <a:rPr lang="en-US" sz="1100" b="1" kern="0" spc="200" dirty="0">
                <a:solidFill>
                  <a:srgbClr val="117C83"/>
                </a:solidFill>
                <a:latin typeface="Arial" pitchFamily="34" charset="0"/>
                <a:ea typeface="Arial" pitchFamily="34" charset="-122"/>
                <a:cs typeface="Arial" pitchFamily="34" charset="-120"/>
              </a:rPr>
              <a:t>VALIDATION MACRO-F1, FOUR CLASSICAL MODELS</a:t>
            </a:r>
            <a:endParaRPr lang="en-US" sz="1100" dirty="0"/>
          </a:p>
        </p:txBody>
      </p:sp>
      <p:graphicFrame>
        <p:nvGraphicFramePr>
          <p:cNvPr id="4" name="Chart 0"/>
          <p:cNvGraphicFramePr/>
          <p:nvPr/>
        </p:nvGraphicFramePr>
        <p:xfrm>
          <a:off x="548640" y="1554480"/>
          <a:ext cx="6492240"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7315200" y="1280160"/>
            <a:ext cx="4327855" cy="1691640"/>
          </a:xfrm>
          <a:prstGeom prst="roundRect">
            <a:avLst>
              <a:gd name="adj" fmla="val 4324"/>
            </a:avLst>
          </a:prstGeom>
          <a:solidFill>
            <a:srgbClr val="F3F7F8"/>
          </a:solidFill>
          <a:ln w="12700">
            <a:solidFill>
              <a:srgbClr val="F3F7F8"/>
            </a:solidFill>
            <a:prstDash val="solid"/>
          </a:ln>
        </p:spPr>
        <p:txBody>
          <a:bodyPr/>
          <a:lstStyle/>
          <a:p>
            <a:endParaRPr lang="en-US"/>
          </a:p>
        </p:txBody>
      </p:sp>
      <p:sp>
        <p:nvSpPr>
          <p:cNvPr id="6" name="Text 3"/>
          <p:cNvSpPr txBox="1"/>
          <p:nvPr/>
        </p:nvSpPr>
        <p:spPr>
          <a:xfrm>
            <a:off x="7589520" y="1463040"/>
            <a:ext cx="3779215" cy="292608"/>
          </a:xfrm>
          <a:prstGeom prst="rect">
            <a:avLst/>
          </a:prstGeom>
          <a:noFill/>
          <a:ln/>
        </p:spPr>
        <p:txBody>
          <a:bodyPr wrap="square" lIns="0" tIns="0" rIns="0" bIns="0" rtlCol="0" anchor="t"/>
          <a:lstStyle/>
          <a:p>
            <a:pPr marL="0" indent="0">
              <a:buNone/>
            </a:pPr>
            <a:r>
              <a:rPr lang="en-US" sz="1600" b="1" dirty="0">
                <a:solidFill>
                  <a:srgbClr val="152E38"/>
                </a:solidFill>
                <a:latin typeface="Arial" pitchFamily="34" charset="0"/>
                <a:ea typeface="Arial" pitchFamily="34" charset="-122"/>
                <a:cs typeface="Arial" pitchFamily="34" charset="-120"/>
              </a:rPr>
              <a:t>Remove comments</a:t>
            </a:r>
            <a:endParaRPr lang="en-US" sz="1600" dirty="0"/>
          </a:p>
        </p:txBody>
      </p:sp>
      <p:sp>
        <p:nvSpPr>
          <p:cNvPr id="7" name="Text 4"/>
          <p:cNvSpPr txBox="1"/>
          <p:nvPr/>
        </p:nvSpPr>
        <p:spPr>
          <a:xfrm>
            <a:off x="7589520" y="1783080"/>
            <a:ext cx="3779215" cy="256032"/>
          </a:xfrm>
          <a:prstGeom prst="rect">
            <a:avLst/>
          </a:prstGeom>
          <a:noFill/>
          <a:ln/>
        </p:spPr>
        <p:txBody>
          <a:bodyPr wrap="square" lIns="0" tIns="0" rIns="0" bIns="0" rtlCol="0" anchor="t"/>
          <a:lstStyle/>
          <a:p>
            <a:pPr marL="0" indent="0">
              <a:buNone/>
            </a:pPr>
            <a:r>
              <a:rPr lang="en-US" sz="1200" dirty="0">
                <a:solidFill>
                  <a:srgbClr val="50636B"/>
                </a:solidFill>
                <a:latin typeface="Arial" pitchFamily="34" charset="0"/>
                <a:ea typeface="Arial" pitchFamily="34" charset="-122"/>
                <a:cs typeface="Arial" pitchFamily="34" charset="-120"/>
              </a:rPr>
              <a:t>Prediction: SVM lead should shrink</a:t>
            </a:r>
            <a:endParaRPr lang="en-US" sz="1200" dirty="0"/>
          </a:p>
        </p:txBody>
      </p:sp>
      <p:sp>
        <p:nvSpPr>
          <p:cNvPr id="8" name="Text 5"/>
          <p:cNvSpPr txBox="1"/>
          <p:nvPr/>
        </p:nvSpPr>
        <p:spPr>
          <a:xfrm>
            <a:off x="7589520" y="2121408"/>
            <a:ext cx="2377440" cy="411480"/>
          </a:xfrm>
          <a:prstGeom prst="rect">
            <a:avLst/>
          </a:prstGeom>
          <a:noFill/>
          <a:ln/>
        </p:spPr>
        <p:txBody>
          <a:bodyPr wrap="square" lIns="0" tIns="0" rIns="0" bIns="0" rtlCol="0" anchor="ctr"/>
          <a:lstStyle/>
          <a:p>
            <a:pPr marL="0" indent="0">
              <a:buNone/>
            </a:pPr>
            <a:r>
              <a:rPr lang="en-US" sz="2200" b="1" dirty="0">
                <a:solidFill>
                  <a:srgbClr val="117C83"/>
                </a:solidFill>
                <a:latin typeface="Arial" pitchFamily="34" charset="0"/>
                <a:ea typeface="Arial" pitchFamily="34" charset="-122"/>
                <a:cs typeface="Arial" pitchFamily="34" charset="-120"/>
              </a:rPr>
              <a:t>1.49 → 3.03 pts</a:t>
            </a:r>
            <a:endParaRPr lang="en-US" sz="2200" dirty="0"/>
          </a:p>
        </p:txBody>
      </p:sp>
      <p:sp>
        <p:nvSpPr>
          <p:cNvPr id="9" name="Text 6"/>
          <p:cNvSpPr txBox="1"/>
          <p:nvPr/>
        </p:nvSpPr>
        <p:spPr>
          <a:xfrm>
            <a:off x="7589520" y="2560320"/>
            <a:ext cx="2377440" cy="228600"/>
          </a:xfrm>
          <a:prstGeom prst="rect">
            <a:avLst/>
          </a:prstGeom>
          <a:noFill/>
          <a:ln/>
        </p:spPr>
        <p:txBody>
          <a:bodyPr wrap="square" lIns="0" tIns="0" rIns="0" bIns="0" rtlCol="0" anchor="t"/>
          <a:lstStyle/>
          <a:p>
            <a:pPr marL="0" indent="0">
              <a:buNone/>
            </a:pPr>
            <a:r>
              <a:rPr lang="en-US" sz="1050" dirty="0">
                <a:solidFill>
                  <a:srgbClr val="50636B"/>
                </a:solidFill>
                <a:latin typeface="Arial" pitchFamily="34" charset="0"/>
                <a:ea typeface="Arial" pitchFamily="34" charset="-122"/>
                <a:cs typeface="Arial" pitchFamily="34" charset="-120"/>
              </a:rPr>
              <a:t>SVM–LR validation gap</a:t>
            </a:r>
            <a:endParaRPr lang="en-US" sz="1050" dirty="0"/>
          </a:p>
        </p:txBody>
      </p:sp>
      <p:sp>
        <p:nvSpPr>
          <p:cNvPr id="10" name="Text 7"/>
          <p:cNvSpPr/>
          <p:nvPr/>
        </p:nvSpPr>
        <p:spPr>
          <a:xfrm>
            <a:off x="9859975" y="2176272"/>
            <a:ext cx="1508760" cy="329184"/>
          </a:xfrm>
          <a:prstGeom prst="roundRect">
            <a:avLst>
              <a:gd name="adj" fmla="val 50000"/>
            </a:avLst>
          </a:prstGeom>
          <a:solidFill>
            <a:srgbClr val="C8553D"/>
          </a:solidFill>
          <a:ln>
            <a:solidFill>
              <a:srgbClr val="C8553D"/>
            </a:solidFill>
          </a:ln>
        </p:spPr>
        <p:txBody>
          <a:bodyPr wrap="square" lIns="0" tIns="0" rIns="0" bIns="0" rtlCol="0" anchor="ctr"/>
          <a:lstStyle/>
          <a:p>
            <a:pPr marL="0" indent="0" algn="ctr">
              <a:buNone/>
            </a:pPr>
            <a:r>
              <a:rPr lang="en-US" sz="1150" b="1" dirty="0">
                <a:solidFill>
                  <a:srgbClr val="FFFFFF"/>
                </a:solidFill>
                <a:latin typeface="Arial" pitchFamily="34" charset="0"/>
                <a:ea typeface="Arial" pitchFamily="34" charset="-122"/>
                <a:cs typeface="Arial" pitchFamily="34" charset="-120"/>
              </a:rPr>
              <a:t>Prediction failed</a:t>
            </a:r>
            <a:endParaRPr lang="en-US" sz="1150" dirty="0"/>
          </a:p>
        </p:txBody>
      </p:sp>
      <p:sp>
        <p:nvSpPr>
          <p:cNvPr id="11" name="Shape 8"/>
          <p:cNvSpPr/>
          <p:nvPr/>
        </p:nvSpPr>
        <p:spPr>
          <a:xfrm>
            <a:off x="7315200" y="3154680"/>
            <a:ext cx="4327855" cy="1691640"/>
          </a:xfrm>
          <a:prstGeom prst="roundRect">
            <a:avLst>
              <a:gd name="adj" fmla="val 4324"/>
            </a:avLst>
          </a:prstGeom>
          <a:solidFill>
            <a:srgbClr val="F3F7F8"/>
          </a:solidFill>
          <a:ln w="12700">
            <a:solidFill>
              <a:srgbClr val="F3F7F8"/>
            </a:solidFill>
            <a:prstDash val="solid"/>
          </a:ln>
        </p:spPr>
        <p:txBody>
          <a:bodyPr/>
          <a:lstStyle/>
          <a:p>
            <a:endParaRPr lang="en-US"/>
          </a:p>
        </p:txBody>
      </p:sp>
      <p:sp>
        <p:nvSpPr>
          <p:cNvPr id="12" name="Text 9"/>
          <p:cNvSpPr txBox="1"/>
          <p:nvPr/>
        </p:nvSpPr>
        <p:spPr>
          <a:xfrm>
            <a:off x="7589520" y="3337560"/>
            <a:ext cx="3779215" cy="292608"/>
          </a:xfrm>
          <a:prstGeom prst="rect">
            <a:avLst/>
          </a:prstGeom>
          <a:noFill/>
          <a:ln/>
        </p:spPr>
        <p:txBody>
          <a:bodyPr wrap="square" lIns="0" tIns="0" rIns="0" bIns="0" rtlCol="0" anchor="t"/>
          <a:lstStyle/>
          <a:p>
            <a:pPr marL="0" indent="0">
              <a:buNone/>
            </a:pPr>
            <a:r>
              <a:rPr lang="en-US" sz="1600" b="1" dirty="0">
                <a:solidFill>
                  <a:srgbClr val="152E38"/>
                </a:solidFill>
                <a:latin typeface="Arial" pitchFamily="34" charset="0"/>
                <a:ea typeface="Arial" pitchFamily="34" charset="-122"/>
                <a:cs typeface="Arial" pitchFamily="34" charset="-120"/>
              </a:rPr>
              <a:t>50,000 → 500 features</a:t>
            </a:r>
            <a:endParaRPr lang="en-US" sz="1600" dirty="0"/>
          </a:p>
        </p:txBody>
      </p:sp>
      <p:sp>
        <p:nvSpPr>
          <p:cNvPr id="13" name="Text 10"/>
          <p:cNvSpPr txBox="1"/>
          <p:nvPr/>
        </p:nvSpPr>
        <p:spPr>
          <a:xfrm>
            <a:off x="7589520" y="3657600"/>
            <a:ext cx="3779215" cy="256032"/>
          </a:xfrm>
          <a:prstGeom prst="rect">
            <a:avLst/>
          </a:prstGeom>
          <a:noFill/>
          <a:ln/>
        </p:spPr>
        <p:txBody>
          <a:bodyPr wrap="square" lIns="0" tIns="0" rIns="0" bIns="0" rtlCol="0" anchor="t"/>
          <a:lstStyle/>
          <a:p>
            <a:pPr marL="0" indent="0">
              <a:buNone/>
            </a:pPr>
            <a:r>
              <a:rPr lang="en-US" sz="1200" dirty="0">
                <a:solidFill>
                  <a:srgbClr val="50636B"/>
                </a:solidFill>
                <a:latin typeface="Arial" pitchFamily="34" charset="0"/>
                <a:ea typeface="Arial" pitchFamily="34" charset="-122"/>
                <a:cs typeface="Arial" pitchFamily="34" charset="-120"/>
              </a:rPr>
              <a:t>Prediction: SVM lead should shrink</a:t>
            </a:r>
            <a:endParaRPr lang="en-US" sz="1200" dirty="0"/>
          </a:p>
        </p:txBody>
      </p:sp>
      <p:sp>
        <p:nvSpPr>
          <p:cNvPr id="14" name="Text 11"/>
          <p:cNvSpPr txBox="1"/>
          <p:nvPr/>
        </p:nvSpPr>
        <p:spPr>
          <a:xfrm>
            <a:off x="7589520" y="3995928"/>
            <a:ext cx="2377440" cy="411480"/>
          </a:xfrm>
          <a:prstGeom prst="rect">
            <a:avLst/>
          </a:prstGeom>
          <a:noFill/>
          <a:ln/>
        </p:spPr>
        <p:txBody>
          <a:bodyPr wrap="square" lIns="0" tIns="0" rIns="0" bIns="0" rtlCol="0" anchor="ctr"/>
          <a:lstStyle/>
          <a:p>
            <a:pPr marL="0" indent="0">
              <a:buNone/>
            </a:pPr>
            <a:r>
              <a:rPr lang="en-US" sz="2200" b="1" dirty="0">
                <a:solidFill>
                  <a:srgbClr val="117C83"/>
                </a:solidFill>
                <a:latin typeface="Arial" pitchFamily="34" charset="0"/>
                <a:ea typeface="Arial" pitchFamily="34" charset="-122"/>
                <a:cs typeface="Arial" pitchFamily="34" charset="-120"/>
              </a:rPr>
              <a:t>1.49 → 1.39 pts</a:t>
            </a:r>
            <a:endParaRPr lang="en-US" sz="2200" dirty="0"/>
          </a:p>
        </p:txBody>
      </p:sp>
      <p:sp>
        <p:nvSpPr>
          <p:cNvPr id="15" name="Text 12"/>
          <p:cNvSpPr txBox="1"/>
          <p:nvPr/>
        </p:nvSpPr>
        <p:spPr>
          <a:xfrm>
            <a:off x="7589520" y="4434840"/>
            <a:ext cx="2377440" cy="228600"/>
          </a:xfrm>
          <a:prstGeom prst="rect">
            <a:avLst/>
          </a:prstGeom>
          <a:noFill/>
          <a:ln/>
        </p:spPr>
        <p:txBody>
          <a:bodyPr wrap="square" lIns="0" tIns="0" rIns="0" bIns="0" rtlCol="0" anchor="t"/>
          <a:lstStyle/>
          <a:p>
            <a:pPr marL="0" indent="0">
              <a:buNone/>
            </a:pPr>
            <a:r>
              <a:rPr lang="en-US" sz="1050" dirty="0">
                <a:solidFill>
                  <a:srgbClr val="50636B"/>
                </a:solidFill>
                <a:latin typeface="Arial" pitchFamily="34" charset="0"/>
                <a:ea typeface="Arial" pitchFamily="34" charset="-122"/>
                <a:cs typeface="Arial" pitchFamily="34" charset="-120"/>
              </a:rPr>
              <a:t>SVM–LR validation gap</a:t>
            </a:r>
            <a:endParaRPr lang="en-US" sz="1050" dirty="0"/>
          </a:p>
        </p:txBody>
      </p:sp>
      <p:sp>
        <p:nvSpPr>
          <p:cNvPr id="16" name="Text 13"/>
          <p:cNvSpPr/>
          <p:nvPr/>
        </p:nvSpPr>
        <p:spPr>
          <a:xfrm>
            <a:off x="9859975" y="4050792"/>
            <a:ext cx="1508760" cy="329184"/>
          </a:xfrm>
          <a:prstGeom prst="roundRect">
            <a:avLst>
              <a:gd name="adj" fmla="val 50000"/>
            </a:avLst>
          </a:prstGeom>
          <a:solidFill>
            <a:srgbClr val="F2A541"/>
          </a:solidFill>
          <a:ln>
            <a:solidFill>
              <a:srgbClr val="F2A541"/>
            </a:solidFill>
          </a:ln>
        </p:spPr>
        <p:txBody>
          <a:bodyPr wrap="square" lIns="0" tIns="0" rIns="0" bIns="0" rtlCol="0" anchor="ctr"/>
          <a:lstStyle/>
          <a:p>
            <a:pPr marL="0" indent="0" algn="ctr">
              <a:buNone/>
            </a:pPr>
            <a:r>
              <a:rPr lang="en-US" sz="1150" b="1" dirty="0">
                <a:solidFill>
                  <a:srgbClr val="152E38"/>
                </a:solidFill>
                <a:latin typeface="Arial" pitchFamily="34" charset="0"/>
                <a:ea typeface="Arial" pitchFamily="34" charset="-122"/>
                <a:cs typeface="Arial" pitchFamily="34" charset="-120"/>
              </a:rPr>
              <a:t>Slight narrowing</a:t>
            </a:r>
            <a:endParaRPr lang="en-US" sz="1150" dirty="0"/>
          </a:p>
        </p:txBody>
      </p:sp>
      <p:sp>
        <p:nvSpPr>
          <p:cNvPr id="17" name="Shape 14"/>
          <p:cNvSpPr/>
          <p:nvPr/>
        </p:nvSpPr>
        <p:spPr>
          <a:xfrm>
            <a:off x="548640" y="5166360"/>
            <a:ext cx="11094415" cy="1097280"/>
          </a:xfrm>
          <a:prstGeom prst="roundRect">
            <a:avLst>
              <a:gd name="adj" fmla="val 6667"/>
            </a:avLst>
          </a:prstGeom>
          <a:solidFill>
            <a:srgbClr val="152E38"/>
          </a:solidFill>
          <a:ln w="12700">
            <a:solidFill>
              <a:srgbClr val="152E38"/>
            </a:solidFill>
            <a:prstDash val="solid"/>
          </a:ln>
        </p:spPr>
        <p:txBody>
          <a:bodyPr/>
          <a:lstStyle/>
          <a:p>
            <a:endParaRPr lang="en-US"/>
          </a:p>
        </p:txBody>
      </p:sp>
      <p:sp>
        <p:nvSpPr>
          <p:cNvPr id="18" name="Text 15"/>
          <p:cNvSpPr txBox="1"/>
          <p:nvPr/>
        </p:nvSpPr>
        <p:spPr>
          <a:xfrm>
            <a:off x="868680" y="5349240"/>
            <a:ext cx="10454335" cy="292608"/>
          </a:xfrm>
          <a:prstGeom prst="rect">
            <a:avLst/>
          </a:prstGeom>
          <a:noFill/>
          <a:ln/>
        </p:spPr>
        <p:txBody>
          <a:bodyPr wrap="square" lIns="0" tIns="0" rIns="0" bIns="0" rtlCol="0" anchor="t"/>
          <a:lstStyle/>
          <a:p>
            <a:pPr marL="0" indent="0">
              <a:buNone/>
            </a:pPr>
            <a:r>
              <a:rPr lang="en-US" sz="1600" b="1" dirty="0">
                <a:solidFill>
                  <a:srgbClr val="7FD1C7"/>
                </a:solidFill>
                <a:latin typeface="Arial" pitchFamily="34" charset="0"/>
                <a:ea typeface="Arial" pitchFamily="34" charset="-122"/>
                <a:cs typeface="Arial" pitchFamily="34" charset="-120"/>
              </a:rPr>
              <a:t>Both changes lowered all four scores; neither changed their ranking.</a:t>
            </a:r>
            <a:endParaRPr lang="en-US" sz="1600" dirty="0"/>
          </a:p>
        </p:txBody>
      </p:sp>
      <p:sp>
        <p:nvSpPr>
          <p:cNvPr id="19" name="Text 16"/>
          <p:cNvSpPr txBox="1"/>
          <p:nvPr/>
        </p:nvSpPr>
        <p:spPr>
          <a:xfrm>
            <a:off x="868680" y="5733288"/>
            <a:ext cx="10454335" cy="365760"/>
          </a:xfrm>
          <a:prstGeom prst="rect">
            <a:avLst/>
          </a:prstGeom>
          <a:noFill/>
          <a:ln/>
        </p:spPr>
        <p:txBody>
          <a:bodyPr wrap="square" lIns="0" tIns="0" rIns="0" bIns="0" rtlCol="0" anchor="t"/>
          <a:lstStyle/>
          <a:p>
            <a:pPr marL="0" indent="0">
              <a:buNone/>
            </a:pPr>
            <a:r>
              <a:rPr lang="en-US" sz="1400" dirty="0">
                <a:solidFill>
                  <a:srgbClr val="FFFFFF"/>
                </a:solidFill>
                <a:latin typeface="Arial" pitchFamily="34" charset="0"/>
                <a:ea typeface="Arial" pitchFamily="34" charset="-122"/>
                <a:cs typeface="Arial" pitchFamily="34" charset="-120"/>
              </a:rPr>
              <a:t>Conclusion: SVM is best under our settings. Rich code patterns help, but these tests do not conclusively explain its advantage.</a:t>
            </a:r>
            <a:endParaRPr lang="en-US" sz="1400" dirty="0"/>
          </a:p>
        </p:txBody>
      </p:sp>
      <p:sp>
        <p:nvSpPr>
          <p:cNvPr id="20" name="Slide number 6">
            <a:extLst>
              <a:ext uri="{FF2B5EF4-FFF2-40B4-BE49-F238E27FC236}">
                <a16:creationId xmlns:a16="http://schemas.microsoft.com/office/drawing/2014/main" id="{78ACDA19-3793-47C8-A048-71DEA04325C7}"/>
              </a:ext>
            </a:extLst>
          </p:cNvPr>
          <p:cNvSpPr>
            <a:spLocks noGrp="1"/>
          </p:cNvSpPr>
          <p:nvPr/>
        </p:nvSpPr>
        <p:spPr>
          <a:xfrm>
            <a:off x="11544300" y="6486525"/>
            <a:ext cx="361950" cy="257175"/>
          </a:xfrm>
          <a:prstGeom prst="rect">
            <a:avLst/>
          </a:prstGeom>
          <a:noFill/>
          <a:ln w="0">
            <a:noFill/>
          </a:ln>
        </p:spPr>
        <p:txBody>
          <a:bodyPr>
            <a:noAutofit/>
          </a:bodyPr>
          <a:lstStyle/>
          <a:p>
            <a:pPr>
              <a:defRPr sz="1275">
                <a:solidFill>
                  <a:srgbClr val="536472"/>
                </a:solidFill>
                <a:latin typeface="Arial"/>
                <a:ea typeface="Arial"/>
                <a:cs typeface="Arial"/>
              </a:defRPr>
            </a:pPr>
            <a:r>
              <a:rPr sz="1275">
                <a:solidFill>
                  <a:srgbClr val="536472"/>
                </a:solidFill>
                <a:latin typeface="Arial"/>
                <a:ea typeface="Arial"/>
                <a:cs typeface="Arial"/>
              </a:rPr>
              <a:t>6</a:t>
            </a:r>
          </a:p>
        </p:txBody>
      </p:sp>
    </p:spTree>
  </p:cSld>
  <p:clrMapOvr>
    <a:masterClrMapping/>
  </p:clrMapOvr>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E39354C-966C-4530-8C8F-7F3BEDF7B44B}"/>
              </a:ext>
            </a:extLst>
          </p:cNvPr>
          <p:cNvSpPr>
            <a:spLocks xmlns:a="http://schemas.openxmlformats.org/drawingml/2006/main" noGrp="1"/>
          </p:cNvSpPr>
          <p:nvPr/>
        </p:nvSpPr>
        <p:spPr>
          <a:xfrm xmlns:a="http://schemas.openxmlformats.org/drawingml/2006/main">
            <a:off x="666750" y="419100"/>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7343E"/>
                </a:solidFill>
                <a:latin typeface="Arial"/>
                <a:ea typeface="Arial"/>
                <a:cs typeface="Arial"/>
              </a:defRPr>
            </a:pPr>
            <a:r>
              <a:rPr sz="3450" b="1">
                <a:solidFill>
                  <a:srgbClr val="17343E"/>
                </a:solidFill>
                <a:latin typeface="Arial"/>
                <a:ea typeface="Arial"/>
                <a:cs typeface="Arial"/>
              </a:rPr>
              <a:t>References</a:t>
            </a:r>
          </a:p>
        </p:txBody>
      </p:sp>
      <p:sp>
        <p:nvSpPr>
          <p:cNvPr id="2" name="">
            <a:extLst xmlns:a="http://schemas.openxmlformats.org/drawingml/2006/main">
              <a:ext uri="{FF2B5EF4-FFF2-40B4-BE49-F238E27FC236}">
                <a16:creationId xmlns:a16="http://schemas.microsoft.com/office/drawing/2014/main" id="{4B99D82A-D52D-4549-B769-17CCC69CDE13}"/>
              </a:ext>
            </a:extLst>
          </p:cNvPr>
          <p:cNvSpPr>
            <a:spLocks xmlns:a="http://schemas.openxmlformats.org/drawingml/2006/main" noGrp="1"/>
          </p:cNvSpPr>
          <p:nvPr/>
        </p:nvSpPr>
        <p:spPr>
          <a:xfrm xmlns:a="http://schemas.openxmlformats.org/drawingml/2006/main">
            <a:off x="666750" y="1381125"/>
            <a:ext cx="10858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7343E"/>
                </a:solidFill>
                <a:latin typeface="Arial"/>
                <a:ea typeface="Arial"/>
                <a:cs typeface="Arial"/>
              </a:defRPr>
            </a:pPr>
            <a:r>
              <a:rPr sz="1800" b="1">
                <a:solidFill>
                  <a:srgbClr val="17343E"/>
                </a:solidFill>
                <a:latin typeface="Arial"/>
                <a:ea typeface="Arial"/>
                <a:cs typeface="Arial"/>
              </a:rPr>
              <a:t>Bisztray, T., et al. (2025).</a:t>
            </a:r>
          </a:p>
        </p:txBody>
      </p:sp>
      <p:sp>
        <p:nvSpPr>
          <p:cNvPr id="3" name="">
            <a:extLst xmlns:a="http://schemas.openxmlformats.org/drawingml/2006/main">
              <a:ext uri="{FF2B5EF4-FFF2-40B4-BE49-F238E27FC236}">
                <a16:creationId xmlns:a16="http://schemas.microsoft.com/office/drawing/2014/main" id="{267DACA3-FBED-459F-9B96-C960757544C0}"/>
              </a:ext>
            </a:extLst>
          </p:cNvPr>
          <p:cNvSpPr>
            <a:spLocks xmlns:a="http://schemas.openxmlformats.org/drawingml/2006/main" noGrp="1"/>
          </p:cNvSpPr>
          <p:nvPr/>
        </p:nvSpPr>
        <p:spPr>
          <a:xfrm xmlns:a="http://schemas.openxmlformats.org/drawingml/2006/main">
            <a:off x="666750" y="1704975"/>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343E"/>
                </a:solidFill>
                <a:latin typeface="Arial"/>
                <a:ea typeface="Arial"/>
                <a:cs typeface="Arial"/>
              </a:defRPr>
            </a:pPr>
            <a:r>
              <a:rPr sz="1725" b="0">
                <a:solidFill>
                  <a:srgbClr val="17343E"/>
                </a:solidFill>
                <a:latin typeface="Arial"/>
                <a:ea typeface="Arial"/>
                <a:cs typeface="Arial"/>
              </a:rPr>
              <a:t>I Know Which LLM Wrote Your Code Last Summer: LLM generated Code</a:t>
            </a:r>
          </a:p>
          <a:p xmlns:a="http://schemas.openxmlformats.org/drawingml/2006/main">
            <a:pPr>
              <a:defRPr sz="1725" b="0">
                <a:solidFill>
                  <a:srgbClr val="17343E"/>
                </a:solidFill>
                <a:latin typeface="Arial"/>
                <a:ea typeface="Arial"/>
                <a:cs typeface="Arial"/>
              </a:defRPr>
            </a:pPr>
            <a:r>
              <a:rPr sz="1725" b="0">
                <a:solidFill>
                  <a:srgbClr val="17343E"/>
                </a:solidFill>
                <a:latin typeface="Arial"/>
                <a:ea typeface="Arial"/>
                <a:cs typeface="Arial"/>
              </a:rPr>
              <a:t>Stylometry for Authorship Attribution. arXiv:2506.17323.</a:t>
            </a:r>
          </a:p>
        </p:txBody>
      </p:sp>
      <p:sp>
        <p:nvSpPr>
          <p:cNvPr id="4" name="">
            <a:extLst xmlns:a="http://schemas.openxmlformats.org/drawingml/2006/main">
              <a:ext uri="{FF2B5EF4-FFF2-40B4-BE49-F238E27FC236}">
                <a16:creationId xmlns:a16="http://schemas.microsoft.com/office/drawing/2014/main" id="{7A2DEFDC-2405-433B-9EF9-05AFED8EF40D}"/>
              </a:ext>
            </a:extLst>
          </p:cNvPr>
          <p:cNvSpPr>
            <a:spLocks xmlns:a="http://schemas.openxmlformats.org/drawingml/2006/main" noGrp="1"/>
          </p:cNvSpPr>
          <p:nvPr/>
        </p:nvSpPr>
        <p:spPr>
          <a:xfrm xmlns:a="http://schemas.openxmlformats.org/drawingml/2006/main">
            <a:off x="666750" y="2314575"/>
            <a:ext cx="10858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47D85"/>
                </a:solidFill>
                <a:latin typeface="Arial"/>
                <a:ea typeface="Arial"/>
                <a:cs typeface="Arial"/>
              </a:defRPr>
            </a:pPr>
            <a:r>
              <a:rPr sz="1500" b="0">
                <a:solidFill>
                  <a:srgbClr val="147D85"/>
                </a:solidFill>
                <a:latin typeface="Arial"/>
                <a:ea typeface="Arial"/>
                <a:cs typeface="Arial"/>
                <a:hlinkClick xmlns:ns0="http://schemas.openxmlformats.org/officeDocument/2006/relationships" ns0:id="rId3"/>
              </a:rPr>
              <a:t>https://arxiv.org/abs/2506.17323</a:t>
            </a:r>
          </a:p>
        </p:txBody>
      </p:sp>
      <p:sp>
        <p:nvSpPr>
          <p:cNvPr id="5" name="">
            <a:extLst xmlns:a="http://schemas.openxmlformats.org/drawingml/2006/main">
              <a:ext uri="{FF2B5EF4-FFF2-40B4-BE49-F238E27FC236}">
                <a16:creationId xmlns:a16="http://schemas.microsoft.com/office/drawing/2014/main" id="{ADBBFA38-2D95-4C40-8EAA-BB49BCD9AA2B}"/>
              </a:ext>
            </a:extLst>
          </p:cNvPr>
          <p:cNvSpPr>
            <a:spLocks xmlns:a="http://schemas.openxmlformats.org/drawingml/2006/main" noGrp="1"/>
          </p:cNvSpPr>
          <p:nvPr/>
        </p:nvSpPr>
        <p:spPr>
          <a:xfrm xmlns:a="http://schemas.openxmlformats.org/drawingml/2006/main">
            <a:off x="666750" y="2686050"/>
            <a:ext cx="10858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7343E"/>
                </a:solidFill>
                <a:latin typeface="Arial"/>
                <a:ea typeface="Arial"/>
                <a:cs typeface="Arial"/>
              </a:defRPr>
            </a:pPr>
            <a:r>
              <a:rPr sz="1800" b="1">
                <a:solidFill>
                  <a:srgbClr val="17343E"/>
                </a:solidFill>
                <a:latin typeface="Arial"/>
                <a:ea typeface="Arial"/>
                <a:cs typeface="Arial"/>
              </a:rPr>
              <a:t>LLM-AuthorBench. (n.d.).</a:t>
            </a:r>
          </a:p>
        </p:txBody>
      </p:sp>
      <p:sp>
        <p:nvSpPr>
          <p:cNvPr id="6" name="">
            <a:extLst xmlns:a="http://schemas.openxmlformats.org/drawingml/2006/main">
              <a:ext uri="{FF2B5EF4-FFF2-40B4-BE49-F238E27FC236}">
                <a16:creationId xmlns:a16="http://schemas.microsoft.com/office/drawing/2014/main" id="{2A9B1163-187B-4044-84AB-92AF00B4C300}"/>
              </a:ext>
            </a:extLst>
          </p:cNvPr>
          <p:cNvSpPr>
            <a:spLocks xmlns:a="http://schemas.openxmlformats.org/drawingml/2006/main" noGrp="1"/>
          </p:cNvSpPr>
          <p:nvPr/>
        </p:nvSpPr>
        <p:spPr>
          <a:xfrm xmlns:a="http://schemas.openxmlformats.org/drawingml/2006/main">
            <a:off x="666750" y="3009900"/>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343E"/>
                </a:solidFill>
                <a:latin typeface="Arial"/>
                <a:ea typeface="Arial"/>
                <a:cs typeface="Arial"/>
              </a:defRPr>
            </a:pPr>
            <a:r>
              <a:rPr sz="1725" b="0">
                <a:solidFill>
                  <a:srgbClr val="17343E"/>
                </a:solidFill>
                <a:latin typeface="Arial"/>
                <a:ea typeface="Arial"/>
                <a:cs typeface="Arial"/>
              </a:rPr>
              <a:t>LLM-AuthorBench dataset and experiment notebooks [GitHub repository].</a:t>
            </a:r>
          </a:p>
        </p:txBody>
      </p:sp>
      <p:sp>
        <p:nvSpPr>
          <p:cNvPr id="7" name="">
            <a:extLst xmlns:a="http://schemas.openxmlformats.org/drawingml/2006/main">
              <a:ext uri="{FF2B5EF4-FFF2-40B4-BE49-F238E27FC236}">
                <a16:creationId xmlns:a16="http://schemas.microsoft.com/office/drawing/2014/main" id="{4EB1BC2D-60D7-4282-ACB4-CF35797F0610}"/>
              </a:ext>
            </a:extLst>
          </p:cNvPr>
          <p:cNvSpPr>
            <a:spLocks xmlns:a="http://schemas.openxmlformats.org/drawingml/2006/main" noGrp="1"/>
          </p:cNvSpPr>
          <p:nvPr/>
        </p:nvSpPr>
        <p:spPr>
          <a:xfrm xmlns:a="http://schemas.openxmlformats.org/drawingml/2006/main">
            <a:off x="666750" y="3619500"/>
            <a:ext cx="10858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47D85"/>
                </a:solidFill>
                <a:latin typeface="Arial"/>
                <a:ea typeface="Arial"/>
                <a:cs typeface="Arial"/>
              </a:defRPr>
            </a:pPr>
            <a:r>
              <a:rPr sz="1500" b="0">
                <a:solidFill>
                  <a:srgbClr val="147D85"/>
                </a:solidFill>
                <a:latin typeface="Arial"/>
                <a:ea typeface="Arial"/>
                <a:cs typeface="Arial"/>
                <a:hlinkClick xmlns:ns1="http://schemas.openxmlformats.org/officeDocument/2006/relationships" ns1:id="rId4"/>
              </a:rPr>
              <a:t>https://github.com/LLMauthorbench/LLMauthorbench</a:t>
            </a:r>
          </a:p>
        </p:txBody>
      </p:sp>
      <p:sp>
        <p:nvSpPr>
          <p:cNvPr id="8" name="">
            <a:extLst xmlns:a="http://schemas.openxmlformats.org/drawingml/2006/main">
              <a:ext uri="{FF2B5EF4-FFF2-40B4-BE49-F238E27FC236}">
                <a16:creationId xmlns:a16="http://schemas.microsoft.com/office/drawing/2014/main" id="{FF58FD38-E20E-4960-BD21-BE9276DE575C}"/>
              </a:ext>
            </a:extLst>
          </p:cNvPr>
          <p:cNvSpPr>
            <a:spLocks xmlns:a="http://schemas.openxmlformats.org/drawingml/2006/main" noGrp="1"/>
          </p:cNvSpPr>
          <p:nvPr/>
        </p:nvSpPr>
        <p:spPr>
          <a:xfrm xmlns:a="http://schemas.openxmlformats.org/drawingml/2006/main">
            <a:off x="666750" y="3990975"/>
            <a:ext cx="10858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7343E"/>
                </a:solidFill>
                <a:latin typeface="Arial"/>
                <a:ea typeface="Arial"/>
                <a:cs typeface="Arial"/>
              </a:defRPr>
            </a:pPr>
            <a:r>
              <a:rPr sz="1800" b="1">
                <a:solidFill>
                  <a:srgbClr val="17343E"/>
                </a:solidFill>
                <a:latin typeface="Arial"/>
                <a:ea typeface="Arial"/>
                <a:cs typeface="Arial"/>
              </a:rPr>
              <a:t>Wang, Y., Wang, W., Joty, S., &amp; Hoi, S. C. H. (2021).</a:t>
            </a:r>
          </a:p>
        </p:txBody>
      </p:sp>
      <p:sp>
        <p:nvSpPr>
          <p:cNvPr id="9" name="">
            <a:extLst xmlns:a="http://schemas.openxmlformats.org/drawingml/2006/main">
              <a:ext uri="{FF2B5EF4-FFF2-40B4-BE49-F238E27FC236}">
                <a16:creationId xmlns:a16="http://schemas.microsoft.com/office/drawing/2014/main" id="{7E9DA3A7-9AA5-453B-84B8-D3A2C79BC797}"/>
              </a:ext>
            </a:extLst>
          </p:cNvPr>
          <p:cNvSpPr>
            <a:spLocks xmlns:a="http://schemas.openxmlformats.org/drawingml/2006/main" noGrp="1"/>
          </p:cNvSpPr>
          <p:nvPr/>
        </p:nvSpPr>
        <p:spPr>
          <a:xfrm xmlns:a="http://schemas.openxmlformats.org/drawingml/2006/main">
            <a:off x="666750" y="4314825"/>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343E"/>
                </a:solidFill>
                <a:latin typeface="Arial"/>
                <a:ea typeface="Arial"/>
                <a:cs typeface="Arial"/>
              </a:defRPr>
            </a:pPr>
            <a:r>
              <a:rPr sz="1725" b="0">
                <a:solidFill>
                  <a:srgbClr val="17343E"/>
                </a:solidFill>
                <a:latin typeface="Arial"/>
                <a:ea typeface="Arial"/>
                <a:cs typeface="Arial"/>
              </a:rPr>
              <a:t>CodeT5: Identifier-aware Unified Pre-trained Encoder-Decoder Models</a:t>
            </a:r>
          </a:p>
          <a:p xmlns:a="http://schemas.openxmlformats.org/drawingml/2006/main">
            <a:pPr>
              <a:defRPr sz="1725" b="0">
                <a:solidFill>
                  <a:srgbClr val="17343E"/>
                </a:solidFill>
                <a:latin typeface="Arial"/>
                <a:ea typeface="Arial"/>
                <a:cs typeface="Arial"/>
              </a:defRPr>
            </a:pPr>
            <a:r>
              <a:rPr sz="1725" b="0">
                <a:solidFill>
                  <a:srgbClr val="17343E"/>
                </a:solidFill>
                <a:latin typeface="Arial"/>
                <a:ea typeface="Arial"/>
                <a:cs typeface="Arial"/>
              </a:rPr>
              <a:t>for Code Understanding and Generation. EMNLP, 8696-8708.</a:t>
            </a:r>
          </a:p>
        </p:txBody>
      </p:sp>
      <p:sp>
        <p:nvSpPr>
          <p:cNvPr id="10" name="">
            <a:extLst xmlns:a="http://schemas.openxmlformats.org/drawingml/2006/main">
              <a:ext uri="{FF2B5EF4-FFF2-40B4-BE49-F238E27FC236}">
                <a16:creationId xmlns:a16="http://schemas.microsoft.com/office/drawing/2014/main" id="{4C11DA83-33E9-49F6-B2AE-228214CC70F6}"/>
              </a:ext>
            </a:extLst>
          </p:cNvPr>
          <p:cNvSpPr>
            <a:spLocks xmlns:a="http://schemas.openxmlformats.org/drawingml/2006/main" noGrp="1"/>
          </p:cNvSpPr>
          <p:nvPr/>
        </p:nvSpPr>
        <p:spPr>
          <a:xfrm xmlns:a="http://schemas.openxmlformats.org/drawingml/2006/main">
            <a:off x="666750" y="4924425"/>
            <a:ext cx="10858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47D85"/>
                </a:solidFill>
                <a:latin typeface="Arial"/>
                <a:ea typeface="Arial"/>
                <a:cs typeface="Arial"/>
              </a:defRPr>
            </a:pPr>
            <a:r>
              <a:rPr sz="1500" b="0">
                <a:solidFill>
                  <a:srgbClr val="147D85"/>
                </a:solidFill>
                <a:latin typeface="Arial"/>
                <a:ea typeface="Arial"/>
                <a:cs typeface="Arial"/>
                <a:hlinkClick xmlns:ns2="http://schemas.openxmlformats.org/officeDocument/2006/relationships" ns2:id="rId5"/>
              </a:rPr>
              <a:t>https://aclanthology.org/2021.emnlp-main.685/</a:t>
            </a:r>
          </a:p>
        </p:txBody>
      </p:sp>
      <p:sp>
        <p:nvSpPr>
          <p:cNvPr id="11" name="">
            <a:extLst xmlns:a="http://schemas.openxmlformats.org/drawingml/2006/main">
              <a:ext uri="{FF2B5EF4-FFF2-40B4-BE49-F238E27FC236}">
                <a16:creationId xmlns:a16="http://schemas.microsoft.com/office/drawing/2014/main" id="{45A7632A-F409-4CBF-A4CC-DDC347F21BDE}"/>
              </a:ext>
            </a:extLst>
          </p:cNvPr>
          <p:cNvSpPr>
            <a:spLocks xmlns:a="http://schemas.openxmlformats.org/drawingml/2006/main" noGrp="1"/>
          </p:cNvSpPr>
          <p:nvPr/>
        </p:nvSpPr>
        <p:spPr>
          <a:xfrm xmlns:a="http://schemas.openxmlformats.org/drawingml/2006/main">
            <a:off x="666750" y="5295900"/>
            <a:ext cx="10858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7343E"/>
                </a:solidFill>
                <a:latin typeface="Arial"/>
                <a:ea typeface="Arial"/>
                <a:cs typeface="Arial"/>
              </a:defRPr>
            </a:pPr>
            <a:r>
              <a:rPr sz="1800" b="1">
                <a:solidFill>
                  <a:srgbClr val="17343E"/>
                </a:solidFill>
                <a:latin typeface="Arial"/>
                <a:ea typeface="Arial"/>
                <a:cs typeface="Arial"/>
              </a:rPr>
              <a:t>Pedregosa, F., et al. (2011).</a:t>
            </a:r>
          </a:p>
        </p:txBody>
      </p:sp>
      <p:sp>
        <p:nvSpPr>
          <p:cNvPr id="12" name="">
            <a:extLst xmlns:a="http://schemas.openxmlformats.org/drawingml/2006/main">
              <a:ext uri="{FF2B5EF4-FFF2-40B4-BE49-F238E27FC236}">
                <a16:creationId xmlns:a16="http://schemas.microsoft.com/office/drawing/2014/main" id="{59EDD206-2435-4E37-B82F-43C41E8B8B52}"/>
              </a:ext>
            </a:extLst>
          </p:cNvPr>
          <p:cNvSpPr>
            <a:spLocks xmlns:a="http://schemas.openxmlformats.org/drawingml/2006/main" noGrp="1"/>
          </p:cNvSpPr>
          <p:nvPr/>
        </p:nvSpPr>
        <p:spPr>
          <a:xfrm xmlns:a="http://schemas.openxmlformats.org/drawingml/2006/main">
            <a:off x="666750" y="5619750"/>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343E"/>
                </a:solidFill>
                <a:latin typeface="Arial"/>
                <a:ea typeface="Arial"/>
                <a:cs typeface="Arial"/>
              </a:defRPr>
            </a:pPr>
            <a:r>
              <a:rPr sz="1725" b="0">
                <a:solidFill>
                  <a:srgbClr val="17343E"/>
                </a:solidFill>
                <a:latin typeface="Arial"/>
                <a:ea typeface="Arial"/>
                <a:cs typeface="Arial"/>
              </a:rPr>
              <a:t>Scikit-learn: Machine Learning in Python. JMLR, 12, 2825-2830.</a:t>
            </a:r>
          </a:p>
        </p:txBody>
      </p:sp>
      <p:sp>
        <p:nvSpPr>
          <p:cNvPr id="13" name="">
            <a:extLst xmlns:a="http://schemas.openxmlformats.org/drawingml/2006/main">
              <a:ext uri="{FF2B5EF4-FFF2-40B4-BE49-F238E27FC236}">
                <a16:creationId xmlns:a16="http://schemas.microsoft.com/office/drawing/2014/main" id="{13D15E8E-44F0-4C45-80E4-BCD4B184C6E4}"/>
              </a:ext>
            </a:extLst>
          </p:cNvPr>
          <p:cNvSpPr>
            <a:spLocks xmlns:a="http://schemas.openxmlformats.org/drawingml/2006/main" noGrp="1"/>
          </p:cNvSpPr>
          <p:nvPr/>
        </p:nvSpPr>
        <p:spPr>
          <a:xfrm xmlns:a="http://schemas.openxmlformats.org/drawingml/2006/main">
            <a:off x="666750" y="6229350"/>
            <a:ext cx="10858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47D85"/>
                </a:solidFill>
                <a:latin typeface="Arial"/>
                <a:ea typeface="Arial"/>
                <a:cs typeface="Arial"/>
              </a:defRPr>
            </a:pPr>
            <a:r>
              <a:rPr sz="1500" b="0">
                <a:solidFill>
                  <a:srgbClr val="147D85"/>
                </a:solidFill>
                <a:latin typeface="Arial"/>
                <a:ea typeface="Arial"/>
                <a:cs typeface="Arial"/>
                <a:hlinkClick xmlns:ns3="http://schemas.openxmlformats.org/officeDocument/2006/relationships" ns3:id="rId6"/>
              </a:rPr>
              <a:t>https://jmlr.org/papers/v12/pedregosa11a.html</a:t>
            </a:r>
          </a:p>
        </p:txBody>
      </p:sp>
    </p:spTree>
    <p:extLst>
      <p:ext uri="{BB962C8B-B14F-4D97-AF65-F5344CB8AC3E}">
        <p14:creationId xmlns:p14="http://schemas.microsoft.com/office/powerpoint/2010/main" val="2138154666"/>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2181</Words>
  <Application>Microsoft Office PowerPoint</Application>
  <PresentationFormat>Widescreen</PresentationFormat>
  <Paragraphs>189</Paragraphs>
  <Slides>7</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Which LLM wrote this C program?</dc:title>
  <dc:subject>PptxGenJS Presentation</dc:subject>
  <dc:creator>PptxGenJS</dc:creator>
  <cp:lastModifiedBy>Saeed Ali Alshehhi</cp:lastModifiedBy>
  <cp:revision>2</cp:revision>
  <dcterms:created xsi:type="dcterms:W3CDTF">2026-10-01T12:39:44Z</dcterms:created>
  <dcterms:modified xsi:type="dcterms:W3CDTF">2026-10-04T13:25:53Z</dcterms:modified>
</cp:coreProperties>
</file>