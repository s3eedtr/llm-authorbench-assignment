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e185ca2f5ef4783" /><Relationship Type="http://schemas.openxmlformats.org/officeDocument/2006/relationships/extended-properties" Target="/docProps/app.xml" Id="R845cf6169f0a4add" /><Relationship Type="http://schemas.openxmlformats.org/officeDocument/2006/relationships/officeDocument" Target="/ppt/presentation.xml" Id="R0c64257f5ddd4e06" /></Relationships>
</file>

<file path=ppt/presentation.xml><?xml version="1.0" encoding="utf-8"?>
<p:presentation xmlns:p="http://schemas.openxmlformats.org/presentationml/2006/main">
  <p:sldMasterIdLst>
    <p:sldMasterId xmlns:r="http://schemas.openxmlformats.org/officeDocument/2006/relationships" id="2147483648" r:id="Rbdb92eb15fb94a16"/>
  </p:sldMasterIdLst>
  <p:notesMasterIdLst>
    <p:notesMasterId xmlns:r="http://schemas.openxmlformats.org/officeDocument/2006/relationships" r:id="R14d3a043d96347b4"/>
  </p:notesMasterIdLst>
  <p:sldIdLst>
    <p:sldId xmlns:r="http://schemas.openxmlformats.org/officeDocument/2006/relationships" id="256" r:id="Rf1948dfe91d846b0"/>
    <p:sldId xmlns:r="http://schemas.openxmlformats.org/officeDocument/2006/relationships" id="257" r:id="R405a7003877a46a8"/>
    <p:sldId xmlns:r="http://schemas.openxmlformats.org/officeDocument/2006/relationships" id="258" r:id="Rb49f5f15b28349ed"/>
    <p:sldId xmlns:r="http://schemas.openxmlformats.org/officeDocument/2006/relationships" id="259" r:id="Rd1983717dc1746db"/>
    <p:sldId xmlns:r="http://schemas.openxmlformats.org/officeDocument/2006/relationships" id="260" r:id="R09a363b96bd244b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7125d827429442e" /><Relationship Type="http://schemas.openxmlformats.org/officeDocument/2006/relationships/slideMaster" Target="/ppt/slideMasters/slideMaster1.xml" Id="Rbdb92eb15fb94a16" /><Relationship Type="http://schemas.openxmlformats.org/officeDocument/2006/relationships/notesMaster" Target="/ppt/notesMasters/notesMaster1.xml" Id="R14d3a043d96347b4" /><Relationship Type="http://schemas.openxmlformats.org/officeDocument/2006/relationships/presProps" Target="/ppt/presProps.xml" Id="Rdb7231c111cc4786" /><Relationship Type="http://schemas.openxmlformats.org/officeDocument/2006/relationships/tableStyles" Target="/ppt/tableStyles.xml" Id="Re51051a2158841d7" /><Relationship Type="http://schemas.openxmlformats.org/officeDocument/2006/relationships/slide" Target="/ppt/slides/slide1.xml" Id="Rf1948dfe91d846b0" /><Relationship Type="http://schemas.openxmlformats.org/officeDocument/2006/relationships/slide" Target="/ppt/slides/slide2.xml" Id="R405a7003877a46a8" /><Relationship Type="http://schemas.openxmlformats.org/officeDocument/2006/relationships/slide" Target="/ppt/slides/slide3.xml" Id="Rb49f5f15b28349ed" /><Relationship Type="http://schemas.openxmlformats.org/officeDocument/2006/relationships/slide" Target="/ppt/slides/slide4.xml" Id="Rd1983717dc1746db" /><Relationship Type="http://schemas.openxmlformats.org/officeDocument/2006/relationships/slide" Target="/ppt/slides/slide5.xml" Id="R09a363b96bd244b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dc1a97870734dc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f16b95e21294bfb" /><Relationship Type="http://schemas.openxmlformats.org/officeDocument/2006/relationships/notesMaster" Target="/ppt/notesMasters/notesMaster1.xml" Id="R0cf448eb4e0149fb" /></Relationships>
</file>

<file path=ppt/notesSlides/_rels/notesSlide2.xml.rels>&#65279;<?xml version="1.0" encoding="utf-8"?><Relationships xmlns="http://schemas.openxmlformats.org/package/2006/relationships"><Relationship Type="http://schemas.openxmlformats.org/officeDocument/2006/relationships/slide" Target="/ppt/slides/slide2.xml" Id="R7c105c5a342641b7" /><Relationship Type="http://schemas.openxmlformats.org/officeDocument/2006/relationships/notesMaster" Target="/ppt/notesMasters/notesMaster1.xml" Id="R22eec7f4ff524e28" /></Relationships>
</file>

<file path=ppt/notesSlides/_rels/notesSlide3.xml.rels>&#65279;<?xml version="1.0" encoding="utf-8"?><Relationships xmlns="http://schemas.openxmlformats.org/package/2006/relationships"><Relationship Type="http://schemas.openxmlformats.org/officeDocument/2006/relationships/slide" Target="/ppt/slides/slide3.xml" Id="Rc7c77d0833ef46b0" /><Relationship Type="http://schemas.openxmlformats.org/officeDocument/2006/relationships/notesMaster" Target="/ppt/notesMasters/notesMaster1.xml" Id="R1de5b94e3e064d86" /></Relationships>
</file>

<file path=ppt/notesSlides/_rels/notesSlide4.xml.rels>&#65279;<?xml version="1.0" encoding="utf-8"?><Relationships xmlns="http://schemas.openxmlformats.org/package/2006/relationships"><Relationship Type="http://schemas.openxmlformats.org/officeDocument/2006/relationships/slide" Target="/ppt/slides/slide4.xml" Id="Rfc154d5235d74f1c" /><Relationship Type="http://schemas.openxmlformats.org/officeDocument/2006/relationships/notesMaster" Target="/ppt/notesMasters/notesMaster1.xml" Id="R4dd365d764024950" /></Relationships>
</file>

<file path=ppt/notesSlides/_rels/notesSlide5.xml.rels>&#65279;<?xml version="1.0" encoding="utf-8"?><Relationships xmlns="http://schemas.openxmlformats.org/package/2006/relationships"><Relationship Type="http://schemas.openxmlformats.org/officeDocument/2006/relationships/slide" Target="/ppt/slides/slide5.xml" Id="R670585e8341f4afe" /><Relationship Type="http://schemas.openxmlformats.org/officeDocument/2006/relationships/notesMaster" Target="/ppt/notesMasters/notesMaster1.xml" Id="R1330354e29be407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Bisztray et al., I Know Which LLM Wrote Your Code Last Summer, https://arxiv.org/abs/2506.17323 . Collection description only; all reported metrics come from local experiments.</a:t>
            </a:r>
          </a:p>
          <a:p xmlns:a="http://schemas.openxmlformats.org/drawingml/2006/main">
            <a:r>
              <a:t>The authors describe generation from 300 parameterized task templates, with duplicate removal and compilation filtering before release. We did not compile or execute programs. Our inspected release has 10,262 exact prompt strings and eight balanced labels. Licence permission is unverified and must be resolved before submission. Group names and contributions are pending user completion. Assignment: CSBP711 Fall 2026, due October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results/dataset_statistics.json; split_summary.csv; split_metadata.json; upstream_template_audit.json. Seed 42. Split targets are 70/15/15 percent of families, not samples; actual sample shares differ. The independent audit matched 298 of 300 upstream templates and found no matched template spanning multiple inferred groups. Grouping is conservative and can merge related distinct tasks. Exact semantic separation cannot be certified. Case is preserved; sklearn internally collapses repeated whitespace. No JSON metadata enters features. Licence evidence: results/license_check.json and docs/DATASET_PERMISSION.md.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src/features.py and src/train_models.py. MultinomialNB alpha=1. Logistic Regression C=1, lbfgs, max_iter=3000. LinearSVC C=1, dual=auto, max_iter=10000. Forest 150 trees, max_depth=40, min_samples_leaf=2, max_features=sqrt, n_jobs=4. Macro-F1 weights each class equally. Uniform random expected accuracy 12.5%. Majority baseline uses the training majority class. Library reference: https://scikit-learn.org/stable/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results/model_results.csv and original_features.json. Original TF-IDF extraction 25.8312 seconds and vectorizer 0.47146 MB. Classifier timings exclude feature extraction and serialization. Metrics use the same 6,108 test samples. Validation uses 4,777 samples. SVM remains the original validation-selected winner; the ablation does not reselect the original winner. Largest SVM directional confusion: Qwen to Llama, 171 programs. Single split and no confidence interval; do not imply small score gaps are statistically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results/ablation_protocol.md, ablation_ranking.csv, ablation_interpretation.md and top_features.csv. The original SVM-only result was known before this extension, so the directional prediction is exploratory. All settings and split assignments stay fixed. One new training-only vectorizer supplies all four ablated classifiers. SVM test F1 falls from 0.579715 to 0.428673, a 15.1043 percentage point drop. The small forest/LR validation crossover is not evidence of a robust ordering. Test order stays SVM, Logistic Regression, Random Forest, Naive Bayes. Strong SVM features include comment openings by braces and inline comments by semicolons. Training density is 3.813%. Conclusion: comments carry useful information, but this ablation does not establish why SVM uniquely wins. Other lexical patterns may contribute; single-split evidence does not prove causality.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7b554a2c4b544b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f0875e746244a3c" /><Relationship Type="http://schemas.openxmlformats.org/officeDocument/2006/relationships/slideLayout" Target="/ppt/slideLayouts/slideLayout1.xml" Id="Rabe8d7cc0f81480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be8d7cc0f81480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e613669752b40c8" /><Relationship Type="http://schemas.openxmlformats.org/officeDocument/2006/relationships/hyperlink" Target="https://github.com/S3eeDTR/LLM-AuthorBench-Assignment" TargetMode="External" Id="Rbf2ca44f36fc46fd" /><Relationship Type="http://schemas.openxmlformats.org/officeDocument/2006/relationships/notesSlide" Target="/ppt/notesSlides/notesSlide1.xml" Id="R65a7352265a7428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79b114b094447cd" /><Relationship Type="http://schemas.openxmlformats.org/officeDocument/2006/relationships/notesSlide" Target="/ppt/notesSlides/notesSlide2.xml" Id="R9cc2d21cf7ac47e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6223428a50d4197" /><Relationship Type="http://schemas.openxmlformats.org/officeDocument/2006/relationships/notesSlide" Target="/ppt/notesSlides/notesSlide3.xml" Id="R49609230dfa94cb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56bb7b6298a4f82" /><Relationship Type="http://schemas.openxmlformats.org/officeDocument/2006/relationships/notesSlide" Target="/ppt/notesSlides/notesSlide4.xml" Id="Rf107e6b1ddb645b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8a2e07f587f4a83" /><Relationship Type="http://schemas.openxmlformats.org/officeDocument/2006/relationships/notesSlide" Target="/ppt/notesSlides/notesSlide5.xml" Id="Rb848e135586f425c" /></Relationships>
</file>

<file path=ppt/slides/slide1.xml><?xml version="1.0" encoding="utf-8"?>
<p:sld xmlns:p="http://schemas.openxmlformats.org/presentationml/2006/main">
  <p:cSld>
    <p:bg>
      <p:bgPr>
        <a:solidFill xmlns:a="http://schemas.openxmlformats.org/drawingml/2006/main">
          <a:srgbClr val="152E3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9569D1D-2200-4650-A8AF-C66CB72F6BB8}"/>
              </a:ext>
            </a:extLst>
          </p:cNvPr>
          <p:cNvSpPr>
            <a:spLocks xmlns:a="http://schemas.openxmlformats.org/drawingml/2006/main" noGrp="1"/>
          </p:cNvSpPr>
          <p:nvPr/>
        </p:nvSpPr>
        <p:spPr>
          <a:xfrm xmlns:a="http://schemas.openxmlformats.org/drawingml/2006/main">
            <a:off x="571500" y="666750"/>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LLM-Generated Code</a:t>
            </a:r>
          </a:p>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Authorship Attribution</a:t>
            </a:r>
          </a:p>
        </p:txBody>
      </p:sp>
      <p:sp>
        <p:nvSpPr>
          <p:cNvPr id="2" name="">
            <a:extLst xmlns:a="http://schemas.openxmlformats.org/drawingml/2006/main">
              <a:ext uri="{FF2B5EF4-FFF2-40B4-BE49-F238E27FC236}">
                <a16:creationId xmlns:a16="http://schemas.microsoft.com/office/drawing/2014/main" id="{4C802E52-8F86-4DC7-9D20-3D0431A8BE35}"/>
              </a:ext>
            </a:extLst>
          </p:cNvPr>
          <p:cNvSpPr>
            <a:spLocks xmlns:a="http://schemas.openxmlformats.org/drawingml/2006/main" noGrp="1"/>
          </p:cNvSpPr>
          <p:nvPr/>
        </p:nvSpPr>
        <p:spPr>
          <a:xfrm xmlns:a="http://schemas.openxmlformats.org/drawingml/2006/main">
            <a:off x="571500" y="2438400"/>
            <a:ext cx="10191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00" b="0">
                <a:solidFill>
                  <a:srgbClr val="E4F0F2"/>
                </a:solidFill>
                <a:latin typeface="Arial"/>
                <a:ea typeface="Arial"/>
                <a:cs typeface="Arial"/>
              </a:defRPr>
            </a:pPr>
            <a:r>
              <a:rPr sz="2400" b="0">
                <a:solidFill>
                  <a:srgbClr val="E4F0F2"/>
                </a:solidFill>
                <a:latin typeface="Arial"/>
                <a:ea typeface="Arial"/>
                <a:cs typeface="Arial"/>
              </a:rPr>
              <a:t>Can standard machine learning identify the LLM behind a C program?</a:t>
            </a:r>
          </a:p>
        </p:txBody>
      </p:sp>
      <p:sp>
        <p:nvSpPr>
          <p:cNvPr id="3" name="">
            <a:extLst xmlns:a="http://schemas.openxmlformats.org/drawingml/2006/main">
              <a:ext uri="{FF2B5EF4-FFF2-40B4-BE49-F238E27FC236}">
                <a16:creationId xmlns:a16="http://schemas.microsoft.com/office/drawing/2014/main" id="{0F87C864-F150-4E66-8BD8-C32419E0FC1C}"/>
              </a:ext>
            </a:extLst>
          </p:cNvPr>
          <p:cNvSpPr>
            <a:spLocks xmlns:a="http://schemas.openxmlformats.org/drawingml/2006/main" noGrp="1"/>
          </p:cNvSpPr>
          <p:nvPr/>
        </p:nvSpPr>
        <p:spPr>
          <a:xfrm xmlns:a="http://schemas.openxmlformats.org/drawingml/2006/main">
            <a:off x="571500" y="3581400"/>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00" b="1">
                <a:solidFill>
                  <a:srgbClr val="6DDBCA"/>
                </a:solidFill>
                <a:latin typeface="Arial"/>
                <a:ea typeface="Arial"/>
                <a:cs typeface="Arial"/>
              </a:defRPr>
            </a:pPr>
            <a:r>
              <a:rPr sz="2400" b="1">
                <a:solidFill>
                  <a:srgbClr val="6DDBCA"/>
                </a:solidFill>
                <a:latin typeface="Arial"/>
                <a:ea typeface="Arial"/>
                <a:cs typeface="Arial"/>
              </a:rPr>
              <a:t>32,000 C programs     8 LLMs     4,000 programs per class</a:t>
            </a:r>
          </a:p>
        </p:txBody>
      </p:sp>
      <p:sp>
        <p:nvSpPr>
          <p:cNvPr id="4" name="">
            <a:extLst xmlns:a="http://schemas.openxmlformats.org/drawingml/2006/main">
              <a:ext uri="{FF2B5EF4-FFF2-40B4-BE49-F238E27FC236}">
                <a16:creationId xmlns:a16="http://schemas.microsoft.com/office/drawing/2014/main" id="{1B7FD162-E130-4168-9D43-1020DFFA334F}"/>
              </a:ext>
            </a:extLst>
          </p:cNvPr>
          <p:cNvSpPr>
            <a:spLocks xmlns:a="http://schemas.openxmlformats.org/drawingml/2006/main" noGrp="1"/>
          </p:cNvSpPr>
          <p:nvPr/>
        </p:nvSpPr>
        <p:spPr>
          <a:xfrm xmlns:a="http://schemas.openxmlformats.org/drawingml/2006/main">
            <a:off x="571500" y="4400550"/>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LLM-AuthorBench connects this source-code experiment to our research on attribution of LLM-generated code.</a:t>
            </a:r>
          </a:p>
        </p:txBody>
      </p:sp>
      <p:sp>
        <p:nvSpPr>
          <p:cNvPr id="5" name="">
            <a:extLst xmlns:a="http://schemas.openxmlformats.org/drawingml/2006/main">
              <a:ext uri="{FF2B5EF4-FFF2-40B4-BE49-F238E27FC236}">
                <a16:creationId xmlns:a16="http://schemas.microsoft.com/office/drawing/2014/main" id="{D8226D7F-D84D-4A52-8365-C4524465A630}"/>
              </a:ext>
            </a:extLst>
          </p:cNvPr>
          <p:cNvSpPr>
            <a:spLocks xmlns:a="http://schemas.openxmlformats.org/drawingml/2006/main" noGrp="1"/>
          </p:cNvSpPr>
          <p:nvPr/>
        </p:nvSpPr>
        <p:spPr>
          <a:xfrm xmlns:a="http://schemas.openxmlformats.org/drawingml/2006/main">
            <a:off x="571500" y="546735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6DDBCA"/>
                </a:solidFill>
                <a:latin typeface="Arial"/>
                <a:ea typeface="Arial"/>
                <a:cs typeface="Arial"/>
              </a:defRPr>
            </a:pPr>
            <a:r>
              <a:rPr>
                <a:hlinkClick xmlns:r="http://schemas.openxmlformats.org/officeDocument/2006/relationships" r:id="Rbf2ca44f36fc46fd"/>
              </a:rPr>
              <a:t>https://github.com/S3eeDTR/LLM-AuthorBench-Assignment</a:t>
            </a:r>
          </a:p>
        </p:txBody>
      </p:sp>
      <p:sp>
        <p:nvSpPr>
          <p:cNvPr id="6" name="">
            <a:extLst xmlns:a="http://schemas.openxmlformats.org/drawingml/2006/main">
              <a:ext uri="{FF2B5EF4-FFF2-40B4-BE49-F238E27FC236}">
                <a16:creationId xmlns:a16="http://schemas.microsoft.com/office/drawing/2014/main" id="{15ADE64E-B6C9-4DCF-AF93-C5C6E73C9AEC}"/>
              </a:ext>
            </a:extLst>
          </p:cNvPr>
          <p:cNvSpPr>
            <a:spLocks xmlns:a="http://schemas.openxmlformats.org/drawingml/2006/main" noGrp="1"/>
          </p:cNvSpPr>
          <p:nvPr/>
        </p:nvSpPr>
        <p:spPr>
          <a:xfrm xmlns:a="http://schemas.openxmlformats.org/drawingml/2006/main">
            <a:off x="571500" y="5943600"/>
            <a:ext cx="10953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CCDADF"/>
                </a:solidFill>
                <a:latin typeface="Arial"/>
                <a:ea typeface="Arial"/>
                <a:cs typeface="Arial"/>
              </a:defRPr>
            </a:pPr>
            <a:r>
              <a:rPr sz="1725" b="0">
                <a:solidFill>
                  <a:srgbClr val="CCDADF"/>
                </a:solidFill>
                <a:latin typeface="Arial"/>
                <a:ea typeface="Arial"/>
                <a:cs typeface="Arial"/>
              </a:rPr>
              <a:t>Dataset: github.com/LLMauthorbench/LLMauthorbench</a:t>
            </a:r>
          </a:p>
        </p:txBody>
      </p:sp>
    </p:spTree>
    <p:extLst>
      <p:ext uri="{BB962C8B-B14F-4D97-AF65-F5344CB8AC3E}">
        <p14:creationId xmlns:p14="http://schemas.microsoft.com/office/powerpoint/2010/main" val="565491246"/>
      </p:ext>
    </p:extLst>
  </p:cSld>
</p:sld>
</file>

<file path=ppt/slides/slide2.xml><?xml version="1.0" encoding="utf-8"?>
<p:sld xmlns:p="http://schemas.openxmlformats.org/presentationml/2006/main">
  <p:cSld>
    <p:bg>
      <p:bgPr>
        <a:solidFill xmlns:a="http://schemas.openxmlformats.org/drawingml/2006/main">
          <a:srgbClr val="F7FA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FB807D2-B071-451C-A09B-629037517C9F}"/>
              </a:ext>
            </a:extLst>
          </p:cNvPr>
          <p:cNvSpPr>
            <a:spLocks xmlns:a="http://schemas.openxmlformats.org/drawingml/2006/main" noGrp="1"/>
          </p:cNvSpPr>
          <p:nvPr/>
        </p:nvSpPr>
        <p:spPr>
          <a:xfrm xmlns:a="http://schemas.openxmlformats.org/drawingml/2006/main">
            <a:off x="571500" y="400050"/>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52E38"/>
                </a:solidFill>
                <a:latin typeface="Arial"/>
                <a:ea typeface="Arial"/>
                <a:cs typeface="Arial"/>
              </a:defRPr>
            </a:pPr>
            <a:r>
              <a:rPr sz="3300" b="1">
                <a:solidFill>
                  <a:srgbClr val="152E38"/>
                </a:solidFill>
                <a:latin typeface="Arial"/>
                <a:ea typeface="Arial"/>
                <a:cs typeface="Arial"/>
              </a:rPr>
              <a:t>Problem families stay in one split</a:t>
            </a:r>
          </a:p>
        </p:txBody>
      </p:sp>
      <p:sp>
        <p:nvSpPr>
          <p:cNvPr id="2" name="">
            <a:extLst xmlns:a="http://schemas.openxmlformats.org/drawingml/2006/main">
              <a:ext uri="{FF2B5EF4-FFF2-40B4-BE49-F238E27FC236}">
                <a16:creationId xmlns:a16="http://schemas.microsoft.com/office/drawing/2014/main" id="{C49858A7-73DB-49D1-B0C9-F4C9B43AE6AB}"/>
              </a:ext>
            </a:extLst>
          </p:cNvPr>
          <p:cNvSpPr>
            <a:spLocks xmlns:a="http://schemas.openxmlformats.org/drawingml/2006/main" noGrp="1"/>
          </p:cNvSpPr>
          <p:nvPr/>
        </p:nvSpPr>
        <p:spPr>
          <a:xfrm xmlns:a="http://schemas.openxmlformats.org/drawingml/2006/main">
            <a:off x="571500" y="137160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117C83"/>
                </a:solidFill>
                <a:latin typeface="Arial"/>
                <a:ea typeface="Arial"/>
                <a:cs typeface="Arial"/>
              </a:defRPr>
            </a:pPr>
            <a:r>
              <a:rPr sz="2100" b="1">
                <a:solidFill>
                  <a:srgbClr val="117C83"/>
                </a:solidFill>
                <a:latin typeface="Arial"/>
                <a:ea typeface="Arial"/>
                <a:cs typeface="Arial"/>
              </a:rPr>
              <a:t>259 inferred families group prompt parameters and audited task variants</a:t>
            </a:r>
          </a:p>
        </p:txBody>
      </p:sp>
      <p:graphicFrame>
        <p:nvGraphicFramePr>
          <p:cNvPr id="10" name=""/>
          <p:cNvGraphicFramePr/>
          <p:nvPr/>
        </p:nvGraphicFramePr>
        <p:xfrm>
          <a:off xmlns:a="http://schemas.openxmlformats.org/drawingml/2006/main" x="571500" y="2047875"/>
          <a:ext xmlns:a="http://schemas.openxmlformats.org/drawingml/2006/main" cx="5429250" cy="2476500"/>
        </p:xfrm>
        <a:graphic xmlns:a="http://schemas.openxmlformats.org/drawingml/2006/main">
          <a:graphicData uri="http://schemas.openxmlformats.org/drawingml/2006/table">
            <a:tbl>
              <a:tblPr/>
              <a:tblGrid>
                <a:gridCol w="2333625"/>
                <a:gridCol w="1428750"/>
                <a:gridCol w="1666875"/>
              </a:tblGrid>
              <a:tr h="619125">
                <a:tc>
                  <a:txBody>
                    <a:bodyPr>
                      <a:noAutofit/>
                    </a:bodyPr>
                    <a:lstStyle/>
                    <a:p>
                      <a:pPr algn="l"/>
                      <a:r>
                        <a:rPr sz="1875" b="1">
                          <a:solidFill>
                            <a:srgbClr val="FFFFFF"/>
                          </a:solidFill>
                          <a:latin typeface="Arial"/>
                          <a:ea typeface="Arial"/>
                          <a:cs typeface="Arial"/>
                        </a:rPr>
                        <a:t>Split</a:t>
                      </a:r>
                    </a:p>
                  </a:txBody>
                  <a:tcPr marL="91440" marR="91440" marT="45720" marB="45720">
                    <a:solidFill>
                      <a:srgbClr val="152E38"/>
                    </a:solidFill>
                  </a:tcPr>
                </a:tc>
                <a:tc>
                  <a:txBody>
                    <a:bodyPr>
                      <a:noAutofit/>
                    </a:bodyPr>
                    <a:lstStyle/>
                    <a:p>
                      <a:pPr algn="ctr"/>
                      <a:r>
                        <a:rPr sz="1875" b="1">
                          <a:solidFill>
                            <a:srgbClr val="FFFFFF"/>
                          </a:solidFill>
                          <a:latin typeface="Arial"/>
                          <a:ea typeface="Arial"/>
                          <a:cs typeface="Arial"/>
                        </a:rPr>
                        <a:t>Families</a:t>
                      </a:r>
                    </a:p>
                  </a:txBody>
                  <a:tcPr marL="91440" marR="91440" marT="45720" marB="45720">
                    <a:solidFill>
                      <a:srgbClr val="152E38"/>
                    </a:solidFill>
                  </a:tcPr>
                </a:tc>
                <a:tc>
                  <a:txBody>
                    <a:bodyPr>
                      <a:noAutofit/>
                    </a:bodyPr>
                    <a:lstStyle/>
                    <a:p>
                      <a:pPr algn="ctr"/>
                      <a:r>
                        <a:rPr sz="1875" b="1">
                          <a:solidFill>
                            <a:srgbClr val="FFFFFF"/>
                          </a:solidFill>
                          <a:latin typeface="Arial"/>
                          <a:ea typeface="Arial"/>
                          <a:cs typeface="Arial"/>
                        </a:rPr>
                        <a:t>Programs</a:t>
                      </a:r>
                    </a:p>
                  </a:txBody>
                  <a:tcPr marL="91440" marR="91440" marT="45720" marB="45720">
                    <a:solidFill>
                      <a:srgbClr val="152E38"/>
                    </a:solidFill>
                  </a:tcPr>
                </a:tc>
              </a:tr>
              <a:tr h="619125">
                <a:tc>
                  <a:txBody>
                    <a:bodyPr>
                      <a:noAutofit/>
                    </a:bodyPr>
                    <a:lstStyle/>
                    <a:p>
                      <a:pPr algn="l"/>
                      <a:r>
                        <a:rPr sz="1950" b="0">
                          <a:solidFill>
                            <a:srgbClr val="152E38"/>
                          </a:solidFill>
                          <a:latin typeface="Arial"/>
                          <a:ea typeface="Arial"/>
                          <a:cs typeface="Arial"/>
                        </a:rPr>
                        <a:t>Train</a:t>
                      </a:r>
                    </a:p>
                  </a:txBody>
                  <a:tcPr marL="91440" marR="91440" marT="45720" marB="45720">
                    <a:solidFill>
                      <a:srgbClr val="FFFFFF"/>
                    </a:solidFill>
                  </a:tcPr>
                </a:tc>
                <a:tc>
                  <a:txBody>
                    <a:bodyPr>
                      <a:noAutofit/>
                    </a:bodyPr>
                    <a:lstStyle/>
                    <a:p>
                      <a:pPr algn="ctr"/>
                      <a:r>
                        <a:rPr sz="1950" b="0">
                          <a:solidFill>
                            <a:srgbClr val="152E38"/>
                          </a:solidFill>
                          <a:latin typeface="Arial"/>
                          <a:ea typeface="Arial"/>
                          <a:cs typeface="Arial"/>
                        </a:rPr>
                        <a:t>181</a:t>
                      </a:r>
                    </a:p>
                  </a:txBody>
                  <a:tcPr marL="91440" marR="91440" marT="45720" marB="45720">
                    <a:solidFill>
                      <a:srgbClr val="FFFFFF"/>
                    </a:solidFill>
                  </a:tcPr>
                </a:tc>
                <a:tc>
                  <a:txBody>
                    <a:bodyPr>
                      <a:noAutofit/>
                    </a:bodyPr>
                    <a:lstStyle/>
                    <a:p>
                      <a:pPr algn="ctr"/>
                      <a:r>
                        <a:rPr sz="1950" b="0">
                          <a:solidFill>
                            <a:srgbClr val="152E38"/>
                          </a:solidFill>
                          <a:latin typeface="Arial"/>
                          <a:ea typeface="Arial"/>
                          <a:cs typeface="Arial"/>
                        </a:rPr>
                        <a:t>21,115</a:t>
                      </a:r>
                    </a:p>
                  </a:txBody>
                  <a:tcPr marL="91440" marR="91440" marT="45720" marB="45720">
                    <a:solidFill>
                      <a:srgbClr val="FFFFFF"/>
                    </a:solidFill>
                  </a:tcPr>
                </a:tc>
              </a:tr>
              <a:tr h="619125">
                <a:tc>
                  <a:txBody>
                    <a:bodyPr>
                      <a:noAutofit/>
                    </a:bodyPr>
                    <a:lstStyle/>
                    <a:p>
                      <a:pPr algn="l"/>
                      <a:r>
                        <a:rPr sz="1950" b="0">
                          <a:solidFill>
                            <a:srgbClr val="152E38"/>
                          </a:solidFill>
                          <a:latin typeface="Arial"/>
                          <a:ea typeface="Arial"/>
                          <a:cs typeface="Arial"/>
                        </a:rPr>
                        <a:t>Validation</a:t>
                      </a:r>
                    </a:p>
                  </a:txBody>
                  <a:tcPr marL="91440" marR="91440" marT="45720" marB="45720">
                    <a:solidFill>
                      <a:srgbClr val="FFFFFF"/>
                    </a:solidFill>
                  </a:tcPr>
                </a:tc>
                <a:tc>
                  <a:txBody>
                    <a:bodyPr>
                      <a:noAutofit/>
                    </a:bodyPr>
                    <a:lstStyle/>
                    <a:p>
                      <a:pPr algn="ctr"/>
                      <a:r>
                        <a:rPr sz="1950" b="0">
                          <a:solidFill>
                            <a:srgbClr val="152E38"/>
                          </a:solidFill>
                          <a:latin typeface="Arial"/>
                          <a:ea typeface="Arial"/>
                          <a:cs typeface="Arial"/>
                        </a:rPr>
                        <a:t>38</a:t>
                      </a:r>
                    </a:p>
                  </a:txBody>
                  <a:tcPr marL="91440" marR="91440" marT="45720" marB="45720">
                    <a:solidFill>
                      <a:srgbClr val="FFFFFF"/>
                    </a:solidFill>
                  </a:tcPr>
                </a:tc>
                <a:tc>
                  <a:txBody>
                    <a:bodyPr>
                      <a:noAutofit/>
                    </a:bodyPr>
                    <a:lstStyle/>
                    <a:p>
                      <a:pPr algn="ctr"/>
                      <a:r>
                        <a:rPr sz="1950" b="0">
                          <a:solidFill>
                            <a:srgbClr val="152E38"/>
                          </a:solidFill>
                          <a:latin typeface="Arial"/>
                          <a:ea typeface="Arial"/>
                          <a:cs typeface="Arial"/>
                        </a:rPr>
                        <a:t>4,777</a:t>
                      </a:r>
                    </a:p>
                  </a:txBody>
                  <a:tcPr marL="91440" marR="91440" marT="45720" marB="45720">
                    <a:solidFill>
                      <a:srgbClr val="FFFFFF"/>
                    </a:solidFill>
                  </a:tcPr>
                </a:tc>
              </a:tr>
              <a:tr h="619125">
                <a:tc>
                  <a:txBody>
                    <a:bodyPr>
                      <a:noAutofit/>
                    </a:bodyPr>
                    <a:lstStyle/>
                    <a:p>
                      <a:pPr algn="l"/>
                      <a:r>
                        <a:rPr sz="1950" b="0">
                          <a:solidFill>
                            <a:srgbClr val="152E38"/>
                          </a:solidFill>
                          <a:latin typeface="Arial"/>
                          <a:ea typeface="Arial"/>
                          <a:cs typeface="Arial"/>
                        </a:rPr>
                        <a:t>Test</a:t>
                      </a:r>
                    </a:p>
                  </a:txBody>
                  <a:tcPr marL="91440" marR="91440" marT="45720" marB="45720">
                    <a:solidFill>
                      <a:srgbClr val="FFFFFF"/>
                    </a:solidFill>
                  </a:tcPr>
                </a:tc>
                <a:tc>
                  <a:txBody>
                    <a:bodyPr>
                      <a:noAutofit/>
                    </a:bodyPr>
                    <a:lstStyle/>
                    <a:p>
                      <a:pPr algn="ctr"/>
                      <a:r>
                        <a:rPr sz="1950" b="0">
                          <a:solidFill>
                            <a:srgbClr val="152E38"/>
                          </a:solidFill>
                          <a:latin typeface="Arial"/>
                          <a:ea typeface="Arial"/>
                          <a:cs typeface="Arial"/>
                        </a:rPr>
                        <a:t>40</a:t>
                      </a:r>
                    </a:p>
                  </a:txBody>
                  <a:tcPr marL="91440" marR="91440" marT="45720" marB="45720">
                    <a:solidFill>
                      <a:srgbClr val="FFFFFF"/>
                    </a:solidFill>
                  </a:tcPr>
                </a:tc>
                <a:tc>
                  <a:txBody>
                    <a:bodyPr>
                      <a:noAutofit/>
                    </a:bodyPr>
                    <a:lstStyle/>
                    <a:p>
                      <a:pPr algn="ctr"/>
                      <a:r>
                        <a:rPr sz="1950" b="0">
                          <a:solidFill>
                            <a:srgbClr val="152E38"/>
                          </a:solidFill>
                          <a:latin typeface="Arial"/>
                          <a:ea typeface="Arial"/>
                          <a:cs typeface="Arial"/>
                        </a:rPr>
                        <a:t>6,108</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142E5B5-257C-4996-996A-B78AF29AE68D}"/>
              </a:ext>
            </a:extLst>
          </p:cNvPr>
          <p:cNvSpPr>
            <a:spLocks xmlns:a="http://schemas.openxmlformats.org/drawingml/2006/main" noGrp="1"/>
          </p:cNvSpPr>
          <p:nvPr/>
        </p:nvSpPr>
        <p:spPr>
          <a:xfrm xmlns:a="http://schemas.openxmlformats.org/drawingml/2006/main">
            <a:off x="6553200" y="2057400"/>
            <a:ext cx="4953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152E38"/>
                </a:solidFill>
                <a:latin typeface="Arial"/>
                <a:ea typeface="Arial"/>
                <a:cs typeface="Arial"/>
              </a:defRPr>
            </a:pPr>
            <a:r>
              <a:rPr sz="2100" b="1">
                <a:solidFill>
                  <a:srgbClr val="152E38"/>
                </a:solidFill>
                <a:latin typeface="Arial"/>
                <a:ea typeface="Arial"/>
                <a:cs typeface="Arial"/>
              </a:rPr>
              <a:t>50,000 character TF-IDF features</a:t>
            </a:r>
          </a:p>
          <a:p xmlns:a="http://schemas.openxmlformats.org/drawingml/2006/main">
            <a:pPr>
              <a:defRPr sz="2100" b="1">
                <a:solidFill>
                  <a:srgbClr val="152E38"/>
                </a:solidFill>
                <a:latin typeface="Arial"/>
                <a:ea typeface="Arial"/>
                <a:cs typeface="Arial"/>
              </a:defRPr>
            </a:pPr>
            <a:r>
              <a:rPr sz="2100" b="1">
                <a:solidFill>
                  <a:srgbClr val="152E38"/>
                </a:solidFill>
                <a:latin typeface="Arial"/>
                <a:ea typeface="Arial"/>
                <a:cs typeface="Arial"/>
              </a:rPr>
              <a:t>Fit on training code only</a:t>
            </a:r>
          </a:p>
        </p:txBody>
      </p:sp>
      <p:sp>
        <p:nvSpPr>
          <p:cNvPr id="5" name="">
            <a:extLst xmlns:a="http://schemas.openxmlformats.org/drawingml/2006/main">
              <a:ext uri="{FF2B5EF4-FFF2-40B4-BE49-F238E27FC236}">
                <a16:creationId xmlns:a16="http://schemas.microsoft.com/office/drawing/2014/main" id="{69F6EE2F-8A0F-4285-B3DD-7EDBC589CC17}"/>
              </a:ext>
            </a:extLst>
          </p:cNvPr>
          <p:cNvSpPr>
            <a:spLocks xmlns:a="http://schemas.openxmlformats.org/drawingml/2006/main" noGrp="1"/>
          </p:cNvSpPr>
          <p:nvPr/>
        </p:nvSpPr>
        <p:spPr>
          <a:xfrm xmlns:a="http://schemas.openxmlformats.org/drawingml/2006/main">
            <a:off x="6553200" y="3190875"/>
            <a:ext cx="4953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52E38"/>
                </a:solidFill>
                <a:latin typeface="Arial"/>
                <a:ea typeface="Arial"/>
                <a:cs typeface="Arial"/>
              </a:defRPr>
            </a:pPr>
            <a:r>
              <a:rPr sz="2025" b="0">
                <a:solidFill>
                  <a:srgbClr val="152E38"/>
                </a:solidFill>
                <a:latin typeface="Arial"/>
                <a:ea typeface="Arial"/>
                <a:cs typeface="Arial"/>
              </a:rPr>
              <a:t>0 empty or malformed records</a:t>
            </a:r>
          </a:p>
          <a:p xmlns:a="http://schemas.openxmlformats.org/drawingml/2006/main">
            <a:pPr>
              <a:defRPr sz="2025" b="0">
                <a:solidFill>
                  <a:srgbClr val="152E38"/>
                </a:solidFill>
                <a:latin typeface="Arial"/>
                <a:ea typeface="Arial"/>
                <a:cs typeface="Arial"/>
              </a:defRPr>
            </a:pPr>
            <a:r>
              <a:rPr sz="2025" b="0">
                <a:solidFill>
                  <a:srgbClr val="152E38"/>
                </a:solidFill>
                <a:latin typeface="Arial"/>
                <a:ea typeface="Arial"/>
                <a:cs typeface="Arial"/>
              </a:rPr>
              <a:t>0 exact source duplicates</a:t>
            </a:r>
          </a:p>
          <a:p xmlns:a="http://schemas.openxmlformats.org/drawingml/2006/main">
            <a:pPr>
              <a:defRPr sz="2025" b="0">
                <a:solidFill>
                  <a:srgbClr val="152E38"/>
                </a:solidFill>
                <a:latin typeface="Arial"/>
                <a:ea typeface="Arial"/>
                <a:cs typeface="Arial"/>
              </a:defRPr>
            </a:pPr>
            <a:r>
              <a:rPr sz="2025" b="0">
                <a:solidFill>
                  <a:srgbClr val="152E38"/>
                </a:solidFill>
                <a:latin typeface="Arial"/>
                <a:ea typeface="Arial"/>
                <a:cs typeface="Arial"/>
              </a:rPr>
              <a:t>Comments and identifiers retained</a:t>
            </a:r>
          </a:p>
        </p:txBody>
      </p:sp>
      <p:sp>
        <p:nvSpPr>
          <p:cNvPr id="6" name="">
            <a:extLst xmlns:a="http://schemas.openxmlformats.org/drawingml/2006/main">
              <a:ext uri="{FF2B5EF4-FFF2-40B4-BE49-F238E27FC236}">
                <a16:creationId xmlns:a16="http://schemas.microsoft.com/office/drawing/2014/main" id="{CC7C1E0E-227F-43CB-B58E-88091FE1E379}"/>
              </a:ext>
            </a:extLst>
          </p:cNvPr>
          <p:cNvSpPr>
            <a:spLocks xmlns:a="http://schemas.openxmlformats.org/drawingml/2006/main" noGrp="1"/>
          </p:cNvSpPr>
          <p:nvPr/>
        </p:nvSpPr>
        <p:spPr>
          <a:xfrm xmlns:a="http://schemas.openxmlformats.org/drawingml/2006/main">
            <a:off x="571500" y="4933950"/>
            <a:ext cx="1100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52E38"/>
                </a:solidFill>
                <a:latin typeface="Arial"/>
                <a:ea typeface="Arial"/>
                <a:cs typeface="Arial"/>
              </a:defRPr>
            </a:pPr>
            <a:r>
              <a:rPr sz="2025" b="0">
                <a:solidFill>
                  <a:srgbClr val="152E38"/>
                </a:solidFill>
                <a:latin typeface="Arial"/>
                <a:ea typeface="Arial"/>
                <a:cs typeface="Arial"/>
              </a:rPr>
              <a:t>Disjoint groups, exact prompts and code hashes pass assertions.</a:t>
            </a:r>
          </a:p>
          <a:p xmlns:a="http://schemas.openxmlformats.org/drawingml/2006/main">
            <a:pPr>
              <a:defRPr sz="2025" b="0">
                <a:solidFill>
                  <a:srgbClr val="152E38"/>
                </a:solidFill>
                <a:latin typeface="Arial"/>
                <a:ea typeface="Arial"/>
                <a:cs typeface="Arial"/>
              </a:defRPr>
            </a:pPr>
            <a:r>
              <a:rPr sz="2025" b="0">
                <a:solidFill>
                  <a:srgbClr val="152E38"/>
                </a:solidFill>
                <a:latin typeface="Arial"/>
                <a:ea typeface="Arial"/>
                <a:cs typeface="Arial"/>
              </a:rPr>
              <a:t>The dataset has no authoritative task IDs, so semantic overlap remains a limitation.</a:t>
            </a:r>
          </a:p>
        </p:txBody>
      </p:sp>
      <p:sp>
        <p:nvSpPr>
          <p:cNvPr id="7" name="">
            <a:extLst xmlns:a="http://schemas.openxmlformats.org/drawingml/2006/main">
              <a:ext uri="{FF2B5EF4-FFF2-40B4-BE49-F238E27FC236}">
                <a16:creationId xmlns:a16="http://schemas.microsoft.com/office/drawing/2014/main" id="{2F17F7C3-1453-4D86-A5B2-ED855DD60DAF}"/>
              </a:ext>
            </a:extLst>
          </p:cNvPr>
          <p:cNvSpPr>
            <a:spLocks xmlns:a="http://schemas.openxmlformats.org/drawingml/2006/main" noGrp="1"/>
          </p:cNvSpPr>
          <p:nvPr/>
        </p:nvSpPr>
        <p:spPr>
          <a:xfrm xmlns:a="http://schemas.openxmlformats.org/drawingml/2006/main">
            <a:off x="571500" y="6105525"/>
            <a:ext cx="10953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825A20"/>
                </a:solidFill>
                <a:latin typeface="Arial"/>
                <a:ea typeface="Arial"/>
                <a:cs typeface="Arial"/>
              </a:defRPr>
            </a:pPr>
            <a:r>
              <a:rPr sz="1725" b="0">
                <a:solidFill>
                  <a:srgbClr val="825A20"/>
                </a:solidFill>
                <a:latin typeface="Arial"/>
                <a:ea typeface="Arial"/>
                <a:cs typeface="Arial"/>
              </a:rPr>
              <a:t>Research-use licence and instructor dataset claim remain unconfirmed.</a:t>
            </a:r>
          </a:p>
        </p:txBody>
      </p:sp>
    </p:spTree>
    <p:extLst>
      <p:ext uri="{BB962C8B-B14F-4D97-AF65-F5344CB8AC3E}">
        <p14:creationId xmlns:p14="http://schemas.microsoft.com/office/powerpoint/2010/main" val="1800346190"/>
      </p:ext>
    </p:extLst>
  </p:cSld>
</p:sld>
</file>

<file path=ppt/slides/slide3.xml><?xml version="1.0" encoding="utf-8"?>
<p:sld xmlns:p="http://schemas.openxmlformats.org/presentationml/2006/main">
  <p:cSld>
    <p:bg>
      <p:bgPr>
        <a:solidFill xmlns:a="http://schemas.openxmlformats.org/drawingml/2006/main">
          <a:srgbClr val="F7FAF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782DEF9-5B78-41A7-9E1C-2C2F38330756}"/>
              </a:ext>
            </a:extLst>
          </p:cNvPr>
          <p:cNvSpPr>
            <a:spLocks xmlns:a="http://schemas.openxmlformats.org/drawingml/2006/main" noGrp="1"/>
          </p:cNvSpPr>
          <p:nvPr/>
        </p:nvSpPr>
        <p:spPr>
          <a:xfrm xmlns:a="http://schemas.openxmlformats.org/drawingml/2006/main">
            <a:off x="571500" y="400050"/>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52E38"/>
                </a:solidFill>
                <a:latin typeface="Arial"/>
                <a:ea typeface="Arial"/>
                <a:cs typeface="Arial"/>
              </a:defRPr>
            </a:pPr>
            <a:r>
              <a:rPr sz="3300" b="1">
                <a:solidFill>
                  <a:srgbClr val="152E38"/>
                </a:solidFill>
                <a:latin typeface="Arial"/>
                <a:ea typeface="Arial"/>
                <a:cs typeface="Arial"/>
              </a:rPr>
              <a:t>Four algorithms share the same evidence</a:t>
            </a:r>
          </a:p>
        </p:txBody>
      </p:sp>
      <p:sp>
        <p:nvSpPr>
          <p:cNvPr id="2" name="">
            <a:extLst xmlns:a="http://schemas.openxmlformats.org/drawingml/2006/main">
              <a:ext uri="{FF2B5EF4-FFF2-40B4-BE49-F238E27FC236}">
                <a16:creationId xmlns:a16="http://schemas.microsoft.com/office/drawing/2014/main" id="{F2AC0C52-5559-4905-9B81-CBECE9A98482}"/>
              </a:ext>
            </a:extLst>
          </p:cNvPr>
          <p:cNvSpPr>
            <a:spLocks xmlns:a="http://schemas.openxmlformats.org/drawingml/2006/main" noGrp="1"/>
          </p:cNvSpPr>
          <p:nvPr/>
        </p:nvSpPr>
        <p:spPr>
          <a:xfrm xmlns:a="http://schemas.openxmlformats.org/drawingml/2006/main">
            <a:off x="571500" y="1381125"/>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117C83"/>
                </a:solidFill>
                <a:latin typeface="Arial"/>
                <a:ea typeface="Arial"/>
                <a:cs typeface="Arial"/>
              </a:defRPr>
            </a:pPr>
            <a:r>
              <a:rPr sz="2250" b="1">
                <a:solidFill>
                  <a:srgbClr val="117C83"/>
                </a:solidFill>
                <a:latin typeface="Arial"/>
                <a:ea typeface="Arial"/>
                <a:cs typeface="Arial"/>
              </a:rPr>
              <a:t>C source text with comments and identifiers</a:t>
            </a:r>
          </a:p>
        </p:txBody>
      </p:sp>
      <p:sp>
        <p:nvSpPr>
          <p:cNvPr id="3" name="">
            <a:extLst xmlns:a="http://schemas.openxmlformats.org/drawingml/2006/main">
              <a:ext uri="{FF2B5EF4-FFF2-40B4-BE49-F238E27FC236}">
                <a16:creationId xmlns:a16="http://schemas.microsoft.com/office/drawing/2014/main" id="{DF6A6059-1321-418C-BF39-9C153ED84F44}"/>
              </a:ext>
            </a:extLst>
          </p:cNvPr>
          <p:cNvSpPr>
            <a:spLocks xmlns:a="http://schemas.openxmlformats.org/drawingml/2006/main" noGrp="1"/>
          </p:cNvSpPr>
          <p:nvPr/>
        </p:nvSpPr>
        <p:spPr>
          <a:xfrm xmlns:a="http://schemas.openxmlformats.org/drawingml/2006/main">
            <a:off x="571500" y="1943100"/>
            <a:ext cx="11049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152E38"/>
                </a:solidFill>
                <a:latin typeface="Arial"/>
                <a:ea typeface="Arial"/>
                <a:cs typeface="Arial"/>
              </a:defRPr>
            </a:pPr>
            <a:r>
              <a:rPr sz="2175" b="0">
                <a:solidFill>
                  <a:srgbClr val="152E38"/>
                </a:solidFill>
                <a:latin typeface="Arial"/>
                <a:ea typeface="Arial"/>
                <a:cs typeface="Arial"/>
              </a:rPr>
              <a:t>Character TF-IDF with 3–5 grams and sublinear term frequency</a:t>
            </a:r>
          </a:p>
        </p:txBody>
      </p:sp>
      <p:sp>
        <p:nvSpPr>
          <p:cNvPr id="4" name="">
            <a:extLst xmlns:a="http://schemas.openxmlformats.org/drawingml/2006/main">
              <a:ext uri="{FF2B5EF4-FFF2-40B4-BE49-F238E27FC236}">
                <a16:creationId xmlns:a16="http://schemas.microsoft.com/office/drawing/2014/main" id="{08C8D9F3-A4B5-45F2-AA1F-AF79DF5E81D5}"/>
              </a:ext>
            </a:extLst>
          </p:cNvPr>
          <p:cNvSpPr>
            <a:spLocks xmlns:a="http://schemas.openxmlformats.org/drawingml/2006/main" noGrp="1"/>
          </p:cNvSpPr>
          <p:nvPr/>
        </p:nvSpPr>
        <p:spPr>
          <a:xfrm xmlns:a="http://schemas.openxmlformats.org/drawingml/2006/main">
            <a:off x="571500" y="2838450"/>
            <a:ext cx="371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52E38"/>
                </a:solidFill>
                <a:latin typeface="Arial"/>
                <a:ea typeface="Arial"/>
                <a:cs typeface="Arial"/>
              </a:defRPr>
            </a:pPr>
            <a:r>
              <a:rPr sz="2175" b="1">
                <a:solidFill>
                  <a:srgbClr val="152E38"/>
                </a:solidFill>
                <a:latin typeface="Arial"/>
                <a:ea typeface="Arial"/>
                <a:cs typeface="Arial"/>
              </a:rPr>
              <a:t>Naive Bayes</a:t>
            </a:r>
          </a:p>
        </p:txBody>
      </p:sp>
      <p:sp>
        <p:nvSpPr>
          <p:cNvPr id="5" name="">
            <a:extLst xmlns:a="http://schemas.openxmlformats.org/drawingml/2006/main">
              <a:ext uri="{FF2B5EF4-FFF2-40B4-BE49-F238E27FC236}">
                <a16:creationId xmlns:a16="http://schemas.microsoft.com/office/drawing/2014/main" id="{FAB0D4E6-DD3A-4951-86EC-DB85C349C653}"/>
              </a:ext>
            </a:extLst>
          </p:cNvPr>
          <p:cNvSpPr>
            <a:spLocks xmlns:a="http://schemas.openxmlformats.org/drawingml/2006/main" noGrp="1"/>
          </p:cNvSpPr>
          <p:nvPr/>
        </p:nvSpPr>
        <p:spPr>
          <a:xfrm xmlns:a="http://schemas.openxmlformats.org/drawingml/2006/main">
            <a:off x="4667250" y="2838450"/>
            <a:ext cx="676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52E38"/>
                </a:solidFill>
                <a:latin typeface="Arial"/>
                <a:ea typeface="Arial"/>
                <a:cs typeface="Arial"/>
              </a:defRPr>
            </a:pPr>
            <a:r>
              <a:rPr sz="2025" b="0">
                <a:solidFill>
                  <a:srgbClr val="152E38"/>
                </a:solidFill>
                <a:latin typeface="Arial"/>
                <a:ea typeface="Arial"/>
                <a:cs typeface="Arial"/>
              </a:rPr>
              <a:t>Simple probabilistic baseline</a:t>
            </a:r>
          </a:p>
        </p:txBody>
      </p:sp>
      <p:sp>
        <p:nvSpPr>
          <p:cNvPr id="6" name="">
            <a:extLst xmlns:a="http://schemas.openxmlformats.org/drawingml/2006/main">
              <a:ext uri="{FF2B5EF4-FFF2-40B4-BE49-F238E27FC236}">
                <a16:creationId xmlns:a16="http://schemas.microsoft.com/office/drawing/2014/main" id="{3E697ED7-C06B-4790-B1CD-A3A6E98206BB}"/>
              </a:ext>
            </a:extLst>
          </p:cNvPr>
          <p:cNvSpPr>
            <a:spLocks xmlns:a="http://schemas.openxmlformats.org/drawingml/2006/main" noGrp="1"/>
          </p:cNvSpPr>
          <p:nvPr/>
        </p:nvSpPr>
        <p:spPr>
          <a:xfrm xmlns:a="http://schemas.openxmlformats.org/drawingml/2006/main">
            <a:off x="571500" y="3419475"/>
            <a:ext cx="371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52E38"/>
                </a:solidFill>
                <a:latin typeface="Arial"/>
                <a:ea typeface="Arial"/>
                <a:cs typeface="Arial"/>
              </a:defRPr>
            </a:pPr>
            <a:r>
              <a:rPr sz="2175" b="1">
                <a:solidFill>
                  <a:srgbClr val="152E38"/>
                </a:solidFill>
                <a:latin typeface="Arial"/>
                <a:ea typeface="Arial"/>
                <a:cs typeface="Arial"/>
              </a:rPr>
              <a:t>Logistic Regression</a:t>
            </a:r>
          </a:p>
        </p:txBody>
      </p:sp>
      <p:sp>
        <p:nvSpPr>
          <p:cNvPr id="7" name="">
            <a:extLst xmlns:a="http://schemas.openxmlformats.org/drawingml/2006/main">
              <a:ext uri="{FF2B5EF4-FFF2-40B4-BE49-F238E27FC236}">
                <a16:creationId xmlns:a16="http://schemas.microsoft.com/office/drawing/2014/main" id="{A6A9F347-20EA-4B08-B629-72E35BD1FF90}"/>
              </a:ext>
            </a:extLst>
          </p:cNvPr>
          <p:cNvSpPr>
            <a:spLocks xmlns:a="http://schemas.openxmlformats.org/drawingml/2006/main" noGrp="1"/>
          </p:cNvSpPr>
          <p:nvPr/>
        </p:nvSpPr>
        <p:spPr>
          <a:xfrm xmlns:a="http://schemas.openxmlformats.org/drawingml/2006/main">
            <a:off x="4667250" y="3419475"/>
            <a:ext cx="676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52E38"/>
                </a:solidFill>
                <a:latin typeface="Arial"/>
                <a:ea typeface="Arial"/>
                <a:cs typeface="Arial"/>
              </a:defRPr>
            </a:pPr>
            <a:r>
              <a:rPr sz="2025" b="0">
                <a:solidFill>
                  <a:srgbClr val="152E38"/>
                </a:solidFill>
                <a:latin typeface="Arial"/>
                <a:ea typeface="Arial"/>
                <a:cs typeface="Arial"/>
              </a:rPr>
              <a:t>Regularized linear comparison</a:t>
            </a:r>
          </a:p>
        </p:txBody>
      </p:sp>
      <p:sp>
        <p:nvSpPr>
          <p:cNvPr id="8" name="">
            <a:extLst xmlns:a="http://schemas.openxmlformats.org/drawingml/2006/main">
              <a:ext uri="{FF2B5EF4-FFF2-40B4-BE49-F238E27FC236}">
                <a16:creationId xmlns:a16="http://schemas.microsoft.com/office/drawing/2014/main" id="{C40CDA4C-C002-4539-AE9B-B3AF6DCCE120}"/>
              </a:ext>
            </a:extLst>
          </p:cNvPr>
          <p:cNvSpPr>
            <a:spLocks xmlns:a="http://schemas.openxmlformats.org/drawingml/2006/main" noGrp="1"/>
          </p:cNvSpPr>
          <p:nvPr/>
        </p:nvSpPr>
        <p:spPr>
          <a:xfrm xmlns:a="http://schemas.openxmlformats.org/drawingml/2006/main">
            <a:off x="571500" y="4000500"/>
            <a:ext cx="371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52E38"/>
                </a:solidFill>
                <a:latin typeface="Arial"/>
                <a:ea typeface="Arial"/>
                <a:cs typeface="Arial"/>
              </a:defRPr>
            </a:pPr>
            <a:r>
              <a:rPr sz="2175" b="1">
                <a:solidFill>
                  <a:srgbClr val="152E38"/>
                </a:solidFill>
                <a:latin typeface="Arial"/>
                <a:ea typeface="Arial"/>
                <a:cs typeface="Arial"/>
              </a:rPr>
              <a:t>Linear SVM</a:t>
            </a:r>
          </a:p>
        </p:txBody>
      </p:sp>
      <p:sp>
        <p:nvSpPr>
          <p:cNvPr id="9" name="">
            <a:extLst xmlns:a="http://schemas.openxmlformats.org/drawingml/2006/main">
              <a:ext uri="{FF2B5EF4-FFF2-40B4-BE49-F238E27FC236}">
                <a16:creationId xmlns:a16="http://schemas.microsoft.com/office/drawing/2014/main" id="{4077E8EB-B219-4E75-9C79-0B50E312081C}"/>
              </a:ext>
            </a:extLst>
          </p:cNvPr>
          <p:cNvSpPr>
            <a:spLocks xmlns:a="http://schemas.openxmlformats.org/drawingml/2006/main" noGrp="1"/>
          </p:cNvSpPr>
          <p:nvPr/>
        </p:nvSpPr>
        <p:spPr>
          <a:xfrm xmlns:a="http://schemas.openxmlformats.org/drawingml/2006/main">
            <a:off x="4667250" y="4000500"/>
            <a:ext cx="676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52E38"/>
                </a:solidFill>
                <a:latin typeface="Arial"/>
                <a:ea typeface="Arial"/>
                <a:cs typeface="Arial"/>
              </a:defRPr>
            </a:pPr>
            <a:r>
              <a:rPr sz="2025" b="0">
                <a:solidFill>
                  <a:srgbClr val="152E38"/>
                </a:solidFill>
                <a:latin typeface="Arial"/>
                <a:ea typeface="Arial"/>
                <a:cs typeface="Arial"/>
              </a:rPr>
              <a:t>Margin-based linear comparison</a:t>
            </a:r>
          </a:p>
        </p:txBody>
      </p:sp>
      <p:sp>
        <p:nvSpPr>
          <p:cNvPr id="10" name="">
            <a:extLst xmlns:a="http://schemas.openxmlformats.org/drawingml/2006/main">
              <a:ext uri="{FF2B5EF4-FFF2-40B4-BE49-F238E27FC236}">
                <a16:creationId xmlns:a16="http://schemas.microsoft.com/office/drawing/2014/main" id="{854A28C2-3BB1-431B-BD0A-E61EC6A66B16}"/>
              </a:ext>
            </a:extLst>
          </p:cNvPr>
          <p:cNvSpPr>
            <a:spLocks xmlns:a="http://schemas.openxmlformats.org/drawingml/2006/main" noGrp="1"/>
          </p:cNvSpPr>
          <p:nvPr/>
        </p:nvSpPr>
        <p:spPr>
          <a:xfrm xmlns:a="http://schemas.openxmlformats.org/drawingml/2006/main">
            <a:off x="571500" y="4581525"/>
            <a:ext cx="371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52E38"/>
                </a:solidFill>
                <a:latin typeface="Arial"/>
                <a:ea typeface="Arial"/>
                <a:cs typeface="Arial"/>
              </a:defRPr>
            </a:pPr>
            <a:r>
              <a:rPr sz="2175" b="1">
                <a:solidFill>
                  <a:srgbClr val="152E38"/>
                </a:solidFill>
                <a:latin typeface="Arial"/>
                <a:ea typeface="Arial"/>
                <a:cs typeface="Arial"/>
              </a:rPr>
              <a:t>Random Forest</a:t>
            </a:r>
          </a:p>
        </p:txBody>
      </p:sp>
      <p:sp>
        <p:nvSpPr>
          <p:cNvPr id="11" name="">
            <a:extLst xmlns:a="http://schemas.openxmlformats.org/drawingml/2006/main">
              <a:ext uri="{FF2B5EF4-FFF2-40B4-BE49-F238E27FC236}">
                <a16:creationId xmlns:a16="http://schemas.microsoft.com/office/drawing/2014/main" id="{9E6BAE47-FEDD-4B61-B0A4-19E6AEF96DCB}"/>
              </a:ext>
            </a:extLst>
          </p:cNvPr>
          <p:cNvSpPr>
            <a:spLocks xmlns:a="http://schemas.openxmlformats.org/drawingml/2006/main" noGrp="1"/>
          </p:cNvSpPr>
          <p:nvPr/>
        </p:nvSpPr>
        <p:spPr>
          <a:xfrm xmlns:a="http://schemas.openxmlformats.org/drawingml/2006/main">
            <a:off x="4667250" y="4581525"/>
            <a:ext cx="676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52E38"/>
                </a:solidFill>
                <a:latin typeface="Arial"/>
                <a:ea typeface="Arial"/>
                <a:cs typeface="Arial"/>
              </a:defRPr>
            </a:pPr>
            <a:r>
              <a:rPr sz="2025" b="0">
                <a:solidFill>
                  <a:srgbClr val="152E38"/>
                </a:solidFill>
                <a:latin typeface="Arial"/>
                <a:ea typeface="Arial"/>
                <a:cs typeface="Arial"/>
              </a:rPr>
              <a:t>Nonlinear tree ensemble comparison</a:t>
            </a:r>
          </a:p>
        </p:txBody>
      </p:sp>
      <p:sp>
        <p:nvSpPr>
          <p:cNvPr id="12" name="">
            <a:extLst xmlns:a="http://schemas.openxmlformats.org/drawingml/2006/main">
              <a:ext uri="{FF2B5EF4-FFF2-40B4-BE49-F238E27FC236}">
                <a16:creationId xmlns:a16="http://schemas.microsoft.com/office/drawing/2014/main" id="{CBE77AC6-1F04-4033-8CF2-FFE1B6C4F324}"/>
              </a:ext>
            </a:extLst>
          </p:cNvPr>
          <p:cNvSpPr>
            <a:spLocks xmlns:a="http://schemas.openxmlformats.org/drawingml/2006/main" noGrp="1"/>
          </p:cNvSpPr>
          <p:nvPr/>
        </p:nvSpPr>
        <p:spPr>
          <a:xfrm xmlns:a="http://schemas.openxmlformats.org/drawingml/2006/main">
            <a:off x="571500" y="544830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52E38"/>
                </a:solidFill>
                <a:latin typeface="Arial"/>
                <a:ea typeface="Arial"/>
                <a:cs typeface="Arial"/>
              </a:defRPr>
            </a:pPr>
            <a:r>
              <a:rPr sz="2025" b="0">
                <a:solidFill>
                  <a:srgbClr val="152E38"/>
                </a:solidFill>
                <a:latin typeface="Arial"/>
                <a:ea typeface="Arial"/>
                <a:cs typeface="Arial"/>
              </a:rPr>
              <a:t>Same split and matrices. Seed 42 where supported. No tuning search.</a:t>
            </a:r>
          </a:p>
          <a:p xmlns:a="http://schemas.openxmlformats.org/drawingml/2006/main">
            <a:pPr>
              <a:defRPr sz="2025" b="0">
                <a:solidFill>
                  <a:srgbClr val="152E38"/>
                </a:solidFill>
                <a:latin typeface="Arial"/>
                <a:ea typeface="Arial"/>
                <a:cs typeface="Arial"/>
              </a:defRPr>
            </a:pPr>
            <a:r>
              <a:rPr sz="2025" b="0">
                <a:solidFill>
                  <a:srgbClr val="152E38"/>
                </a:solidFill>
                <a:latin typeface="Arial"/>
                <a:ea typeface="Arial"/>
                <a:cs typeface="Arial"/>
              </a:rPr>
              <a:t>Select by validation Macro-F1, then report held-out test performance.</a:t>
            </a:r>
          </a:p>
        </p:txBody>
      </p:sp>
    </p:spTree>
    <p:extLst>
      <p:ext uri="{BB962C8B-B14F-4D97-AF65-F5344CB8AC3E}">
        <p14:creationId xmlns:p14="http://schemas.microsoft.com/office/powerpoint/2010/main" val="610277596"/>
      </p:ext>
    </p:extLst>
  </p:cSld>
</p:sld>
</file>

<file path=ppt/slides/slide4.xml><?xml version="1.0" encoding="utf-8"?>
<p:sld xmlns:p="http://schemas.openxmlformats.org/presentationml/2006/main">
  <p:cSld>
    <p:bg>
      <p:bgPr>
        <a:solidFill xmlns:a="http://schemas.openxmlformats.org/drawingml/2006/main">
          <a:srgbClr val="F7FA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3CDDC68-DE4B-4F8A-AF83-BC11CE90F438}"/>
              </a:ext>
            </a:extLst>
          </p:cNvPr>
          <p:cNvSpPr>
            <a:spLocks xmlns:a="http://schemas.openxmlformats.org/drawingml/2006/main" noGrp="1"/>
          </p:cNvSpPr>
          <p:nvPr/>
        </p:nvSpPr>
        <p:spPr>
          <a:xfrm xmlns:a="http://schemas.openxmlformats.org/drawingml/2006/main">
            <a:off x="571500" y="400050"/>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52E38"/>
                </a:solidFill>
                <a:latin typeface="Arial"/>
                <a:ea typeface="Arial"/>
                <a:cs typeface="Arial"/>
              </a:defRPr>
            </a:pPr>
            <a:r>
              <a:rPr sz="3300" b="1">
                <a:solidFill>
                  <a:srgbClr val="152E38"/>
                </a:solidFill>
                <a:latin typeface="Arial"/>
                <a:ea typeface="Arial"/>
                <a:cs typeface="Arial"/>
              </a:rPr>
              <a:t>Linear SVM leads on the held-out test set</a:t>
            </a:r>
          </a:p>
        </p:txBody>
      </p:sp>
      <p:sp>
        <p:nvSpPr>
          <p:cNvPr id="2" name="">
            <a:extLst xmlns:a="http://schemas.openxmlformats.org/drawingml/2006/main">
              <a:ext uri="{FF2B5EF4-FFF2-40B4-BE49-F238E27FC236}">
                <a16:creationId xmlns:a16="http://schemas.microsoft.com/office/drawing/2014/main" id="{A2723052-1DD5-4963-AB5D-8EED69C1E438}"/>
              </a:ext>
            </a:extLst>
          </p:cNvPr>
          <p:cNvSpPr>
            <a:spLocks xmlns:a="http://schemas.openxmlformats.org/drawingml/2006/main" noGrp="1"/>
          </p:cNvSpPr>
          <p:nvPr/>
        </p:nvSpPr>
        <p:spPr>
          <a:xfrm xmlns:a="http://schemas.openxmlformats.org/drawingml/2006/main">
            <a:off x="571500" y="1362075"/>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117C83"/>
                </a:solidFill>
                <a:latin typeface="Arial"/>
                <a:ea typeface="Arial"/>
                <a:cs typeface="Arial"/>
              </a:defRPr>
            </a:pPr>
            <a:r>
              <a:rPr sz="2100" b="1">
                <a:solidFill>
                  <a:srgbClr val="117C83"/>
                </a:solidFill>
                <a:latin typeface="Arial"/>
                <a:ea typeface="Arial"/>
                <a:cs typeface="Arial"/>
              </a:rPr>
              <a:t>Test metrics after selection using original validation Macro-F1</a:t>
            </a:r>
          </a:p>
        </p:txBody>
      </p:sp>
      <p:graphicFrame>
        <p:nvGraphicFramePr>
          <p:cNvPr id="8" name=""/>
          <p:cNvGraphicFramePr/>
          <p:nvPr/>
        </p:nvGraphicFramePr>
        <p:xfrm>
          <a:off xmlns:a="http://schemas.openxmlformats.org/drawingml/2006/main" x="571500" y="2066925"/>
          <a:ext xmlns:a="http://schemas.openxmlformats.org/drawingml/2006/main" cx="11049000" cy="2857500"/>
        </p:xfrm>
        <a:graphic xmlns:a="http://schemas.openxmlformats.org/drawingml/2006/main">
          <a:graphicData uri="http://schemas.openxmlformats.org/drawingml/2006/table">
            <a:tbl>
              <a:tblPr/>
              <a:tblGrid>
                <a:gridCol w="3619500"/>
                <a:gridCol w="1809750"/>
                <a:gridCol w="1809750"/>
                <a:gridCol w="1809750"/>
                <a:gridCol w="2000250"/>
              </a:tblGrid>
              <a:tr h="571500">
                <a:tc>
                  <a:txBody>
                    <a:bodyPr>
                      <a:noAutofit/>
                    </a:bodyPr>
                    <a:lstStyle/>
                    <a:p>
                      <a:pPr algn="l"/>
                      <a:r>
                        <a:rPr sz="1875" b="1">
                          <a:solidFill>
                            <a:srgbClr val="FFFFFF"/>
                          </a:solidFill>
                          <a:latin typeface="Arial"/>
                          <a:ea typeface="Arial"/>
                          <a:cs typeface="Arial"/>
                        </a:rPr>
                        <a:t>Model</a:t>
                      </a:r>
                    </a:p>
                  </a:txBody>
                  <a:tcPr marL="91440" marR="91440" marT="45720" marB="45720">
                    <a:solidFill>
                      <a:srgbClr val="152E38"/>
                    </a:solidFill>
                  </a:tcPr>
                </a:tc>
                <a:tc>
                  <a:txBody>
                    <a:bodyPr>
                      <a:noAutofit/>
                    </a:bodyPr>
                    <a:lstStyle/>
                    <a:p>
                      <a:pPr algn="ctr"/>
                      <a:r>
                        <a:rPr sz="1875" b="1">
                          <a:solidFill>
                            <a:srgbClr val="FFFFFF"/>
                          </a:solidFill>
                          <a:latin typeface="Arial"/>
                          <a:ea typeface="Arial"/>
                          <a:cs typeface="Arial"/>
                        </a:rPr>
                        <a:t>Accuracy</a:t>
                      </a:r>
                    </a:p>
                  </a:txBody>
                  <a:tcPr marL="91440" marR="91440" marT="45720" marB="45720">
                    <a:solidFill>
                      <a:srgbClr val="152E38"/>
                    </a:solidFill>
                  </a:tcPr>
                </a:tc>
                <a:tc>
                  <a:txBody>
                    <a:bodyPr>
                      <a:noAutofit/>
                    </a:bodyPr>
                    <a:lstStyle/>
                    <a:p>
                      <a:pPr algn="ctr"/>
                      <a:r>
                        <a:rPr sz="1875" b="1">
                          <a:solidFill>
                            <a:srgbClr val="FFFFFF"/>
                          </a:solidFill>
                          <a:latin typeface="Arial"/>
                          <a:ea typeface="Arial"/>
                          <a:cs typeface="Arial"/>
                        </a:rPr>
                        <a:t>Macro-F1</a:t>
                      </a:r>
                    </a:p>
                  </a:txBody>
                  <a:tcPr marL="91440" marR="91440" marT="45720" marB="45720">
                    <a:solidFill>
                      <a:srgbClr val="152E38"/>
                    </a:solidFill>
                  </a:tcPr>
                </a:tc>
                <a:tc>
                  <a:txBody>
                    <a:bodyPr>
                      <a:noAutofit/>
                    </a:bodyPr>
                    <a:lstStyle/>
                    <a:p>
                      <a:pPr algn="ctr"/>
                      <a:r>
                        <a:rPr sz="1875" b="1">
                          <a:solidFill>
                            <a:srgbClr val="FFFFFF"/>
                          </a:solidFill>
                          <a:latin typeface="Arial"/>
                          <a:ea typeface="Arial"/>
                          <a:cs typeface="Arial"/>
                        </a:rPr>
                        <a:t>Fit (s)</a:t>
                      </a:r>
                    </a:p>
                  </a:txBody>
                  <a:tcPr marL="91440" marR="91440" marT="45720" marB="45720">
                    <a:solidFill>
                      <a:srgbClr val="152E38"/>
                    </a:solidFill>
                  </a:tcPr>
                </a:tc>
                <a:tc>
                  <a:txBody>
                    <a:bodyPr>
                      <a:noAutofit/>
                    </a:bodyPr>
                    <a:lstStyle/>
                    <a:p>
                      <a:pPr algn="ctr"/>
                      <a:r>
                        <a:rPr sz="1875" b="1">
                          <a:solidFill>
                            <a:srgbClr val="FFFFFF"/>
                          </a:solidFill>
                          <a:latin typeface="Arial"/>
                          <a:ea typeface="Arial"/>
                          <a:cs typeface="Arial"/>
                        </a:rPr>
                        <a:t>Size (MB)</a:t>
                      </a:r>
                    </a:p>
                  </a:txBody>
                  <a:tcPr marL="91440" marR="91440" marT="45720" marB="45720">
                    <a:solidFill>
                      <a:srgbClr val="152E38"/>
                    </a:solidFill>
                  </a:tcPr>
                </a:tc>
              </a:tr>
              <a:tr h="571500">
                <a:tc>
                  <a:txBody>
                    <a:bodyPr>
                      <a:noAutofit/>
                    </a:bodyPr>
                    <a:lstStyle/>
                    <a:p>
                      <a:pPr algn="l"/>
                      <a:r>
                        <a:rPr sz="1950" b="0">
                          <a:solidFill>
                            <a:srgbClr val="152E38"/>
                          </a:solidFill>
                          <a:latin typeface="Arial"/>
                          <a:ea typeface="Arial"/>
                          <a:cs typeface="Arial"/>
                        </a:rPr>
                        <a:t>Naive Bayes</a:t>
                      </a:r>
                    </a:p>
                  </a:txBody>
                  <a:tcPr marL="91440" marR="91440" marT="45720" marB="45720">
                    <a:solidFill>
                      <a:srgbClr val="FFFFFF"/>
                    </a:solidFill>
                  </a:tcPr>
                </a:tc>
                <a:tc>
                  <a:txBody>
                    <a:bodyPr>
                      <a:noAutofit/>
                    </a:bodyPr>
                    <a:lstStyle/>
                    <a:p>
                      <a:pPr algn="ctr"/>
                      <a:r>
                        <a:rPr sz="1950" b="0">
                          <a:solidFill>
                            <a:srgbClr val="152E38"/>
                          </a:solidFill>
                          <a:latin typeface="Arial"/>
                          <a:ea typeface="Arial"/>
                          <a:cs typeface="Arial"/>
                        </a:rPr>
                        <a:t>44.68%</a:t>
                      </a:r>
                    </a:p>
                  </a:txBody>
                  <a:tcPr marL="91440" marR="91440" marT="45720" marB="45720">
                    <a:solidFill>
                      <a:srgbClr val="FFFFFF"/>
                    </a:solidFill>
                  </a:tcPr>
                </a:tc>
                <a:tc>
                  <a:txBody>
                    <a:bodyPr>
                      <a:noAutofit/>
                    </a:bodyPr>
                    <a:lstStyle/>
                    <a:p>
                      <a:pPr algn="ctr"/>
                      <a:r>
                        <a:rPr sz="1950" b="0">
                          <a:solidFill>
                            <a:srgbClr val="152E38"/>
                          </a:solidFill>
                          <a:latin typeface="Arial"/>
                          <a:ea typeface="Arial"/>
                          <a:cs typeface="Arial"/>
                        </a:rPr>
                        <a:t>0.4309</a:t>
                      </a:r>
                    </a:p>
                  </a:txBody>
                  <a:tcPr marL="91440" marR="91440" marT="45720" marB="45720">
                    <a:solidFill>
                      <a:srgbClr val="FFFFFF"/>
                    </a:solidFill>
                  </a:tcPr>
                </a:tc>
                <a:tc>
                  <a:txBody>
                    <a:bodyPr>
                      <a:noAutofit/>
                    </a:bodyPr>
                    <a:lstStyle/>
                    <a:p>
                      <a:pPr algn="ctr"/>
                      <a:r>
                        <a:rPr sz="1950" b="0">
                          <a:solidFill>
                            <a:srgbClr val="152E38"/>
                          </a:solidFill>
                          <a:latin typeface="Arial"/>
                          <a:ea typeface="Arial"/>
                          <a:cs typeface="Arial"/>
                        </a:rPr>
                        <a:t>0.22</a:t>
                      </a:r>
                    </a:p>
                  </a:txBody>
                  <a:tcPr marL="91440" marR="91440" marT="45720" marB="45720">
                    <a:solidFill>
                      <a:srgbClr val="FFFFFF"/>
                    </a:solidFill>
                  </a:tcPr>
                </a:tc>
                <a:tc>
                  <a:txBody>
                    <a:bodyPr>
                      <a:noAutofit/>
                    </a:bodyPr>
                    <a:lstStyle/>
                    <a:p>
                      <a:pPr algn="ctr"/>
                      <a:r>
                        <a:rPr sz="1950" b="0">
                          <a:solidFill>
                            <a:srgbClr val="152E38"/>
                          </a:solidFill>
                          <a:latin typeface="Arial"/>
                          <a:ea typeface="Arial"/>
                          <a:cs typeface="Arial"/>
                        </a:rPr>
                        <a:t>4.640</a:t>
                      </a:r>
                    </a:p>
                  </a:txBody>
                  <a:tcPr marL="91440" marR="91440" marT="45720" marB="45720">
                    <a:solidFill>
                      <a:srgbClr val="FFFFFF"/>
                    </a:solidFill>
                  </a:tcPr>
                </a:tc>
              </a:tr>
              <a:tr h="571500">
                <a:tc>
                  <a:txBody>
                    <a:bodyPr>
                      <a:noAutofit/>
                    </a:bodyPr>
                    <a:lstStyle/>
                    <a:p>
                      <a:pPr algn="l"/>
                      <a:r>
                        <a:rPr sz="1950" b="0">
                          <a:solidFill>
                            <a:srgbClr val="152E38"/>
                          </a:solidFill>
                          <a:latin typeface="Arial"/>
                          <a:ea typeface="Arial"/>
                          <a:cs typeface="Arial"/>
                        </a:rPr>
                        <a:t>Logistic Regression</a:t>
                      </a:r>
                    </a:p>
                  </a:txBody>
                  <a:tcPr marL="91440" marR="91440" marT="45720" marB="45720">
                    <a:solidFill>
                      <a:srgbClr val="FFFFFF"/>
                    </a:solidFill>
                  </a:tcPr>
                </a:tc>
                <a:tc>
                  <a:txBody>
                    <a:bodyPr>
                      <a:noAutofit/>
                    </a:bodyPr>
                    <a:lstStyle/>
                    <a:p>
                      <a:pPr algn="ctr"/>
                      <a:r>
                        <a:rPr sz="1950" b="0">
                          <a:solidFill>
                            <a:srgbClr val="152E38"/>
                          </a:solidFill>
                          <a:latin typeface="Arial"/>
                          <a:ea typeface="Arial"/>
                          <a:cs typeface="Arial"/>
                        </a:rPr>
                        <a:t>57.87%</a:t>
                      </a:r>
                    </a:p>
                  </a:txBody>
                  <a:tcPr marL="91440" marR="91440" marT="45720" marB="45720">
                    <a:solidFill>
                      <a:srgbClr val="FFFFFF"/>
                    </a:solidFill>
                  </a:tcPr>
                </a:tc>
                <a:tc>
                  <a:txBody>
                    <a:bodyPr>
                      <a:noAutofit/>
                    </a:bodyPr>
                    <a:lstStyle/>
                    <a:p>
                      <a:pPr algn="ctr"/>
                      <a:r>
                        <a:rPr sz="1950" b="0">
                          <a:solidFill>
                            <a:srgbClr val="152E38"/>
                          </a:solidFill>
                          <a:latin typeface="Arial"/>
                          <a:ea typeface="Arial"/>
                          <a:cs typeface="Arial"/>
                        </a:rPr>
                        <a:t>0.5731</a:t>
                      </a:r>
                    </a:p>
                  </a:txBody>
                  <a:tcPr marL="91440" marR="91440" marT="45720" marB="45720">
                    <a:solidFill>
                      <a:srgbClr val="FFFFFF"/>
                    </a:solidFill>
                  </a:tcPr>
                </a:tc>
                <a:tc>
                  <a:txBody>
                    <a:bodyPr>
                      <a:noAutofit/>
                    </a:bodyPr>
                    <a:lstStyle/>
                    <a:p>
                      <a:pPr algn="ctr"/>
                      <a:r>
                        <a:rPr sz="1950" b="0">
                          <a:solidFill>
                            <a:srgbClr val="152E38"/>
                          </a:solidFill>
                          <a:latin typeface="Arial"/>
                          <a:ea typeface="Arial"/>
                          <a:cs typeface="Arial"/>
                        </a:rPr>
                        <a:t>22.78</a:t>
                      </a:r>
                    </a:p>
                  </a:txBody>
                  <a:tcPr marL="91440" marR="91440" marT="45720" marB="45720">
                    <a:solidFill>
                      <a:srgbClr val="FFFFFF"/>
                    </a:solidFill>
                  </a:tcPr>
                </a:tc>
                <a:tc>
                  <a:txBody>
                    <a:bodyPr>
                      <a:noAutofit/>
                    </a:bodyPr>
                    <a:lstStyle/>
                    <a:p>
                      <a:pPr algn="ctr"/>
                      <a:r>
                        <a:rPr sz="1950" b="0">
                          <a:solidFill>
                            <a:srgbClr val="152E38"/>
                          </a:solidFill>
                          <a:latin typeface="Arial"/>
                          <a:ea typeface="Arial"/>
                          <a:cs typeface="Arial"/>
                        </a:rPr>
                        <a:t>1.383</a:t>
                      </a:r>
                    </a:p>
                  </a:txBody>
                  <a:tcPr marL="91440" marR="91440" marT="45720" marB="45720">
                    <a:solidFill>
                      <a:srgbClr val="FFFFFF"/>
                    </a:solidFill>
                  </a:tcPr>
                </a:tc>
              </a:tr>
              <a:tr h="571500">
                <a:tc>
                  <a:txBody>
                    <a:bodyPr>
                      <a:noAutofit/>
                    </a:bodyPr>
                    <a:lstStyle/>
                    <a:p>
                      <a:pPr algn="l"/>
                      <a:r>
                        <a:rPr sz="1950" b="1">
                          <a:solidFill>
                            <a:srgbClr val="152E38"/>
                          </a:solidFill>
                          <a:latin typeface="Arial"/>
                          <a:ea typeface="Arial"/>
                          <a:cs typeface="Arial"/>
                        </a:rPr>
                        <a:t>Linear SVM</a:t>
                      </a:r>
                    </a:p>
                  </a:txBody>
                  <a:tcPr marL="91440" marR="91440" marT="45720" marB="45720">
                    <a:solidFill>
                      <a:srgbClr val="E0F0ED"/>
                    </a:solidFill>
                  </a:tcPr>
                </a:tc>
                <a:tc>
                  <a:txBody>
                    <a:bodyPr>
                      <a:noAutofit/>
                    </a:bodyPr>
                    <a:lstStyle/>
                    <a:p>
                      <a:pPr algn="ctr"/>
                      <a:r>
                        <a:rPr sz="1950" b="1">
                          <a:solidFill>
                            <a:srgbClr val="152E38"/>
                          </a:solidFill>
                          <a:latin typeface="Arial"/>
                          <a:ea typeface="Arial"/>
                          <a:cs typeface="Arial"/>
                        </a:rPr>
                        <a:t>58.96%</a:t>
                      </a:r>
                    </a:p>
                  </a:txBody>
                  <a:tcPr marL="91440" marR="91440" marT="45720" marB="45720">
                    <a:solidFill>
                      <a:srgbClr val="E0F0ED"/>
                    </a:solidFill>
                  </a:tcPr>
                </a:tc>
                <a:tc>
                  <a:txBody>
                    <a:bodyPr>
                      <a:noAutofit/>
                    </a:bodyPr>
                    <a:lstStyle/>
                    <a:p>
                      <a:pPr algn="ctr"/>
                      <a:r>
                        <a:rPr sz="1950" b="1">
                          <a:solidFill>
                            <a:srgbClr val="152E38"/>
                          </a:solidFill>
                          <a:latin typeface="Arial"/>
                          <a:ea typeface="Arial"/>
                          <a:cs typeface="Arial"/>
                        </a:rPr>
                        <a:t>0.5797</a:t>
                      </a:r>
                    </a:p>
                  </a:txBody>
                  <a:tcPr marL="91440" marR="91440" marT="45720" marB="45720">
                    <a:solidFill>
                      <a:srgbClr val="E0F0ED"/>
                    </a:solidFill>
                  </a:tcPr>
                </a:tc>
                <a:tc>
                  <a:txBody>
                    <a:bodyPr>
                      <a:noAutofit/>
                    </a:bodyPr>
                    <a:lstStyle/>
                    <a:p>
                      <a:pPr algn="ctr"/>
                      <a:r>
                        <a:rPr sz="1950" b="1">
                          <a:solidFill>
                            <a:srgbClr val="152E38"/>
                          </a:solidFill>
                          <a:latin typeface="Arial"/>
                          <a:ea typeface="Arial"/>
                          <a:cs typeface="Arial"/>
                        </a:rPr>
                        <a:t>11.36</a:t>
                      </a:r>
                    </a:p>
                  </a:txBody>
                  <a:tcPr marL="91440" marR="91440" marT="45720" marB="45720">
                    <a:solidFill>
                      <a:srgbClr val="E0F0ED"/>
                    </a:solidFill>
                  </a:tcPr>
                </a:tc>
                <a:tc>
                  <a:txBody>
                    <a:bodyPr>
                      <a:noAutofit/>
                    </a:bodyPr>
                    <a:lstStyle/>
                    <a:p>
                      <a:pPr algn="ctr"/>
                      <a:r>
                        <a:rPr sz="1950" b="1">
                          <a:solidFill>
                            <a:srgbClr val="152E38"/>
                          </a:solidFill>
                          <a:latin typeface="Arial"/>
                          <a:ea typeface="Arial"/>
                          <a:cs typeface="Arial"/>
                        </a:rPr>
                        <a:t>2.835</a:t>
                      </a:r>
                    </a:p>
                  </a:txBody>
                  <a:tcPr marL="91440" marR="91440" marT="45720" marB="45720">
                    <a:solidFill>
                      <a:srgbClr val="E0F0ED"/>
                    </a:solidFill>
                  </a:tcPr>
                </a:tc>
              </a:tr>
              <a:tr h="571500">
                <a:tc>
                  <a:txBody>
                    <a:bodyPr>
                      <a:noAutofit/>
                    </a:bodyPr>
                    <a:lstStyle/>
                    <a:p>
                      <a:pPr algn="l"/>
                      <a:r>
                        <a:rPr sz="1950" b="0">
                          <a:solidFill>
                            <a:srgbClr val="152E38"/>
                          </a:solidFill>
                          <a:latin typeface="Arial"/>
                          <a:ea typeface="Arial"/>
                          <a:cs typeface="Arial"/>
                        </a:rPr>
                        <a:t>Random Forest</a:t>
                      </a:r>
                    </a:p>
                  </a:txBody>
                  <a:tcPr marL="91440" marR="91440" marT="45720" marB="45720">
                    <a:solidFill>
                      <a:srgbClr val="FFFFFF"/>
                    </a:solidFill>
                  </a:tcPr>
                </a:tc>
                <a:tc>
                  <a:txBody>
                    <a:bodyPr>
                      <a:noAutofit/>
                    </a:bodyPr>
                    <a:lstStyle/>
                    <a:p>
                      <a:pPr algn="ctr"/>
                      <a:r>
                        <a:rPr sz="1950" b="0">
                          <a:solidFill>
                            <a:srgbClr val="152E38"/>
                          </a:solidFill>
                          <a:latin typeface="Arial"/>
                          <a:ea typeface="Arial"/>
                          <a:cs typeface="Arial"/>
                        </a:rPr>
                        <a:t>50.34%</a:t>
                      </a:r>
                    </a:p>
                  </a:txBody>
                  <a:tcPr marL="91440" marR="91440" marT="45720" marB="45720">
                    <a:solidFill>
                      <a:srgbClr val="FFFFFF"/>
                    </a:solidFill>
                  </a:tcPr>
                </a:tc>
                <a:tc>
                  <a:txBody>
                    <a:bodyPr>
                      <a:noAutofit/>
                    </a:bodyPr>
                    <a:lstStyle/>
                    <a:p>
                      <a:pPr algn="ctr"/>
                      <a:r>
                        <a:rPr sz="1950" b="0">
                          <a:solidFill>
                            <a:srgbClr val="152E38"/>
                          </a:solidFill>
                          <a:latin typeface="Arial"/>
                          <a:ea typeface="Arial"/>
                          <a:cs typeface="Arial"/>
                        </a:rPr>
                        <a:t>0.4645</a:t>
                      </a:r>
                    </a:p>
                  </a:txBody>
                  <a:tcPr marL="91440" marR="91440" marT="45720" marB="45720">
                    <a:solidFill>
                      <a:srgbClr val="FFFFFF"/>
                    </a:solidFill>
                  </a:tcPr>
                </a:tc>
                <a:tc>
                  <a:txBody>
                    <a:bodyPr>
                      <a:noAutofit/>
                    </a:bodyPr>
                    <a:lstStyle/>
                    <a:p>
                      <a:pPr algn="ctr"/>
                      <a:r>
                        <a:rPr sz="1950" b="0">
                          <a:solidFill>
                            <a:srgbClr val="152E38"/>
                          </a:solidFill>
                          <a:latin typeface="Arial"/>
                          <a:ea typeface="Arial"/>
                          <a:cs typeface="Arial"/>
                        </a:rPr>
                        <a:t>53.34</a:t>
                      </a:r>
                    </a:p>
                  </a:txBody>
                  <a:tcPr marL="91440" marR="91440" marT="45720" marB="45720">
                    <a:solidFill>
                      <a:srgbClr val="FFFFFF"/>
                    </a:solidFill>
                  </a:tcPr>
                </a:tc>
                <a:tc>
                  <a:txBody>
                    <a:bodyPr>
                      <a:noAutofit/>
                    </a:bodyPr>
                    <a:lstStyle/>
                    <a:p>
                      <a:pPr algn="ctr"/>
                      <a:r>
                        <a:rPr sz="1950" b="0">
                          <a:solidFill>
                            <a:srgbClr val="152E38"/>
                          </a:solidFill>
                          <a:latin typeface="Arial"/>
                          <a:ea typeface="Arial"/>
                          <a:cs typeface="Arial"/>
                        </a:rPr>
                        <a:t>24.326</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72E720F-CCB3-4B4B-BF6D-C990205C88CF}"/>
              </a:ext>
            </a:extLst>
          </p:cNvPr>
          <p:cNvSpPr>
            <a:spLocks xmlns:a="http://schemas.openxmlformats.org/drawingml/2006/main" noGrp="1"/>
          </p:cNvSpPr>
          <p:nvPr/>
        </p:nvSpPr>
        <p:spPr>
          <a:xfrm xmlns:a="http://schemas.openxmlformats.org/drawingml/2006/main">
            <a:off x="571500" y="5324475"/>
            <a:ext cx="5238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152E38"/>
                </a:solidFill>
                <a:latin typeface="Arial"/>
                <a:ea typeface="Arial"/>
                <a:cs typeface="Arial"/>
              </a:defRPr>
            </a:pPr>
            <a:r>
              <a:rPr sz="2100" b="0">
                <a:solidFill>
                  <a:srgbClr val="152E38"/>
                </a:solidFill>
                <a:latin typeface="Arial"/>
                <a:ea typeface="Arial"/>
                <a:cs typeface="Arial"/>
              </a:rPr>
              <a:t>SVM validation Macro-F1: 0.6182</a:t>
            </a:r>
          </a:p>
          <a:p xmlns:a="http://schemas.openxmlformats.org/drawingml/2006/main">
            <a:pPr>
              <a:defRPr sz="2100" b="0">
                <a:solidFill>
                  <a:srgbClr val="152E38"/>
                </a:solidFill>
                <a:latin typeface="Arial"/>
                <a:ea typeface="Arial"/>
                <a:cs typeface="Arial"/>
              </a:defRPr>
            </a:pPr>
            <a:r>
              <a:rPr sz="2100" b="0">
                <a:solidFill>
                  <a:srgbClr val="152E38"/>
                </a:solidFill>
                <a:latin typeface="Arial"/>
                <a:ea typeface="Arial"/>
                <a:cs typeface="Arial"/>
              </a:rPr>
              <a:t>Uniform chance accuracy: 12.5%</a:t>
            </a:r>
          </a:p>
        </p:txBody>
      </p:sp>
      <p:sp>
        <p:nvSpPr>
          <p:cNvPr id="5" name="">
            <a:extLst xmlns:a="http://schemas.openxmlformats.org/drawingml/2006/main">
              <a:ext uri="{FF2B5EF4-FFF2-40B4-BE49-F238E27FC236}">
                <a16:creationId xmlns:a16="http://schemas.microsoft.com/office/drawing/2014/main" id="{A5E12959-105F-431E-B7CF-1BE9AB1D5021}"/>
              </a:ext>
            </a:extLst>
          </p:cNvPr>
          <p:cNvSpPr>
            <a:spLocks xmlns:a="http://schemas.openxmlformats.org/drawingml/2006/main" noGrp="1"/>
          </p:cNvSpPr>
          <p:nvPr/>
        </p:nvSpPr>
        <p:spPr>
          <a:xfrm xmlns:a="http://schemas.openxmlformats.org/drawingml/2006/main">
            <a:off x="6229350" y="5324475"/>
            <a:ext cx="5334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0636B"/>
                </a:solidFill>
                <a:latin typeface="Arial"/>
                <a:ea typeface="Arial"/>
                <a:cs typeface="Arial"/>
              </a:defRPr>
            </a:pPr>
            <a:r>
              <a:rPr sz="1875" b="0">
                <a:solidFill>
                  <a:srgbClr val="50636B"/>
                </a:solidFill>
                <a:latin typeface="Arial"/>
                <a:ea typeface="Arial"/>
                <a:cs typeface="Arial"/>
              </a:rPr>
              <a:t>Single-run classifier time and compressed size.</a:t>
            </a:r>
          </a:p>
          <a:p xmlns:a="http://schemas.openxmlformats.org/drawingml/2006/main">
            <a:pPr>
              <a:defRPr sz="1875" b="0">
                <a:solidFill>
                  <a:srgbClr val="50636B"/>
                </a:solidFill>
                <a:latin typeface="Arial"/>
                <a:ea typeface="Arial"/>
                <a:cs typeface="Arial"/>
              </a:defRPr>
            </a:pPr>
            <a:r>
              <a:rPr sz="1875" b="0">
                <a:solidFill>
                  <a:srgbClr val="50636B"/>
                </a:solidFill>
                <a:latin typeface="Arial"/>
                <a:ea typeface="Arial"/>
                <a:cs typeface="Arial"/>
              </a:rPr>
              <a:t>Shared TF-IDF size and fit time reported separately.</a:t>
            </a:r>
          </a:p>
        </p:txBody>
      </p:sp>
    </p:spTree>
    <p:extLst>
      <p:ext uri="{BB962C8B-B14F-4D97-AF65-F5344CB8AC3E}">
        <p14:creationId xmlns:p14="http://schemas.microsoft.com/office/powerpoint/2010/main" val="587597784"/>
      </p:ext>
    </p:extLst>
  </p:cSld>
</p:sld>
</file>

<file path=ppt/slides/slide5.xml><?xml version="1.0" encoding="utf-8"?>
<p:sld xmlns:p="http://schemas.openxmlformats.org/presentationml/2006/main">
  <p:cSld>
    <p:bg>
      <p:bgPr>
        <a:solidFill xmlns:a="http://schemas.openxmlformats.org/drawingml/2006/main">
          <a:srgbClr val="F7FA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B9D3EFB-41BC-40F4-81C0-BDE319298059}"/>
              </a:ext>
            </a:extLst>
          </p:cNvPr>
          <p:cNvSpPr>
            <a:spLocks xmlns:a="http://schemas.openxmlformats.org/drawingml/2006/main" noGrp="1"/>
          </p:cNvSpPr>
          <p:nvPr/>
        </p:nvSpPr>
        <p:spPr>
          <a:xfrm xmlns:a="http://schemas.openxmlformats.org/drawingml/2006/main">
            <a:off x="571500" y="400050"/>
            <a:ext cx="1104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52E38"/>
                </a:solidFill>
                <a:latin typeface="Arial"/>
                <a:ea typeface="Arial"/>
                <a:cs typeface="Arial"/>
              </a:defRPr>
            </a:pPr>
            <a:r>
              <a:rPr sz="3300" b="1">
                <a:solidFill>
                  <a:srgbClr val="152E38"/>
                </a:solidFill>
                <a:latin typeface="Arial"/>
                <a:ea typeface="Arial"/>
                <a:cs typeface="Arial"/>
              </a:rPr>
              <a:t>Comments help, but SVM stays first</a:t>
            </a:r>
          </a:p>
        </p:txBody>
      </p:sp>
      <p:sp>
        <p:nvSpPr>
          <p:cNvPr id="2" name="">
            <a:extLst xmlns:a="http://schemas.openxmlformats.org/drawingml/2006/main">
              <a:ext uri="{FF2B5EF4-FFF2-40B4-BE49-F238E27FC236}">
                <a16:creationId xmlns:a16="http://schemas.microsoft.com/office/drawing/2014/main" id="{33AD96B7-4463-4137-990B-8AFB1D308C06}"/>
              </a:ext>
            </a:extLst>
          </p:cNvPr>
          <p:cNvSpPr>
            <a:spLocks xmlns:a="http://schemas.openxmlformats.org/drawingml/2006/main" noGrp="1"/>
          </p:cNvSpPr>
          <p:nvPr/>
        </p:nvSpPr>
        <p:spPr>
          <a:xfrm xmlns:a="http://schemas.openxmlformats.org/drawingml/2006/main">
            <a:off x="571500" y="1333500"/>
            <a:ext cx="1104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17C83"/>
                </a:solidFill>
                <a:latin typeface="Arial"/>
                <a:ea typeface="Arial"/>
                <a:cs typeface="Arial"/>
              </a:defRPr>
            </a:pPr>
            <a:r>
              <a:rPr sz="2025" b="1">
                <a:solidFill>
                  <a:srgbClr val="117C83"/>
                </a:solidFill>
                <a:latin typeface="Arial"/>
                <a:ea typeface="Arial"/>
                <a:cs typeface="Arial"/>
              </a:rPr>
              <a:t>One ablation: remove comments and refit shared TF-IDF on training code</a:t>
            </a:r>
          </a:p>
        </p:txBody>
      </p:sp>
      <p:graphicFrame>
        <p:nvGraphicFramePr>
          <p:cNvPr id="11" name=""/>
          <p:cNvGraphicFramePr/>
          <p:nvPr/>
        </p:nvGraphicFramePr>
        <p:xfrm>
          <a:off xmlns:a="http://schemas.openxmlformats.org/drawingml/2006/main" x="571500" y="2038350"/>
          <a:ext xmlns:a="http://schemas.openxmlformats.org/drawingml/2006/main" cx="7096125" cy="2762250"/>
        </p:xfrm>
        <a:graphic xmlns:a="http://schemas.openxmlformats.org/drawingml/2006/main">
          <a:graphicData uri="http://schemas.openxmlformats.org/drawingml/2006/table">
            <a:tbl>
              <a:tblPr/>
              <a:tblGrid>
                <a:gridCol w="2809875"/>
                <a:gridCol w="1381125"/>
                <a:gridCol w="1762125"/>
                <a:gridCol w="1143000"/>
              </a:tblGrid>
              <a:tr h="552450">
                <a:tc>
                  <a:txBody>
                    <a:bodyPr>
                      <a:noAutofit/>
                    </a:bodyPr>
                    <a:lstStyle/>
                    <a:p>
                      <a:pPr algn="l"/>
                      <a:r>
                        <a:rPr sz="1650" b="1">
                          <a:solidFill>
                            <a:srgbClr val="FFFFFF"/>
                          </a:solidFill>
                          <a:latin typeface="Arial"/>
                          <a:ea typeface="Arial"/>
                          <a:cs typeface="Arial"/>
                        </a:rPr>
                        <a:t>Validation F1</a:t>
                      </a:r>
                    </a:p>
                  </a:txBody>
                  <a:tcPr marL="91440" marR="91440" marT="45720" marB="45720">
                    <a:solidFill>
                      <a:srgbClr val="152E38"/>
                    </a:solidFill>
                  </a:tcPr>
                </a:tc>
                <a:tc>
                  <a:txBody>
                    <a:bodyPr>
                      <a:noAutofit/>
                    </a:bodyPr>
                    <a:lstStyle/>
                    <a:p>
                      <a:pPr algn="ctr"/>
                      <a:r>
                        <a:rPr sz="1650" b="1">
                          <a:solidFill>
                            <a:srgbClr val="FFFFFF"/>
                          </a:solidFill>
                          <a:latin typeface="Arial"/>
                          <a:ea typeface="Arial"/>
                          <a:cs typeface="Arial"/>
                        </a:rPr>
                        <a:t>Original</a:t>
                      </a:r>
                    </a:p>
                  </a:txBody>
                  <a:tcPr marL="91440" marR="91440" marT="45720" marB="45720">
                    <a:solidFill>
                      <a:srgbClr val="152E38"/>
                    </a:solidFill>
                  </a:tcPr>
                </a:tc>
                <a:tc>
                  <a:txBody>
                    <a:bodyPr>
                      <a:noAutofit/>
                    </a:bodyPr>
                    <a:lstStyle/>
                    <a:p>
                      <a:pPr algn="ctr"/>
                      <a:r>
                        <a:rPr sz="1650" b="1">
                          <a:solidFill>
                            <a:srgbClr val="FFFFFF"/>
                          </a:solidFill>
                          <a:latin typeface="Arial"/>
                          <a:ea typeface="Arial"/>
                          <a:cs typeface="Arial"/>
                        </a:rPr>
                        <a:t>No comments</a:t>
                      </a:r>
                    </a:p>
                  </a:txBody>
                  <a:tcPr marL="91440" marR="91440" marT="45720" marB="45720">
                    <a:solidFill>
                      <a:srgbClr val="152E38"/>
                    </a:solidFill>
                  </a:tcPr>
                </a:tc>
                <a:tc>
                  <a:txBody>
                    <a:bodyPr>
                      <a:noAutofit/>
                    </a:bodyPr>
                    <a:lstStyle/>
                    <a:p>
                      <a:pPr algn="ctr"/>
                      <a:r>
                        <a:rPr sz="1650" b="1">
                          <a:solidFill>
                            <a:srgbClr val="FFFFFF"/>
                          </a:solidFill>
                          <a:latin typeface="Arial"/>
                          <a:ea typeface="Arial"/>
                          <a:cs typeface="Arial"/>
                        </a:rPr>
                        <a:t>Rank</a:t>
                      </a:r>
                    </a:p>
                  </a:txBody>
                  <a:tcPr marL="91440" marR="91440" marT="45720" marB="45720">
                    <a:solidFill>
                      <a:srgbClr val="152E38"/>
                    </a:solidFill>
                  </a:tcPr>
                </a:tc>
              </a:tr>
              <a:tr h="552450">
                <a:tc>
                  <a:txBody>
                    <a:bodyPr>
                      <a:noAutofit/>
                    </a:bodyPr>
                    <a:lstStyle/>
                    <a:p>
                      <a:pPr algn="l"/>
                      <a:r>
                        <a:rPr sz="1725" b="1">
                          <a:solidFill>
                            <a:srgbClr val="152E38"/>
                          </a:solidFill>
                          <a:latin typeface="Arial"/>
                          <a:ea typeface="Arial"/>
                          <a:cs typeface="Arial"/>
                        </a:rPr>
                        <a:t>Linear SVM</a:t>
                      </a:r>
                    </a:p>
                  </a:txBody>
                  <a:tcPr marL="91440" marR="91440" marT="45720" marB="45720">
                    <a:solidFill>
                      <a:srgbClr val="E0F0ED"/>
                    </a:solidFill>
                  </a:tcPr>
                </a:tc>
                <a:tc>
                  <a:txBody>
                    <a:bodyPr>
                      <a:noAutofit/>
                    </a:bodyPr>
                    <a:lstStyle/>
                    <a:p>
                      <a:pPr algn="ctr"/>
                      <a:r>
                        <a:rPr sz="1725" b="1">
                          <a:solidFill>
                            <a:srgbClr val="152E38"/>
                          </a:solidFill>
                          <a:latin typeface="Arial"/>
                          <a:ea typeface="Arial"/>
                          <a:cs typeface="Arial"/>
                        </a:rPr>
                        <a:t>0.6182</a:t>
                      </a:r>
                    </a:p>
                  </a:txBody>
                  <a:tcPr marL="91440" marR="91440" marT="45720" marB="45720">
                    <a:solidFill>
                      <a:srgbClr val="E0F0ED"/>
                    </a:solidFill>
                  </a:tcPr>
                </a:tc>
                <a:tc>
                  <a:txBody>
                    <a:bodyPr>
                      <a:noAutofit/>
                    </a:bodyPr>
                    <a:lstStyle/>
                    <a:p>
                      <a:pPr algn="ctr"/>
                      <a:r>
                        <a:rPr sz="1725" b="1">
                          <a:solidFill>
                            <a:srgbClr val="152E38"/>
                          </a:solidFill>
                          <a:latin typeface="Arial"/>
                          <a:ea typeface="Arial"/>
                          <a:cs typeface="Arial"/>
                        </a:rPr>
                        <a:t>0.4903</a:t>
                      </a:r>
                    </a:p>
                  </a:txBody>
                  <a:tcPr marL="91440" marR="91440" marT="45720" marB="45720">
                    <a:solidFill>
                      <a:srgbClr val="E0F0ED"/>
                    </a:solidFill>
                  </a:tcPr>
                </a:tc>
                <a:tc>
                  <a:txBody>
                    <a:bodyPr>
                      <a:noAutofit/>
                    </a:bodyPr>
                    <a:lstStyle/>
                    <a:p>
                      <a:pPr algn="ctr"/>
                      <a:r>
                        <a:rPr sz="1725" b="1">
                          <a:solidFill>
                            <a:srgbClr val="152E38"/>
                          </a:solidFill>
                          <a:latin typeface="Arial"/>
                          <a:ea typeface="Arial"/>
                          <a:cs typeface="Arial"/>
                        </a:rPr>
                        <a:t>1 to 1</a:t>
                      </a:r>
                    </a:p>
                  </a:txBody>
                  <a:tcPr marL="91440" marR="91440" marT="45720" marB="45720">
                    <a:solidFill>
                      <a:srgbClr val="E0F0ED"/>
                    </a:solidFill>
                  </a:tcPr>
                </a:tc>
              </a:tr>
              <a:tr h="552450">
                <a:tc>
                  <a:txBody>
                    <a:bodyPr>
                      <a:noAutofit/>
                    </a:bodyPr>
                    <a:lstStyle/>
                    <a:p>
                      <a:pPr algn="l"/>
                      <a:r>
                        <a:rPr sz="1725" b="0">
                          <a:solidFill>
                            <a:srgbClr val="152E38"/>
                          </a:solidFill>
                          <a:latin typeface="Arial"/>
                          <a:ea typeface="Arial"/>
                          <a:cs typeface="Arial"/>
                        </a:rPr>
                        <a:t>Logistic Regression</a:t>
                      </a:r>
                    </a:p>
                  </a:txBody>
                  <a:tcPr marL="91440" marR="91440" marT="45720" marB="45720">
                    <a:solidFill>
                      <a:srgbClr val="FFFFFF"/>
                    </a:solidFill>
                  </a:tcPr>
                </a:tc>
                <a:tc>
                  <a:txBody>
                    <a:bodyPr>
                      <a:noAutofit/>
                    </a:bodyPr>
                    <a:lstStyle/>
                    <a:p>
                      <a:pPr algn="ctr"/>
                      <a:r>
                        <a:rPr sz="1725" b="0">
                          <a:solidFill>
                            <a:srgbClr val="152E38"/>
                          </a:solidFill>
                          <a:latin typeface="Arial"/>
                          <a:ea typeface="Arial"/>
                          <a:cs typeface="Arial"/>
                        </a:rPr>
                        <a:t>0.5942</a:t>
                      </a:r>
                    </a:p>
                  </a:txBody>
                  <a:tcPr marL="91440" marR="91440" marT="45720" marB="45720">
                    <a:solidFill>
                      <a:srgbClr val="FFFFFF"/>
                    </a:solidFill>
                  </a:tcPr>
                </a:tc>
                <a:tc>
                  <a:txBody>
                    <a:bodyPr>
                      <a:noAutofit/>
                    </a:bodyPr>
                    <a:lstStyle/>
                    <a:p>
                      <a:pPr algn="ctr"/>
                      <a:r>
                        <a:rPr sz="1725" b="0">
                          <a:solidFill>
                            <a:srgbClr val="152E38"/>
                          </a:solidFill>
                          <a:latin typeface="Arial"/>
                          <a:ea typeface="Arial"/>
                          <a:cs typeface="Arial"/>
                        </a:rPr>
                        <a:t>0.4622</a:t>
                      </a:r>
                    </a:p>
                  </a:txBody>
                  <a:tcPr marL="91440" marR="91440" marT="45720" marB="45720">
                    <a:solidFill>
                      <a:srgbClr val="FFFFFF"/>
                    </a:solidFill>
                  </a:tcPr>
                </a:tc>
                <a:tc>
                  <a:txBody>
                    <a:bodyPr>
                      <a:noAutofit/>
                    </a:bodyPr>
                    <a:lstStyle/>
                    <a:p>
                      <a:pPr algn="ctr"/>
                      <a:r>
                        <a:rPr sz="1725" b="0">
                          <a:solidFill>
                            <a:srgbClr val="152E38"/>
                          </a:solidFill>
                          <a:latin typeface="Arial"/>
                          <a:ea typeface="Arial"/>
                          <a:cs typeface="Arial"/>
                        </a:rPr>
                        <a:t>2 to 3</a:t>
                      </a:r>
                    </a:p>
                  </a:txBody>
                  <a:tcPr marL="91440" marR="91440" marT="45720" marB="45720">
                    <a:solidFill>
                      <a:srgbClr val="FFFFFF"/>
                    </a:solidFill>
                  </a:tcPr>
                </a:tc>
              </a:tr>
              <a:tr h="552450">
                <a:tc>
                  <a:txBody>
                    <a:bodyPr>
                      <a:noAutofit/>
                    </a:bodyPr>
                    <a:lstStyle/>
                    <a:p>
                      <a:pPr algn="l"/>
                      <a:r>
                        <a:rPr sz="1725" b="0">
                          <a:solidFill>
                            <a:srgbClr val="152E38"/>
                          </a:solidFill>
                          <a:latin typeface="Arial"/>
                          <a:ea typeface="Arial"/>
                          <a:cs typeface="Arial"/>
                        </a:rPr>
                        <a:t>Random Forest</a:t>
                      </a:r>
                    </a:p>
                  </a:txBody>
                  <a:tcPr marL="91440" marR="91440" marT="45720" marB="45720">
                    <a:solidFill>
                      <a:srgbClr val="FFFFFF"/>
                    </a:solidFill>
                  </a:tcPr>
                </a:tc>
                <a:tc>
                  <a:txBody>
                    <a:bodyPr>
                      <a:noAutofit/>
                    </a:bodyPr>
                    <a:lstStyle/>
                    <a:p>
                      <a:pPr algn="ctr"/>
                      <a:r>
                        <a:rPr sz="1725" b="0">
                          <a:solidFill>
                            <a:srgbClr val="152E38"/>
                          </a:solidFill>
                          <a:latin typeface="Arial"/>
                          <a:ea typeface="Arial"/>
                          <a:cs typeface="Arial"/>
                        </a:rPr>
                        <a:t>0.5429</a:t>
                      </a:r>
                    </a:p>
                  </a:txBody>
                  <a:tcPr marL="91440" marR="91440" marT="45720" marB="45720">
                    <a:solidFill>
                      <a:srgbClr val="FFFFFF"/>
                    </a:solidFill>
                  </a:tcPr>
                </a:tc>
                <a:tc>
                  <a:txBody>
                    <a:bodyPr>
                      <a:noAutofit/>
                    </a:bodyPr>
                    <a:lstStyle/>
                    <a:p>
                      <a:pPr algn="ctr"/>
                      <a:r>
                        <a:rPr sz="1725" b="0">
                          <a:solidFill>
                            <a:srgbClr val="152E38"/>
                          </a:solidFill>
                          <a:latin typeface="Arial"/>
                          <a:ea typeface="Arial"/>
                          <a:cs typeface="Arial"/>
                        </a:rPr>
                        <a:t>0.4625</a:t>
                      </a:r>
                    </a:p>
                  </a:txBody>
                  <a:tcPr marL="91440" marR="91440" marT="45720" marB="45720">
                    <a:solidFill>
                      <a:srgbClr val="FFFFFF"/>
                    </a:solidFill>
                  </a:tcPr>
                </a:tc>
                <a:tc>
                  <a:txBody>
                    <a:bodyPr>
                      <a:noAutofit/>
                    </a:bodyPr>
                    <a:lstStyle/>
                    <a:p>
                      <a:pPr algn="ctr"/>
                      <a:r>
                        <a:rPr sz="1725" b="0">
                          <a:solidFill>
                            <a:srgbClr val="152E38"/>
                          </a:solidFill>
                          <a:latin typeface="Arial"/>
                          <a:ea typeface="Arial"/>
                          <a:cs typeface="Arial"/>
                        </a:rPr>
                        <a:t>3 to 2</a:t>
                      </a:r>
                    </a:p>
                  </a:txBody>
                  <a:tcPr marL="91440" marR="91440" marT="45720" marB="45720">
                    <a:solidFill>
                      <a:srgbClr val="FFFFFF"/>
                    </a:solidFill>
                  </a:tcPr>
                </a:tc>
              </a:tr>
              <a:tr h="552450">
                <a:tc>
                  <a:txBody>
                    <a:bodyPr>
                      <a:noAutofit/>
                    </a:bodyPr>
                    <a:lstStyle/>
                    <a:p>
                      <a:pPr algn="l"/>
                      <a:r>
                        <a:rPr sz="1725" b="0">
                          <a:solidFill>
                            <a:srgbClr val="152E38"/>
                          </a:solidFill>
                          <a:latin typeface="Arial"/>
                          <a:ea typeface="Arial"/>
                          <a:cs typeface="Arial"/>
                        </a:rPr>
                        <a:t>Naive Bayes</a:t>
                      </a:r>
                    </a:p>
                  </a:txBody>
                  <a:tcPr marL="91440" marR="91440" marT="45720" marB="45720">
                    <a:solidFill>
                      <a:srgbClr val="FFFFFF"/>
                    </a:solidFill>
                  </a:tcPr>
                </a:tc>
                <a:tc>
                  <a:txBody>
                    <a:bodyPr>
                      <a:noAutofit/>
                    </a:bodyPr>
                    <a:lstStyle/>
                    <a:p>
                      <a:pPr algn="ctr"/>
                      <a:r>
                        <a:rPr sz="1725" b="0">
                          <a:solidFill>
                            <a:srgbClr val="152E38"/>
                          </a:solidFill>
                          <a:latin typeface="Arial"/>
                          <a:ea typeface="Arial"/>
                          <a:cs typeface="Arial"/>
                        </a:rPr>
                        <a:t>0.4670</a:t>
                      </a:r>
                    </a:p>
                  </a:txBody>
                  <a:tcPr marL="91440" marR="91440" marT="45720" marB="45720">
                    <a:solidFill>
                      <a:srgbClr val="FFFFFF"/>
                    </a:solidFill>
                  </a:tcPr>
                </a:tc>
                <a:tc>
                  <a:txBody>
                    <a:bodyPr>
                      <a:noAutofit/>
                    </a:bodyPr>
                    <a:lstStyle/>
                    <a:p>
                      <a:pPr algn="ctr"/>
                      <a:r>
                        <a:rPr sz="1725" b="0">
                          <a:solidFill>
                            <a:srgbClr val="152E38"/>
                          </a:solidFill>
                          <a:latin typeface="Arial"/>
                          <a:ea typeface="Arial"/>
                          <a:cs typeface="Arial"/>
                        </a:rPr>
                        <a:t>0.3335</a:t>
                      </a:r>
                    </a:p>
                  </a:txBody>
                  <a:tcPr marL="91440" marR="91440" marT="45720" marB="45720">
                    <a:solidFill>
                      <a:srgbClr val="FFFFFF"/>
                    </a:solidFill>
                  </a:tcPr>
                </a:tc>
                <a:tc>
                  <a:txBody>
                    <a:bodyPr>
                      <a:noAutofit/>
                    </a:bodyPr>
                    <a:lstStyle/>
                    <a:p>
                      <a:pPr algn="ctr"/>
                      <a:r>
                        <a:rPr sz="1725" b="0">
                          <a:solidFill>
                            <a:srgbClr val="152E38"/>
                          </a:solidFill>
                          <a:latin typeface="Arial"/>
                          <a:ea typeface="Arial"/>
                          <a:cs typeface="Arial"/>
                        </a:rPr>
                        <a:t>4 to 4</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DF33D5B-E360-46DA-8617-FACE4D901D43}"/>
              </a:ext>
            </a:extLst>
          </p:cNvPr>
          <p:cNvSpPr>
            <a:spLocks xmlns:a="http://schemas.openxmlformats.org/drawingml/2006/main" noGrp="1"/>
          </p:cNvSpPr>
          <p:nvPr/>
        </p:nvSpPr>
        <p:spPr>
          <a:xfrm xmlns:a="http://schemas.openxmlformats.org/drawingml/2006/main">
            <a:off x="8143875" y="201930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52E38"/>
                </a:solidFill>
                <a:latin typeface="Arial"/>
                <a:ea typeface="Arial"/>
                <a:cs typeface="Arial"/>
              </a:defRPr>
            </a:pPr>
            <a:r>
              <a:rPr sz="2025" b="1">
                <a:solidFill>
                  <a:srgbClr val="152E38"/>
                </a:solidFill>
                <a:latin typeface="Arial"/>
                <a:ea typeface="Arial"/>
                <a:cs typeface="Arial"/>
              </a:rPr>
              <a:t>Data property</a:t>
            </a:r>
          </a:p>
        </p:txBody>
      </p:sp>
      <p:sp>
        <p:nvSpPr>
          <p:cNvPr id="5" name="">
            <a:extLst xmlns:a="http://schemas.openxmlformats.org/drawingml/2006/main">
              <a:ext uri="{FF2B5EF4-FFF2-40B4-BE49-F238E27FC236}">
                <a16:creationId xmlns:a16="http://schemas.microsoft.com/office/drawing/2014/main" id="{D5418582-287B-44CF-81D7-674677C5C5AF}"/>
              </a:ext>
            </a:extLst>
          </p:cNvPr>
          <p:cNvSpPr>
            <a:spLocks xmlns:a="http://schemas.openxmlformats.org/drawingml/2006/main" noGrp="1"/>
          </p:cNvSpPr>
          <p:nvPr/>
        </p:nvSpPr>
        <p:spPr>
          <a:xfrm xmlns:a="http://schemas.openxmlformats.org/drawingml/2006/main">
            <a:off x="8143875" y="2543175"/>
            <a:ext cx="34766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52E38"/>
                </a:solidFill>
                <a:latin typeface="Arial"/>
                <a:ea typeface="Arial"/>
                <a:cs typeface="Arial"/>
              </a:defRPr>
            </a:pPr>
            <a:r>
              <a:rPr sz="2025" b="0">
                <a:solidFill>
                  <a:srgbClr val="152E38"/>
                </a:solidFill>
                <a:latin typeface="Arial"/>
                <a:ea typeface="Arial"/>
                <a:cs typeface="Arial"/>
              </a:rPr>
              <a:t>Sparse comment and lexical fragments carry class cues. All four models lose F1.</a:t>
            </a:r>
          </a:p>
        </p:txBody>
      </p:sp>
      <p:sp>
        <p:nvSpPr>
          <p:cNvPr id="6" name="">
            <a:extLst xmlns:a="http://schemas.openxmlformats.org/drawingml/2006/main">
              <a:ext uri="{FF2B5EF4-FFF2-40B4-BE49-F238E27FC236}">
                <a16:creationId xmlns:a16="http://schemas.microsoft.com/office/drawing/2014/main" id="{C40FB2D1-53F5-4209-8E3D-8CC191BE3940}"/>
              </a:ext>
            </a:extLst>
          </p:cNvPr>
          <p:cNvSpPr>
            <a:spLocks xmlns:a="http://schemas.openxmlformats.org/drawingml/2006/main" noGrp="1"/>
          </p:cNvSpPr>
          <p:nvPr/>
        </p:nvSpPr>
        <p:spPr>
          <a:xfrm xmlns:a="http://schemas.openxmlformats.org/drawingml/2006/main">
            <a:off x="8143875" y="4048125"/>
            <a:ext cx="3476625"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52E38"/>
                </a:solidFill>
                <a:latin typeface="Arial"/>
                <a:ea typeface="Arial"/>
                <a:cs typeface="Arial"/>
              </a:defRPr>
            </a:pPr>
            <a:r>
              <a:rPr sz="2025" b="1">
                <a:solidFill>
                  <a:srgbClr val="152E38"/>
                </a:solidFill>
                <a:latin typeface="Arial"/>
                <a:ea typeface="Arial"/>
                <a:cs typeface="Arial"/>
              </a:rPr>
              <a:t>SVM keeps first place. Comments alone do not explain its advantage.</a:t>
            </a:r>
          </a:p>
        </p:txBody>
      </p:sp>
      <p:sp>
        <p:nvSpPr>
          <p:cNvPr id="7" name="">
            <a:extLst xmlns:a="http://schemas.openxmlformats.org/drawingml/2006/main">
              <a:ext uri="{FF2B5EF4-FFF2-40B4-BE49-F238E27FC236}">
                <a16:creationId xmlns:a16="http://schemas.microsoft.com/office/drawing/2014/main" id="{2A348D12-7D81-4C1C-A87D-C4CC49B92D3F}"/>
              </a:ext>
            </a:extLst>
          </p:cNvPr>
          <p:cNvSpPr>
            <a:spLocks xmlns:a="http://schemas.openxmlformats.org/drawingml/2006/main" noGrp="1"/>
          </p:cNvSpPr>
          <p:nvPr/>
        </p:nvSpPr>
        <p:spPr>
          <a:xfrm xmlns:a="http://schemas.openxmlformats.org/drawingml/2006/main">
            <a:off x="571500" y="5257800"/>
            <a:ext cx="11049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152E38"/>
                </a:solidFill>
                <a:latin typeface="Arial"/>
                <a:ea typeface="Arial"/>
                <a:cs typeface="Arial"/>
              </a:defRPr>
            </a:pPr>
            <a:r>
              <a:rPr sz="1950" b="0">
                <a:solidFill>
                  <a:srgbClr val="152E38"/>
                </a:solidFill>
                <a:latin typeface="Arial"/>
                <a:ea typeface="Arial"/>
                <a:cs typeface="Arial"/>
              </a:rPr>
              <a:t>Prediction: SVM’s validation lead over Logistic Regression would shrink.</a:t>
            </a:r>
          </a:p>
          <a:p xmlns:a="http://schemas.openxmlformats.org/drawingml/2006/main">
            <a:pPr>
              <a:defRPr sz="1950" b="0">
                <a:solidFill>
                  <a:srgbClr val="152E38"/>
                </a:solidFill>
                <a:latin typeface="Arial"/>
                <a:ea typeface="Arial"/>
                <a:cs typeface="Arial"/>
              </a:defRPr>
            </a:pPr>
            <a:r>
              <a:rPr sz="1950" b="0">
                <a:solidFill>
                  <a:srgbClr val="152E38"/>
                </a:solidFill>
                <a:latin typeface="Arial"/>
                <a:ea typeface="Arial"/>
                <a:cs typeface="Arial"/>
              </a:rPr>
              <a:t>Observed: 2.40 to 2.81 percentage points. Prediction not supported.</a:t>
            </a:r>
          </a:p>
        </p:txBody>
      </p:sp>
      <p:sp>
        <p:nvSpPr>
          <p:cNvPr id="8" name="">
            <a:extLst xmlns:a="http://schemas.openxmlformats.org/drawingml/2006/main">
              <a:ext uri="{FF2B5EF4-FFF2-40B4-BE49-F238E27FC236}">
                <a16:creationId xmlns:a16="http://schemas.microsoft.com/office/drawing/2014/main" id="{3D4F0F47-0555-46BC-8514-70FF7AA97276}"/>
              </a:ext>
            </a:extLst>
          </p:cNvPr>
          <p:cNvSpPr>
            <a:spLocks xmlns:a="http://schemas.openxmlformats.org/drawingml/2006/main" noGrp="1"/>
          </p:cNvSpPr>
          <p:nvPr/>
        </p:nvSpPr>
        <p:spPr>
          <a:xfrm xmlns:a="http://schemas.openxmlformats.org/drawingml/2006/main">
            <a:off x="571500" y="6296025"/>
            <a:ext cx="1104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50636B"/>
                </a:solidFill>
                <a:latin typeface="Arial"/>
                <a:ea typeface="Arial"/>
                <a:cs typeface="Arial"/>
              </a:defRPr>
            </a:pPr>
            <a:r>
              <a:rPr sz="1575" b="0">
                <a:solidFill>
                  <a:srgbClr val="50636B"/>
                </a:solidFill>
                <a:latin typeface="Arial"/>
                <a:ea typeface="Arial"/>
                <a:cs typeface="Arial"/>
              </a:rPr>
              <a:t>Exploratory follow-up. Forest/LR swap differs by only 0.00028 F1. Test ranks do not change.</a:t>
            </a:r>
          </a:p>
        </p:txBody>
      </p:sp>
    </p:spTree>
    <p:extLst>
      <p:ext uri="{BB962C8B-B14F-4D97-AF65-F5344CB8AC3E}">
        <p14:creationId xmlns:p14="http://schemas.microsoft.com/office/powerpoint/2010/main" val="20015515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2026-09-29T05:41:16.4090000Z</dcterms:created>
  <dcterms:modified xsi:type="dcterms:W3CDTF">2026-09-29T05:41:16.4090000Z</dcterms:modified>
</coreProperties>
</file>